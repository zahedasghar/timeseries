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0" d="100"/>
          <a:sy n="110" d="100"/>
        </p:scale>
        <p:origin x="658" y="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386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39826" y="228600"/>
            <a:ext cx="46641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spcAft>
                <a:spcPts val="225"/>
              </a:spcAft>
              <a:buNone/>
            </a:pPr>
            <a:r>
              <a:rPr lang="en-US" sz="22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ARDL vs Johansen?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00025" y="542925"/>
            <a:ext cx="87439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Quick Decision Guide for Cointegration Testing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85750" y="830461"/>
            <a:ext cx="4243388" cy="1661964"/>
          </a:xfrm>
          <a:prstGeom prst="roundRect">
            <a:avLst>
              <a:gd name="adj" fmla="val 4585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04800" y="830461"/>
            <a:ext cx="0" cy="1661964"/>
          </a:xfrm>
          <a:prstGeom prst="line">
            <a:avLst/>
          </a:prstGeom>
          <a:noFill/>
          <a:ln w="38100">
            <a:solidFill>
              <a:srgbClr val="4FACF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400050" y="735211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57225" y="897136"/>
            <a:ext cx="38813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Check Integration Order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90525" y="1117997"/>
            <a:ext cx="2012156" cy="1307753"/>
          </a:xfrm>
          <a:prstGeom prst="roundRect">
            <a:avLst>
              <a:gd name="adj" fmla="val 3642"/>
            </a:avLst>
          </a:prstGeom>
          <a:solidFill>
            <a:srgbClr val="43E97B">
              <a:alpha val="15000"/>
            </a:srgbClr>
          </a:solidFill>
          <a:ln w="9525">
            <a:solidFill>
              <a:srgbClr val="43E97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8150" y="1165622"/>
            <a:ext cx="1955244" cy="126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8"/>
              </a:lnSpc>
              <a:spcAft>
                <a:spcPts val="150"/>
              </a:spcAft>
              <a:buNone/>
            </a:pPr>
            <a:r>
              <a:rPr lang="en-US" sz="713" b="1" dirty="0">
                <a:solidFill>
                  <a:srgbClr val="43E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ARDL</a:t>
            </a:r>
            <a:endParaRPr lang="en-US" sz="713" dirty="0"/>
          </a:p>
        </p:txBody>
      </p:sp>
      <p:sp>
        <p:nvSpPr>
          <p:cNvPr id="10" name="Text 8"/>
          <p:cNvSpPr/>
          <p:nvPr/>
        </p:nvSpPr>
        <p:spPr>
          <a:xfrm>
            <a:off x="438150" y="1311325"/>
            <a:ext cx="195524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I(0) and I(1)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variables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ensure 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I(2)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variables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450306" y="1117997"/>
            <a:ext cx="2012156" cy="1307753"/>
          </a:xfrm>
          <a:prstGeom prst="roundRect">
            <a:avLst>
              <a:gd name="adj" fmla="val 3642"/>
            </a:avLst>
          </a:prstGeom>
          <a:solidFill>
            <a:srgbClr val="FA709A">
              <a:alpha val="15000"/>
            </a:srgbClr>
          </a:solidFill>
          <a:ln w="9525">
            <a:solidFill>
              <a:srgbClr val="FA709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497931" y="1165622"/>
            <a:ext cx="1955244" cy="126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8"/>
              </a:lnSpc>
              <a:spcAft>
                <a:spcPts val="150"/>
              </a:spcAft>
              <a:buNone/>
            </a:pPr>
            <a:r>
              <a:rPr lang="en-US" sz="713" b="1" dirty="0">
                <a:solidFill>
                  <a:srgbClr val="FA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Johansen</a:t>
            </a:r>
            <a:endParaRPr lang="en-US" sz="713" dirty="0"/>
          </a:p>
        </p:txBody>
      </p:sp>
      <p:sp>
        <p:nvSpPr>
          <p:cNvPr id="13" name="Text 11"/>
          <p:cNvSpPr/>
          <p:nvPr/>
        </p:nvSpPr>
        <p:spPr>
          <a:xfrm>
            <a:off x="2497931" y="1311325"/>
            <a:ext cx="195524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variables I(1)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pre-testing needed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4863" y="830461"/>
            <a:ext cx="4243388" cy="1661964"/>
          </a:xfrm>
          <a:prstGeom prst="roundRect">
            <a:avLst>
              <a:gd name="adj" fmla="val 4585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33913" y="830461"/>
            <a:ext cx="0" cy="1661964"/>
          </a:xfrm>
          <a:prstGeom prst="line">
            <a:avLst/>
          </a:prstGeom>
          <a:noFill/>
          <a:ln w="38100">
            <a:solidFill>
              <a:srgbClr val="43E97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4729163" y="735211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986338" y="897136"/>
            <a:ext cx="38813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Consider Sample Size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719638" y="1117997"/>
            <a:ext cx="2012156" cy="1307753"/>
          </a:xfrm>
          <a:prstGeom prst="roundRect">
            <a:avLst>
              <a:gd name="adj" fmla="val 3642"/>
            </a:avLst>
          </a:prstGeom>
          <a:solidFill>
            <a:srgbClr val="43E97B">
              <a:alpha val="15000"/>
            </a:srgbClr>
          </a:solidFill>
          <a:ln w="9525">
            <a:solidFill>
              <a:srgbClr val="43E97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67263" y="1165622"/>
            <a:ext cx="1955244" cy="126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8"/>
              </a:lnSpc>
              <a:spcAft>
                <a:spcPts val="150"/>
              </a:spcAft>
              <a:buNone/>
            </a:pPr>
            <a:r>
              <a:rPr lang="en-US" sz="713" b="1" dirty="0">
                <a:solidFill>
                  <a:srgbClr val="43E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ARDL</a:t>
            </a:r>
            <a:endParaRPr lang="en-US" sz="713" dirty="0"/>
          </a:p>
        </p:txBody>
      </p:sp>
      <p:sp>
        <p:nvSpPr>
          <p:cNvPr id="20" name="Text 18"/>
          <p:cNvSpPr/>
          <p:nvPr/>
        </p:nvSpPr>
        <p:spPr>
          <a:xfrm>
            <a:off x="4767263" y="1311325"/>
            <a:ext cx="195524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for 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samples (n ≥ 30)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efficient estimator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79419" y="1117997"/>
            <a:ext cx="2012156" cy="1307753"/>
          </a:xfrm>
          <a:prstGeom prst="roundRect">
            <a:avLst>
              <a:gd name="adj" fmla="val 3642"/>
            </a:avLst>
          </a:prstGeom>
          <a:solidFill>
            <a:srgbClr val="FA709A">
              <a:alpha val="15000"/>
            </a:srgbClr>
          </a:solidFill>
          <a:ln w="9525">
            <a:solidFill>
              <a:srgbClr val="FA709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827044" y="1165622"/>
            <a:ext cx="1955244" cy="126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8"/>
              </a:lnSpc>
              <a:spcAft>
                <a:spcPts val="150"/>
              </a:spcAft>
              <a:buNone/>
            </a:pPr>
            <a:r>
              <a:rPr lang="en-US" sz="713" b="1" dirty="0">
                <a:solidFill>
                  <a:srgbClr val="FA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Johansen</a:t>
            </a:r>
            <a:endParaRPr lang="en-US" sz="713" dirty="0"/>
          </a:p>
        </p:txBody>
      </p:sp>
      <p:sp>
        <p:nvSpPr>
          <p:cNvPr id="23" name="Text 21"/>
          <p:cNvSpPr/>
          <p:nvPr/>
        </p:nvSpPr>
        <p:spPr>
          <a:xfrm>
            <a:off x="6827044" y="1311325"/>
            <a:ext cx="195524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samples (n &gt; 80)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with more data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85750" y="2578150"/>
            <a:ext cx="4243388" cy="2195364"/>
          </a:xfrm>
          <a:prstGeom prst="roundRect">
            <a:avLst>
              <a:gd name="adj" fmla="val 347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04800" y="2578150"/>
            <a:ext cx="0" cy="2195364"/>
          </a:xfrm>
          <a:prstGeom prst="line">
            <a:avLst/>
          </a:prstGeom>
          <a:noFill/>
          <a:ln w="38100">
            <a:solidFill>
              <a:srgbClr val="FA709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400050" y="2482900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657225" y="2644825"/>
            <a:ext cx="38813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Define Your Focus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390525" y="2865686"/>
            <a:ext cx="2012156" cy="1574453"/>
          </a:xfrm>
          <a:prstGeom prst="roundRect">
            <a:avLst>
              <a:gd name="adj" fmla="val 3025"/>
            </a:avLst>
          </a:prstGeom>
          <a:solidFill>
            <a:srgbClr val="43E97B">
              <a:alpha val="15000"/>
            </a:srgbClr>
          </a:solidFill>
          <a:ln w="9525">
            <a:solidFill>
              <a:srgbClr val="43E97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38150" y="2913311"/>
            <a:ext cx="1955244" cy="126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8"/>
              </a:lnSpc>
              <a:spcAft>
                <a:spcPts val="150"/>
              </a:spcAft>
              <a:buNone/>
            </a:pPr>
            <a:r>
              <a:rPr lang="en-US" sz="713" b="1" dirty="0">
                <a:solidFill>
                  <a:srgbClr val="43E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ARDL</a:t>
            </a:r>
            <a:endParaRPr lang="en-US" sz="713" dirty="0"/>
          </a:p>
        </p:txBody>
      </p:sp>
      <p:sp>
        <p:nvSpPr>
          <p:cNvPr id="30" name="Text 28"/>
          <p:cNvSpPr/>
          <p:nvPr/>
        </p:nvSpPr>
        <p:spPr>
          <a:xfrm>
            <a:off x="438150" y="3059013"/>
            <a:ext cx="1955244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equation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focus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lags per variable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Simpler interpretation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2450306" y="2865686"/>
            <a:ext cx="2012156" cy="1574453"/>
          </a:xfrm>
          <a:prstGeom prst="roundRect">
            <a:avLst>
              <a:gd name="adj" fmla="val 3025"/>
            </a:avLst>
          </a:prstGeom>
          <a:solidFill>
            <a:srgbClr val="FA709A">
              <a:alpha val="15000"/>
            </a:srgbClr>
          </a:solidFill>
          <a:ln w="9525">
            <a:solidFill>
              <a:srgbClr val="FA709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497931" y="2913311"/>
            <a:ext cx="1955244" cy="126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8"/>
              </a:lnSpc>
              <a:spcAft>
                <a:spcPts val="150"/>
              </a:spcAft>
              <a:buNone/>
            </a:pPr>
            <a:r>
              <a:rPr lang="en-US" sz="713" b="1" dirty="0">
                <a:solidFill>
                  <a:srgbClr val="FA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Johansen</a:t>
            </a:r>
            <a:endParaRPr lang="en-US" sz="713" dirty="0"/>
          </a:p>
        </p:txBody>
      </p:sp>
      <p:sp>
        <p:nvSpPr>
          <p:cNvPr id="33" name="Text 31"/>
          <p:cNvSpPr/>
          <p:nvPr/>
        </p:nvSpPr>
        <p:spPr>
          <a:xfrm>
            <a:off x="2497931" y="3059013"/>
            <a:ext cx="1955244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dynamics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endogenous variables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Simultaneous relationships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614863" y="2578150"/>
            <a:ext cx="4243388" cy="2195364"/>
          </a:xfrm>
          <a:prstGeom prst="roundRect">
            <a:avLst>
              <a:gd name="adj" fmla="val 347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633913" y="2578150"/>
            <a:ext cx="0" cy="2195364"/>
          </a:xfrm>
          <a:prstGeom prst="line">
            <a:avLst/>
          </a:prstGeom>
          <a:noFill/>
          <a:ln w="38100">
            <a:solidFill>
              <a:srgbClr val="FEE14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4729163" y="2482900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4986338" y="2644825"/>
            <a:ext cx="38813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Number of Cointegrating Relations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4719638" y="2865686"/>
            <a:ext cx="2012156" cy="1841153"/>
          </a:xfrm>
          <a:prstGeom prst="roundRect">
            <a:avLst>
              <a:gd name="adj" fmla="val 2587"/>
            </a:avLst>
          </a:prstGeom>
          <a:solidFill>
            <a:srgbClr val="43E97B">
              <a:alpha val="15000"/>
            </a:srgbClr>
          </a:solidFill>
          <a:ln w="9525">
            <a:solidFill>
              <a:srgbClr val="43E97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67263" y="2913311"/>
            <a:ext cx="1955244" cy="126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8"/>
              </a:lnSpc>
              <a:spcAft>
                <a:spcPts val="150"/>
              </a:spcAft>
              <a:buNone/>
            </a:pPr>
            <a:r>
              <a:rPr lang="en-US" sz="713" b="1" dirty="0">
                <a:solidFill>
                  <a:srgbClr val="43E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ARDL</a:t>
            </a:r>
            <a:endParaRPr lang="en-US" sz="713" dirty="0"/>
          </a:p>
        </p:txBody>
      </p:sp>
      <p:sp>
        <p:nvSpPr>
          <p:cNvPr id="40" name="Text 38"/>
          <p:cNvSpPr/>
          <p:nvPr/>
        </p:nvSpPr>
        <p:spPr>
          <a:xfrm>
            <a:off x="4767263" y="3059013"/>
            <a:ext cx="1955244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relationship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dependent variable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analysis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779419" y="2865686"/>
            <a:ext cx="2012156" cy="1841153"/>
          </a:xfrm>
          <a:prstGeom prst="roundRect">
            <a:avLst>
              <a:gd name="adj" fmla="val 2587"/>
            </a:avLst>
          </a:prstGeom>
          <a:solidFill>
            <a:srgbClr val="FA709A">
              <a:alpha val="15000"/>
            </a:srgbClr>
          </a:solidFill>
          <a:ln w="9525">
            <a:solidFill>
              <a:srgbClr val="FA709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827044" y="2913311"/>
            <a:ext cx="1955244" cy="126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8"/>
              </a:lnSpc>
              <a:spcAft>
                <a:spcPts val="150"/>
              </a:spcAft>
              <a:buNone/>
            </a:pPr>
            <a:r>
              <a:rPr lang="en-US" sz="713" b="1" dirty="0">
                <a:solidFill>
                  <a:srgbClr val="FA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Johansen</a:t>
            </a:r>
            <a:endParaRPr lang="en-US" sz="713" dirty="0"/>
          </a:p>
        </p:txBody>
      </p:sp>
      <p:sp>
        <p:nvSpPr>
          <p:cNvPr id="43" name="Text 41"/>
          <p:cNvSpPr/>
          <p:nvPr/>
        </p:nvSpPr>
        <p:spPr>
          <a:xfrm>
            <a:off x="6827044" y="3059013"/>
            <a:ext cx="19552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cointegrating vectors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for number of relations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systems</a:t>
            </a:r>
            <a:endParaRPr lang="en-US" sz="1500" dirty="0"/>
          </a:p>
        </p:txBody>
      </p:sp>
      <p:pic>
        <p:nvPicPr>
          <p:cNvPr id="44" name="Image 0" descr="/tmp/rasterized-gradient-462141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4811613"/>
            <a:ext cx="8572500" cy="12189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248602" y="4830663"/>
            <a:ext cx="8646795" cy="83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60"/>
              </a:lnSpc>
              <a:buNone/>
            </a:pPr>
            <a:r>
              <a:rPr lang="en-US" sz="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Practice:</a:t>
            </a:r>
            <a:r>
              <a:rPr lang="en-US" sz="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</a:t>
            </a:r>
            <a:r>
              <a:rPr lang="en-US" sz="600" b="1" dirty="0">
                <a:solidFill>
                  <a:srgbClr val="FEE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methods for robustness!       Zahid Asghar, School of Economics, QAU, Islamabad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1455</TotalTime>
  <Words>163</Words>
  <Application>Microsoft Office PowerPoint</Application>
  <PresentationFormat>On-screen Show (16:9)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Economics Department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to Use ARDL vs Johansen?</dc:title>
  <dc:subject>ARDL vs Johansen Decision Guide</dc:subject>
  <dc:creator>Zahid Asghar</dc:creator>
  <cp:lastModifiedBy>Prof. Dr. Zahid Asghar</cp:lastModifiedBy>
  <cp:revision>2</cp:revision>
  <dcterms:created xsi:type="dcterms:W3CDTF">2025-12-10T03:53:58Z</dcterms:created>
  <dcterms:modified xsi:type="dcterms:W3CDTF">2025-12-11T04:23:38Z</dcterms:modified>
</cp:coreProperties>
</file>