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336" r:id="rId2"/>
    <p:sldId id="291" r:id="rId3"/>
    <p:sldId id="328" r:id="rId4"/>
    <p:sldId id="325" r:id="rId5"/>
    <p:sldId id="35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27" r:id="rId15"/>
    <p:sldId id="358" r:id="rId16"/>
    <p:sldId id="345" r:id="rId17"/>
    <p:sldId id="346" r:id="rId18"/>
    <p:sldId id="347" r:id="rId19"/>
    <p:sldId id="348" r:id="rId20"/>
    <p:sldId id="349" r:id="rId21"/>
    <p:sldId id="350" r:id="rId22"/>
    <p:sldId id="366" r:id="rId23"/>
    <p:sldId id="351" r:id="rId24"/>
    <p:sldId id="367" r:id="rId25"/>
    <p:sldId id="355" r:id="rId26"/>
    <p:sldId id="360" r:id="rId27"/>
    <p:sldId id="368" r:id="rId28"/>
    <p:sldId id="323" r:id="rId29"/>
    <p:sldId id="352" r:id="rId30"/>
    <p:sldId id="364" r:id="rId31"/>
    <p:sldId id="361" r:id="rId32"/>
    <p:sldId id="362" r:id="rId33"/>
    <p:sldId id="353" r:id="rId34"/>
    <p:sldId id="365" r:id="rId35"/>
    <p:sldId id="363" r:id="rId36"/>
  </p:sldIdLst>
  <p:sldSz cx="9144000" cy="5184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7E5"/>
    <a:srgbClr val="CFCDC9"/>
    <a:srgbClr val="BA0C2F"/>
    <a:srgbClr val="FFFFFF"/>
    <a:srgbClr val="6C6463"/>
    <a:srgbClr val="651D32"/>
    <a:srgbClr val="002F6C"/>
    <a:srgbClr val="0067B9"/>
    <a:srgbClr val="A7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50" autoAdjust="0"/>
    <p:restoredTop sz="86376" autoAdjust="0"/>
  </p:normalViewPr>
  <p:slideViewPr>
    <p:cSldViewPr snapToGrid="0" snapToObjects="1">
      <p:cViewPr varScale="1">
        <p:scale>
          <a:sx n="96" d="100"/>
          <a:sy n="96" d="100"/>
        </p:scale>
        <p:origin x="708" y="84"/>
      </p:cViewPr>
      <p:guideLst>
        <p:guide orient="horz" pos="163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9" d="100"/>
          <a:sy n="49" d="100"/>
        </p:scale>
        <p:origin x="266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D9E48-5E7F-D24C-87D5-695B18367D24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B10C2-C6DD-5A4A-BF1B-B012B8BA4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75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357CE-B3EB-1B4A-84E5-C1E2DF427ABD}" type="datetimeFigureOut">
              <a:rPr lang="en-US" smtClean="0"/>
              <a:t>9/25/2022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4813" y="685800"/>
            <a:ext cx="60483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A558B-E4E9-A94A-B9C1-029E46A76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9379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A558B-E4E9-A94A-B9C1-029E46A76A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34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Full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0C00456-721A-A94C-800A-D5E7EE91C160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824807"/>
            <a:ext cx="3886200" cy="1209781"/>
          </a:xfrm>
          <a:effectLst>
            <a:outerShdw blurRad="254000" dir="2700000" algn="tl" rotWithShape="0">
              <a:srgbClr val="000000">
                <a:alpha val="20000"/>
              </a:srgbClr>
            </a:outerShdw>
          </a:effectLst>
        </p:spPr>
        <p:txBody>
          <a:bodyPr anchor="b" anchorCtr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335924"/>
            <a:ext cx="3429000" cy="1209781"/>
          </a:xfrm>
          <a:effectLst>
            <a:outerShdw blurRad="254000" dir="5400000" algn="tl" rotWithShape="0">
              <a:srgbClr val="000000">
                <a:alpha val="40000"/>
              </a:srgbClr>
            </a:outerShdw>
          </a:effectLst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746760" y="3174105"/>
            <a:ext cx="320040" cy="0"/>
          </a:xfrm>
          <a:prstGeom prst="line">
            <a:avLst/>
          </a:prstGeom>
          <a:ln w="19050">
            <a:solidFill>
              <a:srgbClr val="FFFFFF"/>
            </a:solidFill>
          </a:ln>
          <a:effectLst>
            <a:outerShdw blurRad="2540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39C836EC-7AD5-486F-A168-8E7B4E0EB0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" y="46034"/>
            <a:ext cx="8839200" cy="147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07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Full Red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EB2C8F94-9D67-854F-8417-3B884156945E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601787"/>
            <a:ext cx="3886200" cy="1209781"/>
          </a:xfrm>
          <a:effectLst/>
        </p:spPr>
        <p:txBody>
          <a:bodyPr anchor="b" anchorCtr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135206"/>
            <a:ext cx="3429000" cy="1209781"/>
          </a:xfrm>
          <a:effectLst/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746760" y="2973387"/>
            <a:ext cx="32004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5D1B1ACB-9E97-4F7B-B952-B782D5B5CE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71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Full Red">
    <p:bg>
      <p:bgPr>
        <a:solidFill>
          <a:srgbClr val="BA0C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43000" y="534987"/>
            <a:ext cx="5486400" cy="461665"/>
          </a:xfrm>
        </p:spPr>
        <p:txBody>
          <a:bodyPr wrap="square" anchor="t" anchorCtr="0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3349C05-927F-3348-96DF-9086CF2761D6}" type="datetime1">
              <a:rPr lang="en-US" smtClean="0"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746760" y="687387"/>
            <a:ext cx="320040" cy="0"/>
          </a:xfrm>
          <a:prstGeom prst="line">
            <a:avLst/>
          </a:prstGeom>
          <a:ln w="19050">
            <a:solidFill>
              <a:srgbClr val="FFFFFF"/>
            </a:solidFill>
          </a:ln>
          <a:effectLst>
            <a:outerShdw blurRad="2540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B569F0DA-F2E1-4408-8A83-C8B5EB45F0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96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/Gray 1 Content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14FB1AD-D69E-B741-965A-0BAE826C2FA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686104" y="682922"/>
            <a:ext cx="7772400" cy="4616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idx="1"/>
          </p:nvPr>
        </p:nvSpPr>
        <p:spPr>
          <a:xfrm>
            <a:off x="685800" y="1296987"/>
            <a:ext cx="7772400" cy="32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C4336BBA-4C13-4A9C-AE1C-73B9EF7D5E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97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/Gray 2 Content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296987"/>
            <a:ext cx="7772400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AB18E012-EC0C-1649-A039-CB178266D114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67921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D9DB99DE-DD0C-4987-9B9B-C5A6FADCA1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04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ed/Gray 2 Content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296987"/>
            <a:ext cx="3809696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6987"/>
            <a:ext cx="3810304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AB18E012-EC0C-1649-A039-CB178266D114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67921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38F50F50-B707-4974-B4DC-88438B03D7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6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/Gray 3 Content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296987"/>
            <a:ext cx="2514296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0" y="1296987"/>
            <a:ext cx="2514904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39C62A9A-2216-F44B-AFF9-136AA601C377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3314548" y="1296987"/>
            <a:ext cx="2514904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67921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5D98D258-7F89-46EC-A21D-685243F67A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/Gray 1 Content + Bottom Photo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2959071"/>
            <a:ext cx="8839200" cy="2073910"/>
          </a:xfrm>
          <a:solidFill>
            <a:schemeClr val="bg1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26900"/>
            <a:ext cx="7772400" cy="1143000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  <a:lvl2pPr>
              <a:defRPr>
                <a:solidFill>
                  <a:srgbClr val="6C6463"/>
                </a:solidFill>
              </a:defRPr>
            </a:lvl2pPr>
            <a:lvl3pPr>
              <a:defRPr>
                <a:solidFill>
                  <a:srgbClr val="6C6463"/>
                </a:solidFill>
              </a:defRPr>
            </a:lvl3pPr>
            <a:lvl4pPr>
              <a:defRPr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193355D5-F1DA-0F48-9E7E-0A3FEBF9FF84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7862313" y="3537008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rgbClr val="FFFFFF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329265" y="1190205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14BC0E5B-0B8C-42F2-804D-6471F7F240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4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/Gray 1 Content + Right Photo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1234068"/>
            <a:ext cx="4419600" cy="3796720"/>
          </a:xfrm>
          <a:solidFill>
            <a:srgbClr val="FFFFFF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685800" y="2118732"/>
            <a:ext cx="3657600" cy="2653718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7862312" y="1098609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rgbClr val="FFFFFF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234641"/>
            <a:ext cx="3657600" cy="830997"/>
          </a:xfrm>
        </p:spPr>
        <p:txBody>
          <a:bodyPr wrap="square"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BA48DAE6-C73B-4621-AB58-CECE3C0CBE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14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/Gray Title Only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1241502"/>
            <a:ext cx="4419600" cy="3789284"/>
          </a:xfrm>
          <a:solidFill>
            <a:schemeClr val="bg1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3442713" y="2186124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668948" y="1241502"/>
            <a:ext cx="3885896" cy="837665"/>
          </a:xfrm>
        </p:spPr>
        <p:txBody>
          <a:bodyPr wrap="square" anchor="ctr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947B3E3A-4AFB-43D6-A83F-1C49559694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52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/Gray 1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14FB1AD-D69E-B741-965A-0BAE826C2FA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686104" y="682922"/>
            <a:ext cx="7772400" cy="4616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686104" y="1362035"/>
            <a:ext cx="7772400" cy="32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30188" marR="0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  <a:tabLst/>
              <a:defRPr/>
            </a:lvl1pPr>
          </a:lstStyle>
          <a:p>
            <a:pPr marL="230188" marR="0" lvl="0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C6463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Click to edit Master text styles</a:t>
            </a:r>
          </a:p>
          <a:p>
            <a:pPr marL="684213" marR="0" lvl="1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C6463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Second level</a:t>
            </a:r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3E2E9055-1023-4AA0-AB7B-EEB90B3CB8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8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/Gray 2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394413"/>
            <a:ext cx="3809696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4413"/>
            <a:ext cx="3810304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AB18E012-EC0C-1649-A039-CB178266D114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67921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07D908D5-BD1B-491E-B1D2-1EB1B66F54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65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/Gray 3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296987"/>
            <a:ext cx="2514296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0" y="1296987"/>
            <a:ext cx="2514904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39C62A9A-2216-F44B-AFF9-136AA601C377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3314548" y="1296987"/>
            <a:ext cx="2514904" cy="3200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67921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D322F8F5-9082-4364-BC32-0E9E068604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10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/Gray 1 Content + Bottom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2592387"/>
            <a:ext cx="8839200" cy="2440594"/>
          </a:xfrm>
          <a:solidFill>
            <a:srgbClr val="E7E7E5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6987"/>
            <a:ext cx="7772400" cy="1143000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  <a:lvl2pPr>
              <a:defRPr>
                <a:solidFill>
                  <a:srgbClr val="6C6463"/>
                </a:solidFill>
              </a:defRPr>
            </a:lvl2pPr>
            <a:lvl3pPr>
              <a:defRPr>
                <a:solidFill>
                  <a:srgbClr val="6C6463"/>
                </a:solidFill>
              </a:defRPr>
            </a:lvl3pPr>
            <a:lvl4pPr>
              <a:defRPr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193355D5-F1DA-0F48-9E7E-0A3FEBF9FF84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7862313" y="3537008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rgbClr val="FFFFFF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67921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BF77BF1F-41A9-4656-A533-31A8C3B17B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99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/Gray 1 Content + Right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1196898"/>
            <a:ext cx="4419600" cy="3833890"/>
          </a:xfrm>
          <a:solidFill>
            <a:srgbClr val="E7E7E5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685800" y="1915880"/>
            <a:ext cx="3657600" cy="2819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7862312" y="2141520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030203"/>
            <a:ext cx="3657600" cy="830997"/>
          </a:xfrm>
        </p:spPr>
        <p:txBody>
          <a:bodyPr wrap="square" anchor="b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35DAA7EB-FC2E-4496-8FCB-0CE923F226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03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/Gray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1271239"/>
            <a:ext cx="4419600" cy="3759547"/>
          </a:xfrm>
          <a:solidFill>
            <a:srgbClr val="E7E7E5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3442713" y="2215860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743290" y="1303904"/>
            <a:ext cx="3885896" cy="837665"/>
          </a:xfrm>
        </p:spPr>
        <p:txBody>
          <a:bodyPr wrap="square" anchor="ctr" anchorCtr="0">
            <a:spAutoFit/>
          </a:bodyPr>
          <a:lstStyle>
            <a:lvl1pPr>
              <a:defRPr>
                <a:solidFill>
                  <a:srgbClr val="BA0C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5C1E6600-17BA-4A64-8396-6222BBD99D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831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fld id="{3F4168E2-91C5-9646-9F53-5B4E70AF759D}" type="datetime1">
              <a:rPr lang="en-US" smtClean="0"/>
              <a:pPr/>
              <a:t>9/25/2022</a:t>
            </a:fld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135206"/>
            <a:ext cx="3429000" cy="1209781"/>
          </a:xfrm>
          <a:effectLst>
            <a:outerShdw blurRad="254000" dir="5400000" algn="tl" rotWithShape="0">
              <a:srgbClr val="000000">
                <a:alpha val="40000"/>
              </a:srgbClr>
            </a:outerShdw>
          </a:effectLst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746760" y="2973387"/>
            <a:ext cx="320040" cy="0"/>
          </a:xfrm>
          <a:prstGeom prst="line">
            <a:avLst/>
          </a:prstGeom>
          <a:ln w="19050">
            <a:solidFill>
              <a:srgbClr val="FFFFFF"/>
            </a:solidFill>
          </a:ln>
          <a:effectLst>
            <a:outerShdw blurRad="2540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49A75483-2B3F-42E1-9F73-291656D702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52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- Full Red">
    <p:bg>
      <p:bgPr>
        <a:solidFill>
          <a:srgbClr val="002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EB2C8F94-9D67-854F-8417-3B884156945E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601787"/>
            <a:ext cx="3886200" cy="1209781"/>
          </a:xfrm>
          <a:effectLst/>
        </p:spPr>
        <p:txBody>
          <a:bodyPr anchor="b" anchorCtr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135206"/>
            <a:ext cx="3429000" cy="1209781"/>
          </a:xfrm>
          <a:effectLst/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746760" y="2973387"/>
            <a:ext cx="320040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09AFF202-AEA0-440A-A251-33CB57D91E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321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Full Red">
    <p:bg>
      <p:bgPr>
        <a:solidFill>
          <a:srgbClr val="002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43000" y="534987"/>
            <a:ext cx="5486400" cy="461665"/>
          </a:xfrm>
        </p:spPr>
        <p:txBody>
          <a:bodyPr wrap="square" anchor="t" anchorCtr="0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3349C05-927F-3348-96DF-9086CF2761D6}" type="datetime1">
              <a:rPr lang="en-US" smtClean="0"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746760" y="687387"/>
            <a:ext cx="320040" cy="0"/>
          </a:xfrm>
          <a:prstGeom prst="line">
            <a:avLst/>
          </a:prstGeom>
          <a:ln w="19050">
            <a:solidFill>
              <a:srgbClr val="FFFFFF"/>
            </a:solidFill>
          </a:ln>
          <a:effectLst>
            <a:outerShdw blurRad="2540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C720E8A3-93F1-4B15-84F9-6D695C45B8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65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/Gray 1 Content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14FB1AD-D69E-B741-965A-0BAE826C2FA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686104" y="1256937"/>
            <a:ext cx="7772400" cy="4616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idx="1" hasCustomPrompt="1"/>
          </p:nvPr>
        </p:nvSpPr>
        <p:spPr>
          <a:xfrm>
            <a:off x="686104" y="1895707"/>
            <a:ext cx="7772400" cy="2851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30188" marR="0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  <a:tabLst/>
              <a:defRPr/>
            </a:lvl1pPr>
          </a:lstStyle>
          <a:p>
            <a:pPr marL="230188" marR="0" lvl="0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C6463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Click to edit Master text styles</a:t>
            </a:r>
          </a:p>
          <a:p>
            <a:pPr marL="684213" marR="0" lvl="1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C6463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Second level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0D893573-6A49-4A39-9091-38F52294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250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/Gray 2 Content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835815"/>
            <a:ext cx="3809696" cy="2847719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35815"/>
            <a:ext cx="3810304" cy="2847719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AB18E012-EC0C-1649-A039-CB178266D114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1225138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366DDCAF-0EE5-4BA6-9CE5-3505467869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4077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/Gray 3 Content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835815"/>
            <a:ext cx="2514296" cy="2847719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0" y="1835815"/>
            <a:ext cx="2514904" cy="2847719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39C62A9A-2216-F44B-AFF9-136AA601C377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3314548" y="1835815"/>
            <a:ext cx="2514904" cy="2847719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745577" y="124093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539791A1-96A0-490B-BF91-A26BDD7E2B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923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/Gray 1 Content + Bottom Photo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2847277"/>
            <a:ext cx="8839200" cy="2185703"/>
          </a:xfrm>
          <a:solidFill>
            <a:schemeClr val="bg1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02084"/>
            <a:ext cx="7772400" cy="1143000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  <a:lvl2pPr>
              <a:defRPr>
                <a:solidFill>
                  <a:srgbClr val="6C6463"/>
                </a:solidFill>
              </a:defRPr>
            </a:lvl2pPr>
            <a:lvl3pPr>
              <a:defRPr>
                <a:solidFill>
                  <a:srgbClr val="6C6463"/>
                </a:solidFill>
              </a:defRPr>
            </a:lvl3pPr>
            <a:lvl4pPr>
              <a:defRPr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193355D5-F1DA-0F48-9E7E-0A3FEBF9FF84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8064098" y="3666799"/>
            <a:ext cx="1670340" cy="184665"/>
          </a:xfrm>
        </p:spPr>
        <p:txBody>
          <a:bodyPr wrap="square"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1234521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8D3FFD2C-3160-4814-AD91-825DB78BCE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587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/Gray 1 Content + Right Photo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1204332"/>
            <a:ext cx="4419600" cy="3826456"/>
          </a:xfrm>
          <a:solidFill>
            <a:srgbClr val="FFFFFF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37839" y="2103863"/>
            <a:ext cx="3657600" cy="2626463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7847289" y="2262348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737839" y="1204332"/>
            <a:ext cx="3657600" cy="830997"/>
          </a:xfrm>
        </p:spPr>
        <p:txBody>
          <a:bodyPr wrap="square"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4043C17D-658C-4225-8748-39308B5517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309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d/Gray Title Only"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1204332"/>
            <a:ext cx="4419600" cy="3826454"/>
          </a:xfrm>
          <a:solidFill>
            <a:schemeClr val="bg1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3666047" y="2056282"/>
            <a:ext cx="1627240" cy="184666"/>
          </a:xfrm>
        </p:spPr>
        <p:txBody>
          <a:bodyPr wrap="square"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877104" y="2188567"/>
            <a:ext cx="3885896" cy="837665"/>
          </a:xfrm>
        </p:spPr>
        <p:txBody>
          <a:bodyPr wrap="square" anchor="ctr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2103EA51-7597-4ED8-96AF-3DE48D533E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274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d/Gray 1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14FB1AD-D69E-B741-965A-0BAE826C2FA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686104" y="1211494"/>
            <a:ext cx="7772400" cy="4616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idx="1" hasCustomPrompt="1"/>
          </p:nvPr>
        </p:nvSpPr>
        <p:spPr>
          <a:xfrm>
            <a:off x="685800" y="1865970"/>
            <a:ext cx="7772400" cy="284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30188" marR="0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  <a:tabLst/>
              <a:defRPr/>
            </a:lvl1pPr>
          </a:lstStyle>
          <a:p>
            <a:pPr marL="230188" marR="0" lvl="0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C6463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Click to edit Master text styles</a:t>
            </a:r>
          </a:p>
          <a:p>
            <a:pPr marL="684213" marR="0" lvl="1" indent="-23018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C6463"/>
                </a:solidFill>
                <a:effectLst/>
                <a:uLnTx/>
                <a:uFillTx/>
                <a:latin typeface="Gill Sans MT"/>
                <a:ea typeface="+mn-ea"/>
                <a:cs typeface="Gill Sans MT"/>
              </a:rPr>
              <a:t>Second level</a:t>
            </a:r>
          </a:p>
        </p:txBody>
      </p: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CB1B3B99-6CF1-4475-8757-B5B969F234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974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d/Gray 2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104" y="1806495"/>
            <a:ext cx="3809696" cy="2951085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06495"/>
            <a:ext cx="3810304" cy="2951085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6C6463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AB18E012-EC0C-1649-A039-CB178266D114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86104" y="1210478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E8031F01-D064-4CA1-BB4A-46733B288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454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d/Gray 3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880839"/>
            <a:ext cx="2514296" cy="2787533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296" y="1880839"/>
            <a:ext cx="2514904" cy="2787533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39C62A9A-2216-F44B-AFF9-136AA601C377}" type="datetime1">
              <a:rPr lang="en-US" smtClean="0"/>
              <a:t>9/25/2022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844639"/>
            <a:ext cx="2895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4844639"/>
            <a:ext cx="2133600" cy="186148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3314244" y="1880839"/>
            <a:ext cx="2514904" cy="2787533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254811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1862F961-C7EB-4B47-82A5-A50B66E156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763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d/Gray 1 Content + Bottom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2877015"/>
            <a:ext cx="8839200" cy="2155966"/>
          </a:xfrm>
          <a:solidFill>
            <a:srgbClr val="E7E7E5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6104" y="1818227"/>
            <a:ext cx="7772400" cy="970451"/>
          </a:xfrm>
        </p:spPr>
        <p:txBody>
          <a:bodyPr/>
          <a:lstStyle>
            <a:lvl1pPr>
              <a:defRPr>
                <a:solidFill>
                  <a:srgbClr val="6C6463"/>
                </a:solidFill>
              </a:defRPr>
            </a:lvl1pPr>
            <a:lvl2pPr>
              <a:defRPr>
                <a:solidFill>
                  <a:srgbClr val="6C6463"/>
                </a:solidFill>
              </a:defRPr>
            </a:lvl2pPr>
            <a:lvl3pPr>
              <a:defRPr>
                <a:solidFill>
                  <a:srgbClr val="6C6463"/>
                </a:solidFill>
              </a:defRPr>
            </a:lvl3pPr>
            <a:lvl4pPr>
              <a:defRPr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193355D5-F1DA-0F48-9E7E-0A3FEBF9FF84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44639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8060903" y="3648739"/>
            <a:ext cx="1676728" cy="184666"/>
          </a:xfrm>
        </p:spPr>
        <p:txBody>
          <a:bodyPr wrap="square"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222447"/>
            <a:ext cx="7772400" cy="465370"/>
          </a:xfrm>
        </p:spPr>
        <p:txBody>
          <a:bodyPr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B520D748-1C40-493A-A8D7-C39D99856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827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d/Gray 1 Content + Right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4572000" y="1457093"/>
            <a:ext cx="4419600" cy="3387546"/>
          </a:xfrm>
          <a:solidFill>
            <a:srgbClr val="E7E7E5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FFFFFF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685800" y="2122112"/>
            <a:ext cx="3657600" cy="2658044"/>
          </a:xfrm>
        </p:spPr>
        <p:txBody>
          <a:bodyPr>
            <a:normAutofit/>
          </a:bodyPr>
          <a:lstStyle>
            <a:lvl1pPr>
              <a:defRPr sz="1600">
                <a:solidFill>
                  <a:srgbClr val="6C6463"/>
                </a:solidFill>
              </a:defRPr>
            </a:lvl1pPr>
            <a:lvl2pPr>
              <a:defRPr sz="1600">
                <a:solidFill>
                  <a:srgbClr val="6C6463"/>
                </a:solidFill>
              </a:defRPr>
            </a:lvl2pPr>
            <a:lvl3pPr>
              <a:defRPr sz="1600">
                <a:solidFill>
                  <a:srgbClr val="6C6463"/>
                </a:solidFill>
              </a:defRPr>
            </a:lvl3pPr>
            <a:lvl4pPr>
              <a:defRPr sz="1400">
                <a:solidFill>
                  <a:srgbClr val="6C6463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82083" y="1174322"/>
            <a:ext cx="3657600" cy="830997"/>
          </a:xfrm>
        </p:spPr>
        <p:txBody>
          <a:bodyPr wrap="square" anchor="b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3C41AEA5-0277-4B53-99A8-0F3FB2A9A8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87078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8523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d/Gray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52400" y="1226634"/>
            <a:ext cx="4419600" cy="3804152"/>
          </a:xfrm>
          <a:solidFill>
            <a:srgbClr val="E7E7E5"/>
          </a:solidFill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6C6463"/>
                </a:solidFill>
              </a:defRPr>
            </a:lvl1pPr>
          </a:lstStyle>
          <a:p>
            <a:r>
              <a:rPr lang="en-US" dirty="0"/>
              <a:t>ADD PHOTO HERE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fld id="{60FEB5C5-97E6-6B45-BBE4-F2449473BB96}" type="datetime1">
              <a:rPr lang="en-US" smtClean="0"/>
              <a:pPr/>
              <a:t>9/25/2022</a:t>
            </a:fld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44639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 rot="16200000">
            <a:off x="3442713" y="2171256"/>
            <a:ext cx="2073910" cy="184666"/>
          </a:xfrm>
        </p:spPr>
        <p:txBody>
          <a:bodyPr>
            <a:spAutoFit/>
          </a:bodyPr>
          <a:lstStyle>
            <a:lvl1pPr marL="0" indent="0" algn="r">
              <a:buNone/>
              <a:defRPr sz="600" baseline="0">
                <a:solidFill>
                  <a:schemeClr val="tx1"/>
                </a:solidFill>
              </a:defRPr>
            </a:lvl1pPr>
            <a:lvl2pPr marL="230187" indent="0">
              <a:buNone/>
              <a:defRPr sz="1800">
                <a:solidFill>
                  <a:schemeClr val="bg1"/>
                </a:solidFill>
              </a:defRPr>
            </a:lvl2pPr>
            <a:lvl3pPr marL="460375" indent="0">
              <a:buNone/>
              <a:defRPr sz="1600">
                <a:solidFill>
                  <a:schemeClr val="bg1"/>
                </a:solidFill>
              </a:defRPr>
            </a:lvl3pPr>
            <a:lvl4pPr marL="684212" indent="0">
              <a:buNone/>
              <a:defRPr sz="1400">
                <a:solidFill>
                  <a:schemeClr val="bg1"/>
                </a:solidFill>
              </a:defRPr>
            </a:lvl4pPr>
            <a:lvl5pPr marL="102552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PHOTO CREDIT HERE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877104" y="2188567"/>
            <a:ext cx="3885896" cy="837665"/>
          </a:xfrm>
        </p:spPr>
        <p:txBody>
          <a:bodyPr wrap="square" anchor="ctr" anchorCtr="0">
            <a:spAutoFit/>
          </a:bodyPr>
          <a:lstStyle>
            <a:lvl1pPr>
              <a:defRPr>
                <a:solidFill>
                  <a:srgbClr val="0067B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4F524F77-A6E8-4F96-9628-B9D96927CD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315"/>
          <a:stretch/>
        </p:blipFill>
        <p:spPr>
          <a:xfrm>
            <a:off x="152400" y="109381"/>
            <a:ext cx="8839200" cy="9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29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7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6104" y="682922"/>
            <a:ext cx="7772400" cy="46166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96987"/>
            <a:ext cx="7772400" cy="32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4864207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7C017F59-29DA-6F48-B92A-5AD511CC2D6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64207"/>
            <a:ext cx="2895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r>
              <a:rPr lang="en-US"/>
              <a:t>FOOTER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58000" y="4864207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600" b="0" i="0">
                <a:solidFill>
                  <a:srgbClr val="6C6463"/>
                </a:solidFill>
                <a:latin typeface="Gill Sans MT"/>
                <a:cs typeface="Gill Sans MT"/>
              </a:defRPr>
            </a:lvl1pPr>
          </a:lstStyle>
          <a:p>
            <a:fld id="{42782948-4DBE-204D-AB9E-B65E067054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ame 13"/>
          <p:cNvSpPr/>
          <p:nvPr/>
        </p:nvSpPr>
        <p:spPr>
          <a:xfrm>
            <a:off x="0" y="0"/>
            <a:ext cx="9144000" cy="5189384"/>
          </a:xfrm>
          <a:prstGeom prst="frame">
            <a:avLst>
              <a:gd name="adj1" fmla="val 29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FFFFFF"/>
              </a:solidFill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88133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74" r:id="rId2"/>
    <p:sldLayoutId id="2147483654" r:id="rId3"/>
    <p:sldLayoutId id="2147483708" r:id="rId4"/>
    <p:sldLayoutId id="2147483709" r:id="rId5"/>
    <p:sldLayoutId id="2147483758" r:id="rId6"/>
    <p:sldLayoutId id="2147483710" r:id="rId7"/>
    <p:sldLayoutId id="2147483711" r:id="rId8"/>
    <p:sldLayoutId id="2147483712" r:id="rId9"/>
    <p:sldLayoutId id="2147483714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696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b="0" i="0" kern="1200">
          <a:solidFill>
            <a:srgbClr val="BA0C2F"/>
          </a:solidFill>
          <a:latin typeface="Gill Sans MT"/>
          <a:ea typeface="+mj-ea"/>
          <a:cs typeface="Gill Sans MT"/>
        </a:defRPr>
      </a:lvl1pPr>
    </p:titleStyle>
    <p:bodyStyle>
      <a:lvl1pPr marL="230188" indent="-230188" algn="l" defTabSz="457200" rtl="0" eaLnBrk="1" latinLnBrk="0" hangingPunct="1">
        <a:spcBef>
          <a:spcPts val="0"/>
        </a:spcBef>
        <a:spcAft>
          <a:spcPts val="800"/>
        </a:spcAft>
        <a:buFont typeface="Arial"/>
        <a:buChar char="•"/>
        <a:defRPr sz="1600" b="0" i="0" kern="1200">
          <a:solidFill>
            <a:srgbClr val="6C6463"/>
          </a:solidFill>
          <a:latin typeface="Gill Sans MT"/>
          <a:ea typeface="+mn-ea"/>
          <a:cs typeface="Gill Sans MT"/>
        </a:defRPr>
      </a:lvl1pPr>
      <a:lvl2pPr marL="684213" indent="-230188" algn="l" defTabSz="457200" rtl="0" eaLnBrk="1" latinLnBrk="0" hangingPunct="1">
        <a:spcBef>
          <a:spcPts val="0"/>
        </a:spcBef>
        <a:spcAft>
          <a:spcPts val="800"/>
        </a:spcAft>
        <a:buFont typeface="Arial"/>
        <a:buChar char="–"/>
        <a:defRPr sz="1600" b="0" i="0" kern="1200">
          <a:solidFill>
            <a:srgbClr val="6C6463"/>
          </a:solidFill>
          <a:latin typeface="Gill Sans MT"/>
          <a:ea typeface="+mn-ea"/>
          <a:cs typeface="Gill Sans MT"/>
        </a:defRPr>
      </a:lvl2pPr>
      <a:lvl3pPr marL="914400" indent="-230188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6C6463"/>
          </a:solidFill>
          <a:latin typeface="Gill Sans MT"/>
          <a:ea typeface="+mn-ea"/>
          <a:cs typeface="Gill Sans MT"/>
        </a:defRPr>
      </a:lvl3pPr>
      <a:lvl4pPr marL="1146175" indent="-231775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6C6463"/>
          </a:solidFill>
          <a:latin typeface="Gill Sans MT"/>
          <a:ea typeface="+mn-ea"/>
          <a:cs typeface="Gill Sans MT"/>
        </a:defRPr>
      </a:lvl4pPr>
      <a:lvl5pPr marL="1255713" indent="-230188" algn="l" defTabSz="457200" rtl="0" eaLnBrk="1" latinLnBrk="0" hangingPunct="1">
        <a:spcBef>
          <a:spcPct val="20000"/>
        </a:spcBef>
        <a:buFont typeface="Arial"/>
        <a:buChar char="»"/>
        <a:defRPr sz="1400" b="0" i="0" kern="1200">
          <a:solidFill>
            <a:srgbClr val="6C6463"/>
          </a:solidFill>
          <a:latin typeface="Gill Sans MT"/>
          <a:ea typeface="+mn-ea"/>
          <a:cs typeface="Gill Sans M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datacamp.com/courses/time-series-analysis-in-r" TargetMode="External"/><Relationship Id="rId2" Type="http://schemas.openxmlformats.org/officeDocument/2006/relationships/hyperlink" Target="https://learn.datacamp.com/courses/arima-models-in-r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learn.datacamp.com/courses/manipulating-time-series-data-with-xts-and-zoo-in-r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0C00456-721A-A94C-800A-D5E7EE91C160}" type="datetime1">
              <a:rPr lang="en-US" smtClean="0"/>
              <a:pPr/>
              <a:t>9/25/2022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FOOTER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PHOTO COVER OPTION</a:t>
            </a:r>
            <a:br>
              <a:rPr lang="en-US" dirty="0"/>
            </a:br>
            <a:r>
              <a:rPr lang="en-US" dirty="0"/>
              <a:t>TITLE GOES HERE CAN </a:t>
            </a:r>
            <a:br>
              <a:rPr lang="en-US" dirty="0"/>
            </a:br>
            <a:r>
              <a:rPr lang="en-US" dirty="0"/>
              <a:t>RUN THREE LINES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SUBTITLE STYLE GOES HERE, CAN RUN FOUR LINES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55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79B594D-EE2C-E248-B7F0-F679C2E525DC}" type="datetime1">
              <a:rPr lang="en-US" smtClean="0"/>
              <a:pPr/>
              <a:t>9/25/2022</a:t>
            </a:fld>
            <a:r>
              <a:rPr lang="en-US"/>
              <a:t>`1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RED COVER OPTION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TITLE GOES HERE CAN RUN THREE LINES</a:t>
            </a:r>
          </a:p>
        </p:txBody>
      </p:sp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SUBTITLE STYLE GOES HERE, </a:t>
            </a:r>
            <a:br>
              <a:rPr lang="en-US"/>
            </a:br>
            <a:r>
              <a:rPr lang="en-US"/>
              <a:t>CAN RUN FOUR LINES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24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6036" y="1157079"/>
            <a:ext cx="5486400" cy="830997"/>
          </a:xfrm>
        </p:spPr>
        <p:txBody>
          <a:bodyPr/>
          <a:lstStyle/>
          <a:p>
            <a:r>
              <a:rPr lang="en-US" dirty="0"/>
              <a:t>DIVIDER TITLE </a:t>
            </a:r>
            <a:r>
              <a:rPr lang="en-US" dirty="0">
                <a:solidFill>
                  <a:srgbClr val="000000"/>
                </a:solidFill>
              </a:rPr>
              <a:t>GOES HERE &amp; CAN RUN SEVERAL LINES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7F02-9C8D-9C43-8CF1-E7D544BE7C72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62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7" descr="8722143013_2f7297ca6c_o.jpg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" r="3"/>
          <a:stretch/>
        </p:blipFill>
        <p:spPr/>
      </p:pic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1B7343D-1FD4-744C-9192-B6EF5881B96B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685800" y="2443396"/>
            <a:ext cx="3657600" cy="2329053"/>
          </a:xfrm>
        </p:spPr>
        <p:txBody>
          <a:bodyPr/>
          <a:lstStyle/>
          <a:p>
            <a:r>
              <a:rPr lang="en-US" dirty="0"/>
              <a:t>Level 1 bullet goes here. </a:t>
            </a:r>
          </a:p>
          <a:p>
            <a:pPr lvl="1"/>
            <a:r>
              <a:rPr lang="en-US" dirty="0"/>
              <a:t>Level 2 bullet goes here.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85800" y="1234069"/>
            <a:ext cx="3657600" cy="1135090"/>
          </a:xfrm>
        </p:spPr>
        <p:txBody>
          <a:bodyPr/>
          <a:lstStyle/>
          <a:p>
            <a:r>
              <a:rPr lang="en-US" dirty="0">
                <a:solidFill>
                  <a:srgbClr val="651D32"/>
                </a:solidFill>
              </a:rPr>
              <a:t>TITLE GOES HERE </a:t>
            </a:r>
            <a:br>
              <a:rPr lang="en-US" dirty="0">
                <a:solidFill>
                  <a:srgbClr val="651D32"/>
                </a:solidFill>
              </a:rPr>
            </a:br>
            <a:r>
              <a:rPr lang="en-US" dirty="0"/>
              <a:t>&amp; CAN RUN </a:t>
            </a:r>
            <a:br>
              <a:rPr lang="en-US" dirty="0"/>
            </a:br>
            <a:r>
              <a:rPr lang="en-US" dirty="0"/>
              <a:t>THREE LINES</a:t>
            </a:r>
          </a:p>
        </p:txBody>
      </p:sp>
    </p:spTree>
    <p:extLst>
      <p:ext uri="{BB962C8B-B14F-4D97-AF65-F5344CB8AC3E}">
        <p14:creationId xmlns:p14="http://schemas.microsoft.com/office/powerpoint/2010/main" val="31245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Date Placeholder 1"/>
          <p:cNvSpPr txBox="1">
            <a:spLocks/>
          </p:cNvSpPr>
          <p:nvPr/>
        </p:nvSpPr>
        <p:spPr>
          <a:xfrm>
            <a:off x="101885" y="4695073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600" b="0" i="0" kern="1200">
                <a:solidFill>
                  <a:srgbClr val="FFFFFF"/>
                </a:solidFill>
                <a:latin typeface="Gill Sans MT"/>
                <a:ea typeface="+mn-ea"/>
                <a:cs typeface="Gill Sans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8" name="object 6"/>
          <p:cNvSpPr/>
          <p:nvPr/>
        </p:nvSpPr>
        <p:spPr>
          <a:xfrm>
            <a:off x="226755" y="3935034"/>
            <a:ext cx="4017460" cy="943031"/>
          </a:xfrm>
          <a:custGeom>
            <a:avLst/>
            <a:gdLst/>
            <a:ahLst/>
            <a:cxnLst/>
            <a:rect l="l" t="t" r="r" b="b"/>
            <a:pathLst>
              <a:path w="6141720" h="1699259">
                <a:moveTo>
                  <a:pt x="6064612" y="1699042"/>
                </a:moveTo>
                <a:lnTo>
                  <a:pt x="0" y="1699042"/>
                </a:lnTo>
                <a:lnTo>
                  <a:pt x="0" y="0"/>
                </a:lnTo>
                <a:lnTo>
                  <a:pt x="6064612" y="0"/>
                </a:lnTo>
                <a:lnTo>
                  <a:pt x="6069936" y="524"/>
                </a:lnTo>
                <a:lnTo>
                  <a:pt x="6109196" y="16786"/>
                </a:lnTo>
                <a:lnTo>
                  <a:pt x="6136941" y="55514"/>
                </a:lnTo>
                <a:lnTo>
                  <a:pt x="6141117" y="76505"/>
                </a:lnTo>
                <a:lnTo>
                  <a:pt x="6141117" y="1622537"/>
                </a:lnTo>
                <a:lnTo>
                  <a:pt x="6124330" y="1667122"/>
                </a:lnTo>
                <a:lnTo>
                  <a:pt x="6085602" y="1694867"/>
                </a:lnTo>
                <a:lnTo>
                  <a:pt x="6064612" y="1699042"/>
                </a:lnTo>
                <a:close/>
              </a:path>
            </a:pathLst>
          </a:custGeom>
          <a:solidFill>
            <a:srgbClr val="7833FF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ct val="100000"/>
              </a:lnSpc>
              <a:spcBef>
                <a:spcPts val="690"/>
              </a:spcBef>
            </a:pPr>
            <a:r>
              <a:rPr lang="en-US" sz="1600" spc="-21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a hid  A sg ha 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78100"/>
              </a:lnSpc>
              <a:spcBef>
                <a:spcPts val="1040"/>
              </a:spcBef>
            </a:pPr>
            <a:r>
              <a:rPr lang="en-US"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 School of Economics, QAU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795337" y="1421739"/>
            <a:ext cx="6897756" cy="1383712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lang="en-US" sz="4400" dirty="0" smtClean="0"/>
              <a:t>D</a:t>
            </a:r>
            <a:r>
              <a:rPr lang="en-US" sz="4400" dirty="0" smtClean="0">
                <a:latin typeface="Lucida Sans Unicode"/>
                <a:cs typeface="Lucida Sans Unicode"/>
              </a:rPr>
              <a:t>Y</a:t>
            </a:r>
            <a:r>
              <a:rPr lang="en-US" sz="4400" dirty="0" smtClean="0"/>
              <a:t>NAMIC REGRESSION</a:t>
            </a:r>
            <a:r>
              <a:rPr lang="en-US" sz="4400" dirty="0" smtClean="0">
                <a:latin typeface="Microsoft Sans Serif"/>
                <a:cs typeface="Microsoft Sans Serif"/>
              </a:rPr>
              <a:t/>
            </a:r>
            <a:br>
              <a:rPr lang="en-US" sz="4400" dirty="0" smtClean="0">
                <a:latin typeface="Microsoft Sans Serif"/>
                <a:cs typeface="Microsoft Sans Serif"/>
              </a:rPr>
            </a:br>
            <a:r>
              <a:rPr sz="2250" spc="65" dirty="0" smtClean="0"/>
              <a:t>F</a:t>
            </a:r>
            <a:r>
              <a:rPr sz="2250" spc="-470" dirty="0" smtClean="0"/>
              <a:t> </a:t>
            </a:r>
            <a:r>
              <a:rPr sz="2250" spc="55" dirty="0"/>
              <a:t>O</a:t>
            </a:r>
            <a:r>
              <a:rPr sz="2250" spc="-475" dirty="0"/>
              <a:t> </a:t>
            </a:r>
            <a:r>
              <a:rPr sz="2250" spc="-150" dirty="0"/>
              <a:t>R</a:t>
            </a:r>
            <a:r>
              <a:rPr sz="2250" spc="-465" dirty="0"/>
              <a:t> </a:t>
            </a:r>
            <a:r>
              <a:rPr sz="2250" spc="190" dirty="0"/>
              <a:t>EC</a:t>
            </a:r>
            <a:r>
              <a:rPr sz="2250" spc="-470" dirty="0"/>
              <a:t> </a:t>
            </a:r>
            <a:r>
              <a:rPr sz="2250" spc="95" dirty="0"/>
              <a:t>A</a:t>
            </a:r>
            <a:r>
              <a:rPr sz="2250" spc="-490" dirty="0"/>
              <a:t> </a:t>
            </a:r>
            <a:r>
              <a:rPr sz="2250" spc="-229" dirty="0"/>
              <a:t>S</a:t>
            </a:r>
            <a:r>
              <a:rPr sz="2250" spc="-470" dirty="0"/>
              <a:t> </a:t>
            </a:r>
            <a:r>
              <a:rPr sz="2250" spc="-65" dirty="0"/>
              <a:t>T</a:t>
            </a:r>
            <a:r>
              <a:rPr sz="2250" spc="-465" dirty="0"/>
              <a:t> </a:t>
            </a:r>
            <a:r>
              <a:rPr sz="2250" spc="-295" dirty="0"/>
              <a:t>I</a:t>
            </a:r>
            <a:r>
              <a:rPr sz="2250" spc="-470" dirty="0"/>
              <a:t> </a:t>
            </a:r>
            <a:r>
              <a:rPr sz="2250" spc="35" dirty="0"/>
              <a:t>N</a:t>
            </a:r>
            <a:r>
              <a:rPr sz="2250" spc="-475" dirty="0"/>
              <a:t> </a:t>
            </a:r>
            <a:r>
              <a:rPr sz="2250" spc="5" dirty="0"/>
              <a:t>G	</a:t>
            </a:r>
            <a:r>
              <a:rPr sz="2250" spc="-295" dirty="0"/>
              <a:t>I</a:t>
            </a:r>
            <a:r>
              <a:rPr sz="2250" spc="-465" dirty="0"/>
              <a:t> </a:t>
            </a:r>
            <a:r>
              <a:rPr sz="2250" spc="35" dirty="0"/>
              <a:t>N	</a:t>
            </a:r>
            <a:r>
              <a:rPr sz="2250" spc="-150" dirty="0"/>
              <a:t>R</a:t>
            </a:r>
            <a:endParaRPr sz="2250" dirty="0"/>
          </a:p>
        </p:txBody>
      </p:sp>
      <p:grpSp>
        <p:nvGrpSpPr>
          <p:cNvPr id="11" name="object 3"/>
          <p:cNvGrpSpPr/>
          <p:nvPr/>
        </p:nvGrpSpPr>
        <p:grpSpPr>
          <a:xfrm>
            <a:off x="3841953" y="2921278"/>
            <a:ext cx="804524" cy="861034"/>
            <a:chOff x="7287459" y="4974305"/>
            <a:chExt cx="982980" cy="982980"/>
          </a:xfrm>
        </p:grpSpPr>
        <p:sp>
          <p:nvSpPr>
            <p:cNvPr id="12" name="object 4"/>
            <p:cNvSpPr/>
            <p:nvPr/>
          </p:nvSpPr>
          <p:spPr>
            <a:xfrm>
              <a:off x="7287459" y="4974305"/>
              <a:ext cx="982980" cy="982980"/>
            </a:xfrm>
            <a:custGeom>
              <a:avLst/>
              <a:gdLst/>
              <a:ahLst/>
              <a:cxnLst/>
              <a:rect l="l" t="t" r="r" b="b"/>
              <a:pathLst>
                <a:path w="982979" h="982979">
                  <a:moveTo>
                    <a:pt x="491289" y="982578"/>
                  </a:moveTo>
                  <a:lnTo>
                    <a:pt x="443134" y="980213"/>
                  </a:lnTo>
                  <a:lnTo>
                    <a:pt x="395443" y="973138"/>
                  </a:lnTo>
                  <a:lnTo>
                    <a:pt x="348675" y="961423"/>
                  </a:lnTo>
                  <a:lnTo>
                    <a:pt x="303281" y="945181"/>
                  </a:lnTo>
                  <a:lnTo>
                    <a:pt x="259697" y="924568"/>
                  </a:lnTo>
                  <a:lnTo>
                    <a:pt x="218343" y="899781"/>
                  </a:lnTo>
                  <a:lnTo>
                    <a:pt x="179618" y="871061"/>
                  </a:lnTo>
                  <a:lnTo>
                    <a:pt x="143895" y="838683"/>
                  </a:lnTo>
                  <a:lnTo>
                    <a:pt x="111517" y="802960"/>
                  </a:lnTo>
                  <a:lnTo>
                    <a:pt x="82797" y="764235"/>
                  </a:lnTo>
                  <a:lnTo>
                    <a:pt x="58010" y="722881"/>
                  </a:lnTo>
                  <a:lnTo>
                    <a:pt x="37397" y="679297"/>
                  </a:lnTo>
                  <a:lnTo>
                    <a:pt x="21154" y="633903"/>
                  </a:lnTo>
                  <a:lnTo>
                    <a:pt x="9439" y="587135"/>
                  </a:lnTo>
                  <a:lnTo>
                    <a:pt x="2365" y="539444"/>
                  </a:lnTo>
                  <a:lnTo>
                    <a:pt x="0" y="491289"/>
                  </a:lnTo>
                  <a:lnTo>
                    <a:pt x="591" y="467182"/>
                  </a:lnTo>
                  <a:lnTo>
                    <a:pt x="5317" y="419202"/>
                  </a:lnTo>
                  <a:lnTo>
                    <a:pt x="14722" y="371915"/>
                  </a:lnTo>
                  <a:lnTo>
                    <a:pt x="28718" y="325778"/>
                  </a:lnTo>
                  <a:lnTo>
                    <a:pt x="47168" y="281235"/>
                  </a:lnTo>
                  <a:lnTo>
                    <a:pt x="69896" y="238716"/>
                  </a:lnTo>
                  <a:lnTo>
                    <a:pt x="96681" y="198628"/>
                  </a:lnTo>
                  <a:lnTo>
                    <a:pt x="127267" y="161359"/>
                  </a:lnTo>
                  <a:lnTo>
                    <a:pt x="161359" y="127267"/>
                  </a:lnTo>
                  <a:lnTo>
                    <a:pt x="198628" y="96681"/>
                  </a:lnTo>
                  <a:lnTo>
                    <a:pt x="238716" y="69896"/>
                  </a:lnTo>
                  <a:lnTo>
                    <a:pt x="281235" y="47168"/>
                  </a:lnTo>
                  <a:lnTo>
                    <a:pt x="325778" y="28718"/>
                  </a:lnTo>
                  <a:lnTo>
                    <a:pt x="371915" y="14722"/>
                  </a:lnTo>
                  <a:lnTo>
                    <a:pt x="419202" y="5317"/>
                  </a:lnTo>
                  <a:lnTo>
                    <a:pt x="467182" y="591"/>
                  </a:lnTo>
                  <a:lnTo>
                    <a:pt x="491289" y="0"/>
                  </a:lnTo>
                  <a:lnTo>
                    <a:pt x="515395" y="591"/>
                  </a:lnTo>
                  <a:lnTo>
                    <a:pt x="563376" y="5317"/>
                  </a:lnTo>
                  <a:lnTo>
                    <a:pt x="610663" y="14722"/>
                  </a:lnTo>
                  <a:lnTo>
                    <a:pt x="656799" y="28718"/>
                  </a:lnTo>
                  <a:lnTo>
                    <a:pt x="701342" y="47168"/>
                  </a:lnTo>
                  <a:lnTo>
                    <a:pt x="743862" y="69896"/>
                  </a:lnTo>
                  <a:lnTo>
                    <a:pt x="783950" y="96681"/>
                  </a:lnTo>
                  <a:lnTo>
                    <a:pt x="821219" y="127267"/>
                  </a:lnTo>
                  <a:lnTo>
                    <a:pt x="855311" y="161359"/>
                  </a:lnTo>
                  <a:lnTo>
                    <a:pt x="885896" y="198628"/>
                  </a:lnTo>
                  <a:lnTo>
                    <a:pt x="912682" y="238716"/>
                  </a:lnTo>
                  <a:lnTo>
                    <a:pt x="935410" y="281235"/>
                  </a:lnTo>
                  <a:lnTo>
                    <a:pt x="953860" y="325778"/>
                  </a:lnTo>
                  <a:lnTo>
                    <a:pt x="967855" y="371915"/>
                  </a:lnTo>
                  <a:lnTo>
                    <a:pt x="977261" y="419202"/>
                  </a:lnTo>
                  <a:lnTo>
                    <a:pt x="981987" y="467182"/>
                  </a:lnTo>
                  <a:lnTo>
                    <a:pt x="982578" y="491289"/>
                  </a:lnTo>
                  <a:lnTo>
                    <a:pt x="981987" y="515395"/>
                  </a:lnTo>
                  <a:lnTo>
                    <a:pt x="977261" y="563376"/>
                  </a:lnTo>
                  <a:lnTo>
                    <a:pt x="967855" y="610663"/>
                  </a:lnTo>
                  <a:lnTo>
                    <a:pt x="953860" y="656799"/>
                  </a:lnTo>
                  <a:lnTo>
                    <a:pt x="935410" y="701342"/>
                  </a:lnTo>
                  <a:lnTo>
                    <a:pt x="912682" y="743862"/>
                  </a:lnTo>
                  <a:lnTo>
                    <a:pt x="885897" y="783950"/>
                  </a:lnTo>
                  <a:lnTo>
                    <a:pt x="855311" y="821219"/>
                  </a:lnTo>
                  <a:lnTo>
                    <a:pt x="821219" y="855311"/>
                  </a:lnTo>
                  <a:lnTo>
                    <a:pt x="783950" y="885896"/>
                  </a:lnTo>
                  <a:lnTo>
                    <a:pt x="743862" y="912682"/>
                  </a:lnTo>
                  <a:lnTo>
                    <a:pt x="701342" y="935410"/>
                  </a:lnTo>
                  <a:lnTo>
                    <a:pt x="656799" y="953860"/>
                  </a:lnTo>
                  <a:lnTo>
                    <a:pt x="610663" y="967855"/>
                  </a:lnTo>
                  <a:lnTo>
                    <a:pt x="563376" y="977261"/>
                  </a:lnTo>
                  <a:lnTo>
                    <a:pt x="515395" y="981987"/>
                  </a:lnTo>
                  <a:lnTo>
                    <a:pt x="491289" y="982578"/>
                  </a:lnTo>
                  <a:close/>
                </a:path>
              </a:pathLst>
            </a:custGeom>
            <a:solidFill>
              <a:srgbClr val="0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5"/>
            <p:cNvSpPr/>
            <p:nvPr/>
          </p:nvSpPr>
          <p:spPr>
            <a:xfrm>
              <a:off x="7464603" y="5201056"/>
              <a:ext cx="627380" cy="483870"/>
            </a:xfrm>
            <a:custGeom>
              <a:avLst/>
              <a:gdLst/>
              <a:ahLst/>
              <a:cxnLst/>
              <a:rect l="l" t="t" r="r" b="b"/>
              <a:pathLst>
                <a:path w="627379" h="483870">
                  <a:moveTo>
                    <a:pt x="626770" y="209892"/>
                  </a:moveTo>
                  <a:lnTo>
                    <a:pt x="621728" y="172161"/>
                  </a:lnTo>
                  <a:lnTo>
                    <a:pt x="607174" y="136652"/>
                  </a:lnTo>
                  <a:lnTo>
                    <a:pt x="590003" y="112458"/>
                  </a:lnTo>
                  <a:lnTo>
                    <a:pt x="590003" y="225552"/>
                  </a:lnTo>
                  <a:lnTo>
                    <a:pt x="584238" y="264845"/>
                  </a:lnTo>
                  <a:lnTo>
                    <a:pt x="567677" y="297535"/>
                  </a:lnTo>
                  <a:lnTo>
                    <a:pt x="541426" y="323824"/>
                  </a:lnTo>
                  <a:lnTo>
                    <a:pt x="513664" y="339826"/>
                  </a:lnTo>
                  <a:lnTo>
                    <a:pt x="511086" y="338315"/>
                  </a:lnTo>
                  <a:lnTo>
                    <a:pt x="507263" y="336384"/>
                  </a:lnTo>
                  <a:lnTo>
                    <a:pt x="497928" y="332270"/>
                  </a:lnTo>
                  <a:lnTo>
                    <a:pt x="488137" y="328650"/>
                  </a:lnTo>
                  <a:lnTo>
                    <a:pt x="480415" y="326072"/>
                  </a:lnTo>
                  <a:lnTo>
                    <a:pt x="477278" y="325081"/>
                  </a:lnTo>
                  <a:lnTo>
                    <a:pt x="491871" y="322554"/>
                  </a:lnTo>
                  <a:lnTo>
                    <a:pt x="523989" y="309994"/>
                  </a:lnTo>
                  <a:lnTo>
                    <a:pt x="556107" y="279996"/>
                  </a:lnTo>
                  <a:lnTo>
                    <a:pt x="559600" y="266877"/>
                  </a:lnTo>
                  <a:lnTo>
                    <a:pt x="570712" y="225132"/>
                  </a:lnTo>
                  <a:lnTo>
                    <a:pt x="565543" y="206857"/>
                  </a:lnTo>
                  <a:lnTo>
                    <a:pt x="555434" y="171069"/>
                  </a:lnTo>
                  <a:lnTo>
                    <a:pt x="521817" y="142836"/>
                  </a:lnTo>
                  <a:lnTo>
                    <a:pt x="488200" y="132054"/>
                  </a:lnTo>
                  <a:lnTo>
                    <a:pt x="472922" y="130327"/>
                  </a:lnTo>
                  <a:lnTo>
                    <a:pt x="460756" y="130327"/>
                  </a:lnTo>
                  <a:lnTo>
                    <a:pt x="460756" y="236321"/>
                  </a:lnTo>
                  <a:lnTo>
                    <a:pt x="456069" y="253936"/>
                  </a:lnTo>
                  <a:lnTo>
                    <a:pt x="445770" y="263004"/>
                  </a:lnTo>
                  <a:lnTo>
                    <a:pt x="435457" y="266357"/>
                  </a:lnTo>
                  <a:lnTo>
                    <a:pt x="430771" y="266852"/>
                  </a:lnTo>
                  <a:lnTo>
                    <a:pt x="419481" y="266865"/>
                  </a:lnTo>
                  <a:lnTo>
                    <a:pt x="419481" y="365620"/>
                  </a:lnTo>
                  <a:lnTo>
                    <a:pt x="415442" y="366306"/>
                  </a:lnTo>
                  <a:lnTo>
                    <a:pt x="365125" y="368846"/>
                  </a:lnTo>
                  <a:lnTo>
                    <a:pt x="365125" y="345084"/>
                  </a:lnTo>
                  <a:lnTo>
                    <a:pt x="399707" y="345084"/>
                  </a:lnTo>
                  <a:lnTo>
                    <a:pt x="402234" y="346786"/>
                  </a:lnTo>
                  <a:lnTo>
                    <a:pt x="408178" y="351599"/>
                  </a:lnTo>
                  <a:lnTo>
                    <a:pt x="414096" y="358038"/>
                  </a:lnTo>
                  <a:lnTo>
                    <a:pt x="419481" y="365620"/>
                  </a:lnTo>
                  <a:lnTo>
                    <a:pt x="419481" y="266865"/>
                  </a:lnTo>
                  <a:lnTo>
                    <a:pt x="366014" y="266877"/>
                  </a:lnTo>
                  <a:lnTo>
                    <a:pt x="366052" y="206857"/>
                  </a:lnTo>
                  <a:lnTo>
                    <a:pt x="430771" y="206895"/>
                  </a:lnTo>
                  <a:lnTo>
                    <a:pt x="435457" y="207124"/>
                  </a:lnTo>
                  <a:lnTo>
                    <a:pt x="445770" y="209969"/>
                  </a:lnTo>
                  <a:lnTo>
                    <a:pt x="456069" y="218617"/>
                  </a:lnTo>
                  <a:lnTo>
                    <a:pt x="460756" y="236321"/>
                  </a:lnTo>
                  <a:lnTo>
                    <a:pt x="460756" y="130327"/>
                  </a:lnTo>
                  <a:lnTo>
                    <a:pt x="258229" y="130327"/>
                  </a:lnTo>
                  <a:lnTo>
                    <a:pt x="258229" y="354812"/>
                  </a:lnTo>
                  <a:lnTo>
                    <a:pt x="256603" y="354457"/>
                  </a:lnTo>
                  <a:lnTo>
                    <a:pt x="212369" y="337515"/>
                  </a:lnTo>
                  <a:lnTo>
                    <a:pt x="175488" y="315290"/>
                  </a:lnTo>
                  <a:lnTo>
                    <a:pt x="147370" y="288645"/>
                  </a:lnTo>
                  <a:lnTo>
                    <a:pt x="123151" y="225552"/>
                  </a:lnTo>
                  <a:lnTo>
                    <a:pt x="129451" y="192646"/>
                  </a:lnTo>
                  <a:lnTo>
                    <a:pt x="175488" y="135801"/>
                  </a:lnTo>
                  <a:lnTo>
                    <a:pt x="212369" y="113588"/>
                  </a:lnTo>
                  <a:lnTo>
                    <a:pt x="256603" y="96647"/>
                  </a:lnTo>
                  <a:lnTo>
                    <a:pt x="306743" y="85852"/>
                  </a:lnTo>
                  <a:lnTo>
                    <a:pt x="361353" y="82067"/>
                  </a:lnTo>
                  <a:lnTo>
                    <a:pt x="415442" y="84785"/>
                  </a:lnTo>
                  <a:lnTo>
                    <a:pt x="464210" y="93091"/>
                  </a:lnTo>
                  <a:lnTo>
                    <a:pt x="506577" y="107200"/>
                  </a:lnTo>
                  <a:lnTo>
                    <a:pt x="541426" y="127292"/>
                  </a:lnTo>
                  <a:lnTo>
                    <a:pt x="584238" y="186258"/>
                  </a:lnTo>
                  <a:lnTo>
                    <a:pt x="590003" y="225552"/>
                  </a:lnTo>
                  <a:lnTo>
                    <a:pt x="590003" y="112458"/>
                  </a:lnTo>
                  <a:lnTo>
                    <a:pt x="583984" y="103962"/>
                  </a:lnTo>
                  <a:lnTo>
                    <a:pt x="560882" y="82067"/>
                  </a:lnTo>
                  <a:lnTo>
                    <a:pt x="553072" y="74663"/>
                  </a:lnTo>
                  <a:lnTo>
                    <a:pt x="515302" y="49364"/>
                  </a:lnTo>
                  <a:lnTo>
                    <a:pt x="471563" y="28663"/>
                  </a:lnTo>
                  <a:lnTo>
                    <a:pt x="422744" y="13131"/>
                  </a:lnTo>
                  <a:lnTo>
                    <a:pt x="369722" y="3390"/>
                  </a:lnTo>
                  <a:lnTo>
                    <a:pt x="313385" y="0"/>
                  </a:lnTo>
                  <a:lnTo>
                    <a:pt x="257060" y="3390"/>
                  </a:lnTo>
                  <a:lnTo>
                    <a:pt x="204038" y="13131"/>
                  </a:lnTo>
                  <a:lnTo>
                    <a:pt x="155219" y="28663"/>
                  </a:lnTo>
                  <a:lnTo>
                    <a:pt x="111480" y="49364"/>
                  </a:lnTo>
                  <a:lnTo>
                    <a:pt x="73698" y="74663"/>
                  </a:lnTo>
                  <a:lnTo>
                    <a:pt x="42786" y="103962"/>
                  </a:lnTo>
                  <a:lnTo>
                    <a:pt x="19608" y="136652"/>
                  </a:lnTo>
                  <a:lnTo>
                    <a:pt x="5041" y="172161"/>
                  </a:lnTo>
                  <a:lnTo>
                    <a:pt x="0" y="209892"/>
                  </a:lnTo>
                  <a:lnTo>
                    <a:pt x="5041" y="247611"/>
                  </a:lnTo>
                  <a:lnTo>
                    <a:pt x="19608" y="283121"/>
                  </a:lnTo>
                  <a:lnTo>
                    <a:pt x="42786" y="315823"/>
                  </a:lnTo>
                  <a:lnTo>
                    <a:pt x="73698" y="345122"/>
                  </a:lnTo>
                  <a:lnTo>
                    <a:pt x="111480" y="370408"/>
                  </a:lnTo>
                  <a:lnTo>
                    <a:pt x="155219" y="391121"/>
                  </a:lnTo>
                  <a:lnTo>
                    <a:pt x="204038" y="406641"/>
                  </a:lnTo>
                  <a:lnTo>
                    <a:pt x="257060" y="416394"/>
                  </a:lnTo>
                  <a:lnTo>
                    <a:pt x="258229" y="416471"/>
                  </a:lnTo>
                  <a:lnTo>
                    <a:pt x="258229" y="483298"/>
                  </a:lnTo>
                  <a:lnTo>
                    <a:pt x="365150" y="483260"/>
                  </a:lnTo>
                  <a:lnTo>
                    <a:pt x="365137" y="416674"/>
                  </a:lnTo>
                  <a:lnTo>
                    <a:pt x="369722" y="416394"/>
                  </a:lnTo>
                  <a:lnTo>
                    <a:pt x="422744" y="406641"/>
                  </a:lnTo>
                  <a:lnTo>
                    <a:pt x="439648" y="401269"/>
                  </a:lnTo>
                  <a:lnTo>
                    <a:pt x="483362" y="483336"/>
                  </a:lnTo>
                  <a:lnTo>
                    <a:pt x="604177" y="483285"/>
                  </a:lnTo>
                  <a:lnTo>
                    <a:pt x="530987" y="359905"/>
                  </a:lnTo>
                  <a:lnTo>
                    <a:pt x="553072" y="345122"/>
                  </a:lnTo>
                  <a:lnTo>
                    <a:pt x="583984" y="315823"/>
                  </a:lnTo>
                  <a:lnTo>
                    <a:pt x="607174" y="283121"/>
                  </a:lnTo>
                  <a:lnTo>
                    <a:pt x="621728" y="247611"/>
                  </a:lnTo>
                  <a:lnTo>
                    <a:pt x="626770" y="209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42960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261730" y="1117661"/>
            <a:ext cx="52908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D</a:t>
            </a:r>
            <a:r>
              <a:rPr lang="en-US" dirty="0" smtClean="0">
                <a:latin typeface="Lucida Sans Unicode"/>
                <a:cs typeface="Lucida Sans Unicode"/>
              </a:rPr>
              <a:t>Y</a:t>
            </a:r>
            <a:r>
              <a:rPr lang="en-US" dirty="0" smtClean="0"/>
              <a:t>NAMIC REGRESSION</a:t>
            </a:r>
            <a:endParaRPr lang="en-US" dirty="0"/>
          </a:p>
        </p:txBody>
      </p:sp>
      <p:sp>
        <p:nvSpPr>
          <p:cNvPr id="11" name="object 4"/>
          <p:cNvSpPr txBox="1"/>
          <p:nvPr/>
        </p:nvSpPr>
        <p:spPr>
          <a:xfrm>
            <a:off x="341098" y="1631795"/>
            <a:ext cx="9270041" cy="146835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</a:pP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Regression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model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35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ith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50" dirty="0">
                <a:solidFill>
                  <a:srgbClr val="04182D"/>
                </a:solidFill>
                <a:latin typeface="Lucida Sans Unicode"/>
                <a:cs typeface="Lucida Sans Unicode"/>
              </a:rPr>
              <a:t>ARIMA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errors</a:t>
            </a:r>
            <a:r>
              <a:rPr spc="-80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endParaRPr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dirty="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</a:pPr>
            <a:r>
              <a:rPr i="1" spc="-310" dirty="0">
                <a:solidFill>
                  <a:srgbClr val="04182D"/>
                </a:solidFill>
                <a:latin typeface="Verdana"/>
                <a:cs typeface="Verdana"/>
              </a:rPr>
              <a:t>y</a:t>
            </a:r>
            <a:r>
              <a:rPr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i="1" spc="390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165" dirty="0">
                <a:solidFill>
                  <a:srgbClr val="04182D"/>
                </a:solidFill>
                <a:latin typeface="Verdana"/>
                <a:cs typeface="Verdana"/>
              </a:rPr>
              <a:t>β</a:t>
            </a:r>
            <a:r>
              <a:rPr spc="-127" baseline="-12919" dirty="0">
                <a:solidFill>
                  <a:srgbClr val="04182D"/>
                </a:solidFill>
                <a:latin typeface="Tahoma"/>
                <a:cs typeface="Tahoma"/>
              </a:rPr>
              <a:t>0</a:t>
            </a:r>
            <a:r>
              <a:rPr spc="262" baseline="-12919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165" dirty="0">
                <a:solidFill>
                  <a:srgbClr val="04182D"/>
                </a:solidFill>
                <a:latin typeface="Verdana"/>
                <a:cs typeface="Verdana"/>
              </a:rPr>
              <a:t>β</a:t>
            </a:r>
            <a:r>
              <a:rPr spc="97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i="1" spc="-55" dirty="0">
                <a:solidFill>
                  <a:srgbClr val="04182D"/>
                </a:solidFill>
                <a:latin typeface="Verdana"/>
                <a:cs typeface="Verdana"/>
              </a:rPr>
              <a:t>x</a:t>
            </a:r>
            <a:r>
              <a:rPr spc="-135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pc="-75" baseline="-12919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i="1" spc="142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-80" dirty="0">
                <a:solidFill>
                  <a:srgbClr val="04182D"/>
                </a:solidFill>
                <a:latin typeface="Tahoma"/>
                <a:cs typeface="Tahoma"/>
              </a:rPr>
              <a:t>..</a:t>
            </a:r>
            <a:r>
              <a:rPr spc="-75" dirty="0">
                <a:solidFill>
                  <a:srgbClr val="04182D"/>
                </a:solidFill>
                <a:latin typeface="Tahoma"/>
                <a:cs typeface="Tahoma"/>
              </a:rPr>
              <a:t>.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165" dirty="0">
                <a:solidFill>
                  <a:srgbClr val="04182D"/>
                </a:solidFill>
                <a:latin typeface="Verdana"/>
                <a:cs typeface="Verdana"/>
              </a:rPr>
              <a:t>β</a:t>
            </a:r>
            <a:r>
              <a:rPr i="1" spc="419" baseline="-12919" dirty="0">
                <a:solidFill>
                  <a:srgbClr val="04182D"/>
                </a:solidFill>
                <a:latin typeface="Verdana"/>
                <a:cs typeface="Verdana"/>
              </a:rPr>
              <a:t>r</a:t>
            </a:r>
            <a:r>
              <a:rPr i="1" spc="-55" dirty="0">
                <a:solidFill>
                  <a:srgbClr val="04182D"/>
                </a:solidFill>
                <a:latin typeface="Verdana"/>
                <a:cs typeface="Verdana"/>
              </a:rPr>
              <a:t>x</a:t>
            </a:r>
            <a:r>
              <a:rPr i="1" spc="187" baseline="-12919" dirty="0">
                <a:solidFill>
                  <a:srgbClr val="04182D"/>
                </a:solidFill>
                <a:latin typeface="Verdana"/>
                <a:cs typeface="Verdana"/>
              </a:rPr>
              <a:t>r</a:t>
            </a:r>
            <a:r>
              <a:rPr spc="-75" baseline="-12919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i="1" spc="142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400" dirty="0">
                <a:solidFill>
                  <a:srgbClr val="04182D"/>
                </a:solidFill>
                <a:latin typeface="Verdana"/>
                <a:cs typeface="Verdana"/>
              </a:rPr>
              <a:t>e</a:t>
            </a:r>
            <a:r>
              <a:rPr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endParaRPr baseline="-12919" dirty="0">
              <a:latin typeface="Verdana"/>
              <a:cs typeface="Verdana"/>
            </a:endParaRPr>
          </a:p>
          <a:p>
            <a:pPr marL="704850" indent="-285750">
              <a:lnSpc>
                <a:spcPct val="100000"/>
              </a:lnSpc>
              <a:spcBef>
                <a:spcPts val="2730"/>
              </a:spcBef>
              <a:buFont typeface="Arial" panose="020B0604020202020204" pitchFamily="34" charset="0"/>
              <a:buChar char="•"/>
              <a:tabLst>
                <a:tab pos="8165465" algn="l"/>
              </a:tabLst>
            </a:pPr>
            <a:r>
              <a:rPr i="1" spc="-310" dirty="0">
                <a:solidFill>
                  <a:srgbClr val="04182D"/>
                </a:solidFill>
                <a:latin typeface="Verdana"/>
                <a:cs typeface="Verdana"/>
              </a:rPr>
              <a:t>y</a:t>
            </a:r>
            <a:r>
              <a:rPr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i="1" spc="225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pc="65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pc="-120" dirty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</a:t>
            </a:r>
            <a:r>
              <a:rPr spc="-6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pc="145" dirty="0">
                <a:solidFill>
                  <a:srgbClr val="04182D"/>
                </a:solidFill>
                <a:latin typeface="Lucida Sans Unicode"/>
                <a:cs typeface="Lucida Sans Unicode"/>
              </a:rPr>
              <a:t>c</a:t>
            </a:r>
            <a:r>
              <a:rPr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t</a:t>
            </a:r>
            <a:r>
              <a:rPr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pc="35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pc="-90" dirty="0">
                <a:solidFill>
                  <a:srgbClr val="04182D"/>
                </a:solidFill>
                <a:latin typeface="Microsoft Sans Serif"/>
                <a:cs typeface="Microsoft Sans Serif"/>
              </a:rPr>
              <a:t>x</a:t>
            </a:r>
            <a:r>
              <a:rPr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p</a:t>
            </a:r>
            <a:r>
              <a:rPr spc="-120" dirty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t</a:t>
            </a:r>
            <a:r>
              <a:rPr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pc="60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pc="-80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pc="19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pc="-8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pc="-7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spc="19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pc="-2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b</a:t>
            </a:r>
            <a:r>
              <a:rPr spc="-12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spc="9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pc="-114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lang="en-US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i="1" spc="-55" dirty="0" smtClean="0">
                <a:solidFill>
                  <a:srgbClr val="04182D"/>
                </a:solidFill>
                <a:latin typeface="Verdana"/>
                <a:cs typeface="Verdana"/>
              </a:rPr>
              <a:t>x</a:t>
            </a:r>
            <a:r>
              <a:rPr spc="-135" baseline="-12919" dirty="0" smtClean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pc="-75" baseline="-12919" dirty="0" smtClean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i="1" spc="142" baseline="-12919" dirty="0" smtClean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pc="-80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r>
              <a:rPr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i="1" spc="-55" dirty="0">
                <a:solidFill>
                  <a:srgbClr val="04182D"/>
                </a:solidFill>
                <a:latin typeface="Verdana"/>
                <a:cs typeface="Verdana"/>
              </a:rPr>
              <a:t>x</a:t>
            </a:r>
            <a:r>
              <a:rPr i="1" spc="187" baseline="-12919" dirty="0">
                <a:solidFill>
                  <a:srgbClr val="04182D"/>
                </a:solidFill>
                <a:latin typeface="Verdana"/>
                <a:cs typeface="Verdana"/>
              </a:rPr>
              <a:t>r</a:t>
            </a:r>
            <a:r>
              <a:rPr spc="-75" baseline="-12919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endParaRPr baseline="-12919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6346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261730" y="1117661"/>
            <a:ext cx="52908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D</a:t>
            </a:r>
            <a:r>
              <a:rPr lang="en-US" dirty="0" smtClean="0">
                <a:latin typeface="Lucida Sans Unicode"/>
                <a:cs typeface="Lucida Sans Unicode"/>
              </a:rPr>
              <a:t>Y</a:t>
            </a:r>
            <a:r>
              <a:rPr lang="en-US" dirty="0" smtClean="0"/>
              <a:t>NAMIC REGRESSION</a:t>
            </a:r>
            <a:endParaRPr lang="en-US" dirty="0"/>
          </a:p>
        </p:txBody>
      </p:sp>
      <p:sp>
        <p:nvSpPr>
          <p:cNvPr id="7" name="object 5"/>
          <p:cNvSpPr txBox="1"/>
          <p:nvPr/>
        </p:nvSpPr>
        <p:spPr>
          <a:xfrm>
            <a:off x="261730" y="1543629"/>
            <a:ext cx="9998075" cy="207877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</a:pPr>
            <a:r>
              <a:rPr sz="20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Regression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model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35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z="20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ith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50" dirty="0">
                <a:solidFill>
                  <a:srgbClr val="04182D"/>
                </a:solidFill>
                <a:latin typeface="Lucida Sans Unicode"/>
                <a:cs typeface="Lucida Sans Unicode"/>
              </a:rPr>
              <a:t>ARIMA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errors</a:t>
            </a:r>
            <a:r>
              <a:rPr sz="2000" spc="-80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</a:pPr>
            <a:r>
              <a:rPr sz="2000" i="1" spc="-310" dirty="0">
                <a:solidFill>
                  <a:srgbClr val="04182D"/>
                </a:solidFill>
                <a:latin typeface="Verdana"/>
                <a:cs typeface="Verdana"/>
              </a:rPr>
              <a:t>y</a:t>
            </a:r>
            <a:r>
              <a:rPr sz="2000"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2000" i="1" spc="390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2000" spc="17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2000"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i="1" spc="-165" dirty="0">
                <a:solidFill>
                  <a:srgbClr val="04182D"/>
                </a:solidFill>
                <a:latin typeface="Verdana"/>
                <a:cs typeface="Verdana"/>
              </a:rPr>
              <a:t>β</a:t>
            </a:r>
            <a:r>
              <a:rPr sz="2000" spc="-127" baseline="-12919" dirty="0">
                <a:solidFill>
                  <a:srgbClr val="04182D"/>
                </a:solidFill>
                <a:latin typeface="Tahoma"/>
                <a:cs typeface="Tahoma"/>
              </a:rPr>
              <a:t>0</a:t>
            </a:r>
            <a:r>
              <a:rPr sz="2000" spc="262" baseline="-12919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z="2000"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i="1" spc="-165" dirty="0">
                <a:solidFill>
                  <a:srgbClr val="04182D"/>
                </a:solidFill>
                <a:latin typeface="Verdana"/>
                <a:cs typeface="Verdana"/>
              </a:rPr>
              <a:t>β</a:t>
            </a:r>
            <a:r>
              <a:rPr sz="2000" spc="97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z="2000" i="1" spc="-55" dirty="0">
                <a:solidFill>
                  <a:srgbClr val="04182D"/>
                </a:solidFill>
                <a:latin typeface="Verdana"/>
                <a:cs typeface="Verdana"/>
              </a:rPr>
              <a:t>x</a:t>
            </a:r>
            <a:r>
              <a:rPr sz="2000" spc="-135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z="2000" spc="-75" baseline="-12919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000"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2000" i="1" spc="142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2000"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z="2000"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04182D"/>
                </a:solidFill>
                <a:latin typeface="Tahoma"/>
                <a:cs typeface="Tahoma"/>
              </a:rPr>
              <a:t>..</a:t>
            </a:r>
            <a:r>
              <a:rPr sz="2000" spc="-75" dirty="0">
                <a:solidFill>
                  <a:srgbClr val="04182D"/>
                </a:solidFill>
                <a:latin typeface="Tahoma"/>
                <a:cs typeface="Tahoma"/>
              </a:rPr>
              <a:t>.</a:t>
            </a:r>
            <a:r>
              <a:rPr sz="2000"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z="2000"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i="1" spc="-165" dirty="0">
                <a:solidFill>
                  <a:srgbClr val="04182D"/>
                </a:solidFill>
                <a:latin typeface="Verdana"/>
                <a:cs typeface="Verdana"/>
              </a:rPr>
              <a:t>β</a:t>
            </a:r>
            <a:r>
              <a:rPr sz="2000" i="1" spc="419" baseline="-12919" dirty="0">
                <a:solidFill>
                  <a:srgbClr val="04182D"/>
                </a:solidFill>
                <a:latin typeface="Verdana"/>
                <a:cs typeface="Verdana"/>
              </a:rPr>
              <a:t>r</a:t>
            </a:r>
            <a:r>
              <a:rPr sz="2000" i="1" spc="-55" dirty="0">
                <a:solidFill>
                  <a:srgbClr val="04182D"/>
                </a:solidFill>
                <a:latin typeface="Verdana"/>
                <a:cs typeface="Verdana"/>
              </a:rPr>
              <a:t>x</a:t>
            </a:r>
            <a:r>
              <a:rPr sz="2000" i="1" spc="187" baseline="-12919" dirty="0">
                <a:solidFill>
                  <a:srgbClr val="04182D"/>
                </a:solidFill>
                <a:latin typeface="Verdana"/>
                <a:cs typeface="Verdana"/>
              </a:rPr>
              <a:t>r</a:t>
            </a:r>
            <a:r>
              <a:rPr sz="2000" spc="-75" baseline="-12919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000"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2000" i="1" spc="142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2000"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z="2000"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i="1" spc="-400" dirty="0">
                <a:solidFill>
                  <a:srgbClr val="04182D"/>
                </a:solidFill>
                <a:latin typeface="Verdana"/>
                <a:cs typeface="Verdana"/>
              </a:rPr>
              <a:t>e</a:t>
            </a:r>
            <a:r>
              <a:rPr sz="2000"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2000" i="1" spc="390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04182D"/>
                </a:solidFill>
                <a:latin typeface="Tahoma"/>
                <a:cs typeface="Tahoma"/>
              </a:rPr>
              <a:t>←</a:t>
            </a:r>
            <a:endParaRPr sz="2000" dirty="0">
              <a:latin typeface="Tahoma"/>
              <a:cs typeface="Tahoma"/>
            </a:endParaRPr>
          </a:p>
          <a:p>
            <a:pPr marL="762000" indent="-342900">
              <a:lnSpc>
                <a:spcPct val="100000"/>
              </a:lnSpc>
              <a:spcBef>
                <a:spcPts val="2730"/>
              </a:spcBef>
              <a:buFont typeface="Arial" panose="020B0604020202020204" pitchFamily="34" charset="0"/>
              <a:buChar char="•"/>
              <a:tabLst>
                <a:tab pos="8165465" algn="l"/>
              </a:tabLst>
            </a:pPr>
            <a:r>
              <a:rPr sz="2000" i="1" spc="-310" dirty="0">
                <a:solidFill>
                  <a:srgbClr val="04182D"/>
                </a:solidFill>
                <a:latin typeface="Verdana"/>
                <a:cs typeface="Verdana"/>
              </a:rPr>
              <a:t>y</a:t>
            </a:r>
            <a:r>
              <a:rPr sz="2000"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2000" i="1" spc="225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z="2000"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20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z="2000" spc="65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2000" spc="-120" dirty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sz="2000"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20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2000"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</a:t>
            </a:r>
            <a:r>
              <a:rPr sz="2000" spc="-6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000"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2000" spc="145" dirty="0">
                <a:solidFill>
                  <a:srgbClr val="04182D"/>
                </a:solidFill>
                <a:latin typeface="Lucida Sans Unicode"/>
                <a:cs typeface="Lucida Sans Unicode"/>
              </a:rPr>
              <a:t>c</a:t>
            </a:r>
            <a:r>
              <a:rPr sz="20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t</a:t>
            </a:r>
            <a:r>
              <a:rPr sz="20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20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20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35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2000" spc="-90" dirty="0">
                <a:solidFill>
                  <a:srgbClr val="04182D"/>
                </a:solidFill>
                <a:latin typeface="Microsoft Sans Serif"/>
                <a:cs typeface="Microsoft Sans Serif"/>
              </a:rPr>
              <a:t>x</a:t>
            </a:r>
            <a:r>
              <a:rPr sz="20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p</a:t>
            </a:r>
            <a:r>
              <a:rPr sz="2000" spc="-120" dirty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sz="20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2000"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20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20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t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2000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z="2000" spc="60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2000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z="2000" spc="19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2000" spc="-8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z="2000" spc="-7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sz="2000" spc="19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2000" spc="-2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b</a:t>
            </a:r>
            <a:r>
              <a:rPr sz="2000" spc="-12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sz="2000" spc="9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2000" spc="-114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lang="en-US" sz="200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i="1" spc="-55" dirty="0" smtClean="0">
                <a:solidFill>
                  <a:srgbClr val="04182D"/>
                </a:solidFill>
                <a:latin typeface="Verdana"/>
                <a:cs typeface="Verdana"/>
              </a:rPr>
              <a:t>x</a:t>
            </a:r>
            <a:r>
              <a:rPr sz="2000" spc="-135" baseline="-12919" dirty="0" smtClean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z="2000" spc="-75" baseline="-12919" dirty="0" smtClean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000" i="1" spc="142" baseline="-12919" dirty="0" smtClean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2000"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000"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r>
              <a:rPr sz="2000"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000"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i="1" spc="-55" dirty="0">
                <a:solidFill>
                  <a:srgbClr val="04182D"/>
                </a:solidFill>
                <a:latin typeface="Verdana"/>
                <a:cs typeface="Verdana"/>
              </a:rPr>
              <a:t>x</a:t>
            </a:r>
            <a:r>
              <a:rPr sz="2000" i="1" spc="187" baseline="-12919" dirty="0">
                <a:solidFill>
                  <a:srgbClr val="04182D"/>
                </a:solidFill>
                <a:latin typeface="Verdana"/>
                <a:cs typeface="Verdana"/>
              </a:rPr>
              <a:t>r</a:t>
            </a:r>
            <a:r>
              <a:rPr sz="2000" spc="-75" baseline="-12919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000"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endParaRPr sz="2000" baseline="-12919" dirty="0">
              <a:latin typeface="Verdana"/>
              <a:cs typeface="Verdana"/>
            </a:endParaRPr>
          </a:p>
          <a:p>
            <a:pPr marL="762000" indent="-342900">
              <a:lnSpc>
                <a:spcPct val="100000"/>
              </a:lnSpc>
              <a:spcBef>
                <a:spcPts val="1435"/>
              </a:spcBef>
              <a:buFont typeface="Arial" panose="020B0604020202020204" pitchFamily="34" charset="0"/>
              <a:buChar char="•"/>
            </a:pPr>
            <a:r>
              <a:rPr sz="20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In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z="20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20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namic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regression</a:t>
            </a:r>
            <a:r>
              <a:rPr sz="2000"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,</a:t>
            </a:r>
            <a:r>
              <a:rPr sz="20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000" spc="30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z="2000" spc="3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allo</a:t>
            </a:r>
            <a:r>
              <a:rPr sz="2000" spc="-15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z="2000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000" i="1" spc="-229" dirty="0">
                <a:solidFill>
                  <a:srgbClr val="04182D"/>
                </a:solidFill>
                <a:latin typeface="Verdana"/>
                <a:cs typeface="Verdana"/>
              </a:rPr>
              <a:t>e</a:t>
            </a:r>
            <a:r>
              <a:rPr sz="2000" i="1" spc="-345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2000" i="1" spc="232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to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be</a:t>
            </a:r>
            <a:r>
              <a:rPr sz="20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70" dirty="0">
                <a:solidFill>
                  <a:srgbClr val="04182D"/>
                </a:solidFill>
                <a:latin typeface="Lucida Sans Unicode"/>
                <a:cs typeface="Lucida Sans Unicode"/>
              </a:rPr>
              <a:t>an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50" dirty="0">
                <a:solidFill>
                  <a:srgbClr val="04182D"/>
                </a:solidFill>
                <a:latin typeface="Lucida Sans Unicode"/>
                <a:cs typeface="Lucida Sans Unicode"/>
              </a:rPr>
              <a:t>ARIMA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process</a:t>
            </a:r>
            <a:endParaRPr sz="2000" dirty="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1136728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object 2"/>
          <p:cNvSpPr txBox="1">
            <a:spLocks noGrp="1"/>
          </p:cNvSpPr>
          <p:nvPr>
            <p:ph type="title"/>
          </p:nvPr>
        </p:nvSpPr>
        <p:spPr>
          <a:xfrm>
            <a:off x="261730" y="1117661"/>
            <a:ext cx="52908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D</a:t>
            </a:r>
            <a:r>
              <a:rPr lang="en-US" dirty="0" smtClean="0">
                <a:latin typeface="Lucida Sans Unicode"/>
                <a:cs typeface="Lucida Sans Unicode"/>
              </a:rPr>
              <a:t>Y</a:t>
            </a:r>
            <a:r>
              <a:rPr lang="en-US" dirty="0" smtClean="0"/>
              <a:t>NAMIC REGRESSION</a:t>
            </a:r>
            <a:endParaRPr lang="en-US" dirty="0"/>
          </a:p>
        </p:txBody>
      </p:sp>
      <p:sp>
        <p:nvSpPr>
          <p:cNvPr id="6" name="object 6"/>
          <p:cNvSpPr txBox="1"/>
          <p:nvPr/>
        </p:nvSpPr>
        <p:spPr>
          <a:xfrm>
            <a:off x="261730" y="1572160"/>
            <a:ext cx="9998075" cy="295080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</a:pPr>
            <a:r>
              <a:rPr sz="20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Regression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model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35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z="20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ith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50" dirty="0">
                <a:solidFill>
                  <a:srgbClr val="04182D"/>
                </a:solidFill>
                <a:latin typeface="Lucida Sans Unicode"/>
                <a:cs typeface="Lucida Sans Unicode"/>
              </a:rPr>
              <a:t>ARIMA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errors</a:t>
            </a:r>
            <a:r>
              <a:rPr sz="2000" spc="-80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endParaRPr sz="20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 dirty="0">
              <a:latin typeface="Microsoft Sans Serif"/>
              <a:cs typeface="Microsoft Sans Serif"/>
            </a:endParaRPr>
          </a:p>
          <a:p>
            <a:pPr marL="50800">
              <a:lnSpc>
                <a:spcPct val="100000"/>
              </a:lnSpc>
            </a:pPr>
            <a:r>
              <a:rPr sz="2000" i="1" spc="-310" dirty="0">
                <a:solidFill>
                  <a:srgbClr val="04182D"/>
                </a:solidFill>
                <a:latin typeface="Verdana"/>
                <a:cs typeface="Verdana"/>
              </a:rPr>
              <a:t>y</a:t>
            </a:r>
            <a:r>
              <a:rPr sz="2000"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2000" i="1" spc="390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2000" spc="17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2000" spc="-10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i="1" spc="-165" dirty="0">
                <a:solidFill>
                  <a:srgbClr val="04182D"/>
                </a:solidFill>
                <a:latin typeface="Verdana"/>
                <a:cs typeface="Verdana"/>
              </a:rPr>
              <a:t>β</a:t>
            </a:r>
            <a:r>
              <a:rPr sz="2000" spc="-127" baseline="-12919" dirty="0">
                <a:solidFill>
                  <a:srgbClr val="04182D"/>
                </a:solidFill>
                <a:latin typeface="Tahoma"/>
                <a:cs typeface="Tahoma"/>
              </a:rPr>
              <a:t>0</a:t>
            </a:r>
            <a:r>
              <a:rPr sz="2000" spc="262" baseline="-12919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z="2000"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i="1" spc="-165" dirty="0">
                <a:solidFill>
                  <a:srgbClr val="04182D"/>
                </a:solidFill>
                <a:latin typeface="Verdana"/>
                <a:cs typeface="Verdana"/>
              </a:rPr>
              <a:t>β</a:t>
            </a:r>
            <a:r>
              <a:rPr sz="2000" spc="97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z="2000" i="1" spc="-55" dirty="0">
                <a:solidFill>
                  <a:srgbClr val="04182D"/>
                </a:solidFill>
                <a:latin typeface="Verdana"/>
                <a:cs typeface="Verdana"/>
              </a:rPr>
              <a:t>x</a:t>
            </a:r>
            <a:r>
              <a:rPr sz="2000" spc="-135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z="2000" spc="-75" baseline="-12919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000"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2000" i="1" spc="142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2000"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z="2000"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04182D"/>
                </a:solidFill>
                <a:latin typeface="Tahoma"/>
                <a:cs typeface="Tahoma"/>
              </a:rPr>
              <a:t>..</a:t>
            </a:r>
            <a:r>
              <a:rPr sz="2000" spc="-75" dirty="0">
                <a:solidFill>
                  <a:srgbClr val="04182D"/>
                </a:solidFill>
                <a:latin typeface="Tahoma"/>
                <a:cs typeface="Tahoma"/>
              </a:rPr>
              <a:t>.</a:t>
            </a:r>
            <a:r>
              <a:rPr sz="2000"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z="2000"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i="1" spc="-165" dirty="0">
                <a:solidFill>
                  <a:srgbClr val="04182D"/>
                </a:solidFill>
                <a:latin typeface="Verdana"/>
                <a:cs typeface="Verdana"/>
              </a:rPr>
              <a:t>β</a:t>
            </a:r>
            <a:r>
              <a:rPr sz="2000" i="1" spc="419" baseline="-12919" dirty="0">
                <a:solidFill>
                  <a:srgbClr val="04182D"/>
                </a:solidFill>
                <a:latin typeface="Verdana"/>
                <a:cs typeface="Verdana"/>
              </a:rPr>
              <a:t>r</a:t>
            </a:r>
            <a:r>
              <a:rPr sz="2000" i="1" spc="-55" dirty="0">
                <a:solidFill>
                  <a:srgbClr val="04182D"/>
                </a:solidFill>
                <a:latin typeface="Verdana"/>
                <a:cs typeface="Verdana"/>
              </a:rPr>
              <a:t>x</a:t>
            </a:r>
            <a:r>
              <a:rPr sz="2000" i="1" spc="187" baseline="-12919" dirty="0">
                <a:solidFill>
                  <a:srgbClr val="04182D"/>
                </a:solidFill>
                <a:latin typeface="Verdana"/>
                <a:cs typeface="Verdana"/>
              </a:rPr>
              <a:t>r</a:t>
            </a:r>
            <a:r>
              <a:rPr sz="2000" spc="-75" baseline="-12919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000"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2000" i="1" spc="142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2000" spc="170" dirty="0">
                <a:solidFill>
                  <a:srgbClr val="04182D"/>
                </a:solidFill>
                <a:latin typeface="Tahoma"/>
                <a:cs typeface="Tahoma"/>
              </a:rPr>
              <a:t>+</a:t>
            </a:r>
            <a:r>
              <a:rPr sz="2000" spc="-28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i="1" spc="-400" dirty="0">
                <a:solidFill>
                  <a:srgbClr val="04182D"/>
                </a:solidFill>
                <a:latin typeface="Verdana"/>
                <a:cs typeface="Verdana"/>
              </a:rPr>
              <a:t>e</a:t>
            </a:r>
            <a:r>
              <a:rPr sz="2000"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endParaRPr sz="2000" baseline="-12919" dirty="0">
              <a:latin typeface="Verdana"/>
              <a:cs typeface="Verdana"/>
            </a:endParaRPr>
          </a:p>
          <a:p>
            <a:pPr marL="762000" indent="-342900">
              <a:lnSpc>
                <a:spcPct val="100000"/>
              </a:lnSpc>
              <a:spcBef>
                <a:spcPts val="2730"/>
              </a:spcBef>
              <a:buFont typeface="Arial" panose="020B0604020202020204" pitchFamily="34" charset="0"/>
              <a:buChar char="•"/>
              <a:tabLst>
                <a:tab pos="8165465" algn="l"/>
              </a:tabLst>
            </a:pPr>
            <a:r>
              <a:rPr sz="2000" i="1" spc="-310" dirty="0">
                <a:solidFill>
                  <a:srgbClr val="04182D"/>
                </a:solidFill>
                <a:latin typeface="Verdana"/>
                <a:cs typeface="Verdana"/>
              </a:rPr>
              <a:t>y</a:t>
            </a:r>
            <a:r>
              <a:rPr sz="2000"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2000" i="1" spc="225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z="2000"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20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z="2000" spc="65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2000" spc="-120" dirty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sz="2000"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20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2000"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</a:t>
            </a:r>
            <a:r>
              <a:rPr sz="2000" spc="-6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000"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2000" spc="145" dirty="0">
                <a:solidFill>
                  <a:srgbClr val="04182D"/>
                </a:solidFill>
                <a:latin typeface="Lucida Sans Unicode"/>
                <a:cs typeface="Lucida Sans Unicode"/>
              </a:rPr>
              <a:t>c</a:t>
            </a:r>
            <a:r>
              <a:rPr sz="20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t</a:t>
            </a:r>
            <a:r>
              <a:rPr sz="20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20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20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35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2000" spc="-90" dirty="0">
                <a:solidFill>
                  <a:srgbClr val="04182D"/>
                </a:solidFill>
                <a:latin typeface="Microsoft Sans Serif"/>
                <a:cs typeface="Microsoft Sans Serif"/>
              </a:rPr>
              <a:t>x</a:t>
            </a:r>
            <a:r>
              <a:rPr sz="20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p</a:t>
            </a:r>
            <a:r>
              <a:rPr sz="2000" spc="-120" dirty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sz="20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2000"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20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20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t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2000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z="2000" spc="60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2000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z="2000" spc="19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2000" spc="-8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z="2000" spc="-7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sz="2000" spc="19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2000" spc="-2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b</a:t>
            </a:r>
            <a:r>
              <a:rPr sz="2000" spc="-12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sz="2000" spc="9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2000" spc="-114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lang="en-US" sz="200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i="1" spc="-55" dirty="0" smtClean="0">
                <a:solidFill>
                  <a:srgbClr val="04182D"/>
                </a:solidFill>
                <a:latin typeface="Verdana"/>
                <a:cs typeface="Verdana"/>
              </a:rPr>
              <a:t>x</a:t>
            </a:r>
            <a:r>
              <a:rPr sz="2000" spc="-135" baseline="-12919" dirty="0" smtClean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sz="2000" spc="-75" baseline="-12919" dirty="0" smtClean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000" i="1" spc="142" baseline="-12919" dirty="0" smtClean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2000"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000"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r>
              <a:rPr sz="2000"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000"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000" i="1" spc="-55" dirty="0">
                <a:solidFill>
                  <a:srgbClr val="04182D"/>
                </a:solidFill>
                <a:latin typeface="Verdana"/>
                <a:cs typeface="Verdana"/>
              </a:rPr>
              <a:t>x</a:t>
            </a:r>
            <a:r>
              <a:rPr sz="2000" i="1" spc="187" baseline="-12919" dirty="0">
                <a:solidFill>
                  <a:srgbClr val="04182D"/>
                </a:solidFill>
                <a:latin typeface="Verdana"/>
                <a:cs typeface="Verdana"/>
              </a:rPr>
              <a:t>r</a:t>
            </a:r>
            <a:r>
              <a:rPr sz="2000" spc="-75" baseline="-12919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sz="2000" i="1" spc="-89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endParaRPr sz="2000" baseline="-12919" dirty="0">
              <a:latin typeface="Verdana"/>
              <a:cs typeface="Verdana"/>
            </a:endParaRPr>
          </a:p>
          <a:p>
            <a:pPr marL="762000" marR="521334" indent="-342900">
              <a:lnSpc>
                <a:spcPts val="516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sz="20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In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z="20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20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namic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regression</a:t>
            </a:r>
            <a:r>
              <a:rPr sz="2000"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,</a:t>
            </a:r>
            <a:r>
              <a:rPr sz="20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000" spc="30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z="2000" spc="3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allo</a:t>
            </a:r>
            <a:r>
              <a:rPr sz="2000" spc="-15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z="20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000" i="1" spc="-229" dirty="0">
                <a:solidFill>
                  <a:srgbClr val="04182D"/>
                </a:solidFill>
                <a:latin typeface="Verdana"/>
                <a:cs typeface="Verdana"/>
              </a:rPr>
              <a:t>e</a:t>
            </a:r>
            <a:r>
              <a:rPr sz="2000" i="1" spc="-345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2000" i="1" spc="225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to</a:t>
            </a:r>
            <a:r>
              <a:rPr sz="20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be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70" dirty="0">
                <a:solidFill>
                  <a:srgbClr val="04182D"/>
                </a:solidFill>
                <a:latin typeface="Lucida Sans Unicode"/>
                <a:cs typeface="Lucida Sans Unicode"/>
              </a:rPr>
              <a:t>an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50" dirty="0">
                <a:solidFill>
                  <a:srgbClr val="04182D"/>
                </a:solidFill>
                <a:latin typeface="Lucida Sans Unicode"/>
                <a:cs typeface="Lucida Sans Unicode"/>
              </a:rPr>
              <a:t>ARIMA</a:t>
            </a:r>
            <a:r>
              <a:rPr sz="20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2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process</a:t>
            </a:r>
            <a:endParaRPr lang="en-US" sz="2000" spc="-25" dirty="0" smtClean="0">
              <a:solidFill>
                <a:srgbClr val="04182D"/>
              </a:solidFill>
              <a:latin typeface="Lucida Sans Unicode"/>
              <a:cs typeface="Lucida Sans Unicode"/>
            </a:endParaRPr>
          </a:p>
          <a:p>
            <a:pPr marL="762000" marR="521334" indent="-342900">
              <a:lnSpc>
                <a:spcPts val="516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sz="2000" spc="-2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77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In</a:t>
            </a:r>
            <a:r>
              <a:rPr sz="20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ordinar</a:t>
            </a:r>
            <a:r>
              <a:rPr sz="2000" spc="-15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2000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regression</a:t>
            </a:r>
            <a:r>
              <a:rPr sz="2000"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,</a:t>
            </a:r>
            <a:r>
              <a:rPr sz="2000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000" spc="30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z="2000" spc="3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ass</a:t>
            </a:r>
            <a:r>
              <a:rPr sz="2000" spc="-1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0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me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that</a:t>
            </a:r>
            <a:r>
              <a:rPr sz="20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i="1" spc="-229" dirty="0">
                <a:solidFill>
                  <a:srgbClr val="04182D"/>
                </a:solidFill>
                <a:latin typeface="Verdana"/>
                <a:cs typeface="Verdana"/>
              </a:rPr>
              <a:t>e</a:t>
            </a:r>
            <a:r>
              <a:rPr sz="2000" i="1" spc="-345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2000" i="1" spc="225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04182D"/>
                </a:solidFill>
                <a:latin typeface="Lucida Sans Unicode"/>
                <a:cs typeface="Lucida Sans Unicode"/>
              </a:rPr>
              <a:t>is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z="20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hite</a:t>
            </a:r>
            <a:r>
              <a:rPr sz="20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0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noise</a:t>
            </a:r>
            <a:endParaRPr sz="2000" dirty="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3724911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object 2"/>
          <p:cNvSpPr txBox="1">
            <a:spLocks noGrp="1"/>
          </p:cNvSpPr>
          <p:nvPr>
            <p:ph type="title"/>
          </p:nvPr>
        </p:nvSpPr>
        <p:spPr>
          <a:xfrm>
            <a:off x="261730" y="1145747"/>
            <a:ext cx="1000442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US PERSONAL CONS</a:t>
            </a:r>
            <a:r>
              <a:rPr lang="en-US" dirty="0" smtClean="0">
                <a:latin typeface="Lucida Sans Unicode"/>
                <a:cs typeface="Lucida Sans Unicode"/>
              </a:rPr>
              <a:t>U</a:t>
            </a:r>
            <a:r>
              <a:rPr lang="en-US" dirty="0" smtClean="0"/>
              <a:t>MPTION AND INCOME</a:t>
            </a:r>
            <a:endParaRPr lang="en-US" dirty="0"/>
          </a:p>
        </p:txBody>
      </p:sp>
      <p:pic>
        <p:nvPicPr>
          <p:cNvPr id="8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731" y="2683565"/>
            <a:ext cx="6914320" cy="2161074"/>
          </a:xfrm>
          <a:prstGeom prst="rect">
            <a:avLst/>
          </a:prstGeom>
        </p:spPr>
      </p:pic>
      <p:grpSp>
        <p:nvGrpSpPr>
          <p:cNvPr id="9" name="object 3"/>
          <p:cNvGrpSpPr/>
          <p:nvPr/>
        </p:nvGrpSpPr>
        <p:grpSpPr>
          <a:xfrm>
            <a:off x="279986" y="1527902"/>
            <a:ext cx="6896065" cy="1120887"/>
            <a:chOff x="491289" y="1166809"/>
            <a:chExt cx="9887585" cy="1719580"/>
          </a:xfrm>
        </p:grpSpPr>
        <p:sp>
          <p:nvSpPr>
            <p:cNvPr id="11" name="object 4"/>
            <p:cNvSpPr/>
            <p:nvPr/>
          </p:nvSpPr>
          <p:spPr>
            <a:xfrm>
              <a:off x="491289" y="1166809"/>
              <a:ext cx="9887585" cy="1719580"/>
            </a:xfrm>
            <a:custGeom>
              <a:avLst/>
              <a:gdLst/>
              <a:ahLst/>
              <a:cxnLst/>
              <a:rect l="l" t="t" r="r" b="b"/>
              <a:pathLst>
                <a:path w="9887585" h="1719580">
                  <a:moveTo>
                    <a:pt x="9810694" y="1719512"/>
                  </a:moveTo>
                  <a:lnTo>
                    <a:pt x="76505" y="1719512"/>
                  </a:lnTo>
                  <a:lnTo>
                    <a:pt x="71180" y="1718988"/>
                  </a:lnTo>
                  <a:lnTo>
                    <a:pt x="31920" y="1702725"/>
                  </a:lnTo>
                  <a:lnTo>
                    <a:pt x="4175" y="1663998"/>
                  </a:lnTo>
                  <a:lnTo>
                    <a:pt x="0" y="1643007"/>
                  </a:lnTo>
                  <a:lnTo>
                    <a:pt x="0" y="1637631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1643007"/>
                  </a:lnTo>
                  <a:lnTo>
                    <a:pt x="9870412" y="1687592"/>
                  </a:lnTo>
                  <a:lnTo>
                    <a:pt x="9831684" y="1715337"/>
                  </a:lnTo>
                  <a:lnTo>
                    <a:pt x="9816018" y="1718988"/>
                  </a:lnTo>
                  <a:lnTo>
                    <a:pt x="9810694" y="1719512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5"/>
            <p:cNvSpPr/>
            <p:nvPr/>
          </p:nvSpPr>
          <p:spPr>
            <a:xfrm>
              <a:off x="5010101" y="1369244"/>
              <a:ext cx="495934" cy="168275"/>
            </a:xfrm>
            <a:custGeom>
              <a:avLst/>
              <a:gdLst/>
              <a:ahLst/>
              <a:cxnLst/>
              <a:rect l="l" t="t" r="r" b="b"/>
              <a:pathLst>
                <a:path w="495935" h="168275">
                  <a:moveTo>
                    <a:pt x="114238" y="26552"/>
                  </a:moveTo>
                  <a:lnTo>
                    <a:pt x="0" y="26552"/>
                  </a:lnTo>
                  <a:lnTo>
                    <a:pt x="0" y="0"/>
                  </a:lnTo>
                  <a:lnTo>
                    <a:pt x="114238" y="0"/>
                  </a:lnTo>
                  <a:lnTo>
                    <a:pt x="114238" y="26552"/>
                  </a:lnTo>
                  <a:close/>
                </a:path>
                <a:path w="495935" h="168275">
                  <a:moveTo>
                    <a:pt x="71261" y="166032"/>
                  </a:moveTo>
                  <a:lnTo>
                    <a:pt x="42977" y="166032"/>
                  </a:lnTo>
                  <a:lnTo>
                    <a:pt x="42977" y="26552"/>
                  </a:lnTo>
                  <a:lnTo>
                    <a:pt x="71261" y="26552"/>
                  </a:lnTo>
                  <a:lnTo>
                    <a:pt x="71261" y="166032"/>
                  </a:lnTo>
                  <a:close/>
                </a:path>
                <a:path w="495935" h="168275">
                  <a:moveTo>
                    <a:pt x="165170" y="166032"/>
                  </a:moveTo>
                  <a:lnTo>
                    <a:pt x="136939" y="166032"/>
                  </a:lnTo>
                  <a:lnTo>
                    <a:pt x="136939" y="209"/>
                  </a:lnTo>
                  <a:lnTo>
                    <a:pt x="189991" y="209"/>
                  </a:lnTo>
                  <a:lnTo>
                    <a:pt x="197220" y="603"/>
                  </a:lnTo>
                  <a:lnTo>
                    <a:pt x="234648" y="24033"/>
                  </a:lnTo>
                  <a:lnTo>
                    <a:pt x="235755" y="26342"/>
                  </a:lnTo>
                  <a:lnTo>
                    <a:pt x="165170" y="26342"/>
                  </a:lnTo>
                  <a:lnTo>
                    <a:pt x="165170" y="73308"/>
                  </a:lnTo>
                  <a:lnTo>
                    <a:pt x="235829" y="73308"/>
                  </a:lnTo>
                  <a:lnTo>
                    <a:pt x="231919" y="79762"/>
                  </a:lnTo>
                  <a:lnTo>
                    <a:pt x="225832" y="88123"/>
                  </a:lnTo>
                  <a:lnTo>
                    <a:pt x="219237" y="93388"/>
                  </a:lnTo>
                  <a:lnTo>
                    <a:pt x="212136" y="95557"/>
                  </a:lnTo>
                  <a:lnTo>
                    <a:pt x="213967" y="99388"/>
                  </a:lnTo>
                  <a:lnTo>
                    <a:pt x="165170" y="99388"/>
                  </a:lnTo>
                  <a:lnTo>
                    <a:pt x="165170" y="166032"/>
                  </a:lnTo>
                  <a:close/>
                </a:path>
                <a:path w="495935" h="168275">
                  <a:moveTo>
                    <a:pt x="235829" y="73308"/>
                  </a:moveTo>
                  <a:lnTo>
                    <a:pt x="196743" y="73308"/>
                  </a:lnTo>
                  <a:lnTo>
                    <a:pt x="202113" y="71209"/>
                  </a:lnTo>
                  <a:lnTo>
                    <a:pt x="210124" y="62813"/>
                  </a:lnTo>
                  <a:lnTo>
                    <a:pt x="212136" y="57075"/>
                  </a:lnTo>
                  <a:lnTo>
                    <a:pt x="212136" y="42697"/>
                  </a:lnTo>
                  <a:lnTo>
                    <a:pt x="210124" y="37012"/>
                  </a:lnTo>
                  <a:lnTo>
                    <a:pt x="202078" y="28476"/>
                  </a:lnTo>
                  <a:lnTo>
                    <a:pt x="196708" y="26342"/>
                  </a:lnTo>
                  <a:lnTo>
                    <a:pt x="235755" y="26342"/>
                  </a:lnTo>
                  <a:lnTo>
                    <a:pt x="237449" y="29874"/>
                  </a:lnTo>
                  <a:lnTo>
                    <a:pt x="239450" y="36116"/>
                  </a:lnTo>
                  <a:lnTo>
                    <a:pt x="240650" y="42757"/>
                  </a:lnTo>
                  <a:lnTo>
                    <a:pt x="241050" y="49799"/>
                  </a:lnTo>
                  <a:lnTo>
                    <a:pt x="240479" y="58185"/>
                  </a:lnTo>
                  <a:lnTo>
                    <a:pt x="238767" y="65974"/>
                  </a:lnTo>
                  <a:lnTo>
                    <a:pt x="235914" y="73167"/>
                  </a:lnTo>
                  <a:lnTo>
                    <a:pt x="235829" y="73308"/>
                  </a:lnTo>
                  <a:close/>
                </a:path>
                <a:path w="495935" h="168275">
                  <a:moveTo>
                    <a:pt x="245825" y="166032"/>
                  </a:moveTo>
                  <a:lnTo>
                    <a:pt x="213080" y="166032"/>
                  </a:lnTo>
                  <a:lnTo>
                    <a:pt x="183012" y="99388"/>
                  </a:lnTo>
                  <a:lnTo>
                    <a:pt x="213967" y="99388"/>
                  </a:lnTo>
                  <a:lnTo>
                    <a:pt x="245825" y="166032"/>
                  </a:lnTo>
                  <a:close/>
                </a:path>
                <a:path w="495935" h="168275">
                  <a:moveTo>
                    <a:pt x="315071" y="168183"/>
                  </a:moveTo>
                  <a:lnTo>
                    <a:pt x="278443" y="154959"/>
                  </a:lnTo>
                  <a:lnTo>
                    <a:pt x="265482" y="118594"/>
                  </a:lnTo>
                  <a:lnTo>
                    <a:pt x="265482" y="209"/>
                  </a:lnTo>
                  <a:lnTo>
                    <a:pt x="293713" y="209"/>
                  </a:lnTo>
                  <a:lnTo>
                    <a:pt x="293713" y="126220"/>
                  </a:lnTo>
                  <a:lnTo>
                    <a:pt x="295480" y="132045"/>
                  </a:lnTo>
                  <a:lnTo>
                    <a:pt x="299013" y="136068"/>
                  </a:lnTo>
                  <a:lnTo>
                    <a:pt x="302582" y="140056"/>
                  </a:lnTo>
                  <a:lnTo>
                    <a:pt x="307934" y="142050"/>
                  </a:lnTo>
                  <a:lnTo>
                    <a:pt x="360071" y="142050"/>
                  </a:lnTo>
                  <a:lnTo>
                    <a:pt x="357399" y="147659"/>
                  </a:lnTo>
                  <a:lnTo>
                    <a:pt x="351751" y="154907"/>
                  </a:lnTo>
                  <a:lnTo>
                    <a:pt x="344638" y="160715"/>
                  </a:lnTo>
                  <a:lnTo>
                    <a:pt x="336101" y="164877"/>
                  </a:lnTo>
                  <a:lnTo>
                    <a:pt x="326253" y="167357"/>
                  </a:lnTo>
                  <a:lnTo>
                    <a:pt x="315071" y="168183"/>
                  </a:lnTo>
                  <a:close/>
                </a:path>
                <a:path w="495935" h="168275">
                  <a:moveTo>
                    <a:pt x="360071" y="142050"/>
                  </a:moveTo>
                  <a:lnTo>
                    <a:pt x="322173" y="142050"/>
                  </a:lnTo>
                  <a:lnTo>
                    <a:pt x="327490" y="140056"/>
                  </a:lnTo>
                  <a:lnTo>
                    <a:pt x="334592" y="132045"/>
                  </a:lnTo>
                  <a:lnTo>
                    <a:pt x="336376" y="126220"/>
                  </a:lnTo>
                  <a:lnTo>
                    <a:pt x="336376" y="209"/>
                  </a:lnTo>
                  <a:lnTo>
                    <a:pt x="364660" y="209"/>
                  </a:lnTo>
                  <a:lnTo>
                    <a:pt x="364660" y="118594"/>
                  </a:lnTo>
                  <a:lnTo>
                    <a:pt x="363848" y="129525"/>
                  </a:lnTo>
                  <a:lnTo>
                    <a:pt x="361414" y="139230"/>
                  </a:lnTo>
                  <a:lnTo>
                    <a:pt x="360071" y="142050"/>
                  </a:lnTo>
                  <a:close/>
                </a:path>
                <a:path w="495935" h="168275">
                  <a:moveTo>
                    <a:pt x="495774" y="166032"/>
                  </a:moveTo>
                  <a:lnTo>
                    <a:pt x="396596" y="166032"/>
                  </a:lnTo>
                  <a:lnTo>
                    <a:pt x="396596" y="209"/>
                  </a:lnTo>
                  <a:lnTo>
                    <a:pt x="495774" y="209"/>
                  </a:lnTo>
                  <a:lnTo>
                    <a:pt x="495774" y="26552"/>
                  </a:lnTo>
                  <a:lnTo>
                    <a:pt x="424618" y="26552"/>
                  </a:lnTo>
                  <a:lnTo>
                    <a:pt x="424618" y="66381"/>
                  </a:lnTo>
                  <a:lnTo>
                    <a:pt x="488270" y="66381"/>
                  </a:lnTo>
                  <a:lnTo>
                    <a:pt x="488270" y="92723"/>
                  </a:lnTo>
                  <a:lnTo>
                    <a:pt x="424618" y="92723"/>
                  </a:lnTo>
                  <a:lnTo>
                    <a:pt x="424618" y="139689"/>
                  </a:lnTo>
                  <a:lnTo>
                    <a:pt x="495774" y="139689"/>
                  </a:lnTo>
                  <a:lnTo>
                    <a:pt x="495774" y="166032"/>
                  </a:lnTo>
                  <a:close/>
                </a:path>
              </a:pathLst>
            </a:custGeom>
            <a:solidFill>
              <a:srgbClr val="BE2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6"/>
          <p:cNvSpPr txBox="1"/>
          <p:nvPr/>
        </p:nvSpPr>
        <p:spPr>
          <a:xfrm>
            <a:off x="314021" y="1527903"/>
            <a:ext cx="5957570" cy="1061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 marR="650240" indent="-258445">
              <a:lnSpc>
                <a:spcPct val="142200"/>
              </a:lnSpc>
              <a:spcBef>
                <a:spcPts val="100"/>
              </a:spcBef>
            </a:pPr>
            <a:r>
              <a:rPr sz="1200" spc="-10" dirty="0">
                <a:solidFill>
                  <a:srgbClr val="04182D"/>
                </a:solidFill>
                <a:latin typeface="Courier New"/>
                <a:cs typeface="Courier New"/>
              </a:rPr>
              <a:t>autoplot(uschange[,</a:t>
            </a:r>
            <a:r>
              <a:rPr sz="1200" spc="-1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1200" spc="-10" dirty="0">
                <a:solidFill>
                  <a:srgbClr val="04182D"/>
                </a:solidFill>
                <a:latin typeface="Courier New"/>
                <a:cs typeface="Courier New"/>
              </a:rPr>
              <a:t>:</a:t>
            </a:r>
            <a:r>
              <a:rPr sz="1200" spc="-10" dirty="0">
                <a:solidFill>
                  <a:srgbClr val="BE2F72"/>
                </a:solidFill>
                <a:latin typeface="Courier New"/>
                <a:cs typeface="Courier New"/>
              </a:rPr>
              <a:t>2</a:t>
            </a:r>
            <a:r>
              <a:rPr sz="1200" spc="-10" dirty="0">
                <a:solidFill>
                  <a:srgbClr val="04182D"/>
                </a:solidFill>
                <a:latin typeface="Courier New"/>
                <a:cs typeface="Courier New"/>
              </a:rPr>
              <a:t>],</a:t>
            </a:r>
            <a:r>
              <a:rPr sz="120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4182D"/>
                </a:solidFill>
                <a:latin typeface="Courier New"/>
                <a:cs typeface="Courier New"/>
              </a:rPr>
              <a:t>facets</a:t>
            </a:r>
            <a:r>
              <a:rPr sz="12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200" spc="-10" dirty="0">
                <a:latin typeface="Courier New"/>
                <a:cs typeface="Courier New"/>
              </a:rPr>
              <a:t>TRUE</a:t>
            </a:r>
            <a:r>
              <a:rPr sz="120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r>
              <a:rPr sz="12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4182D"/>
                </a:solidFill>
                <a:latin typeface="Courier New"/>
                <a:cs typeface="Courier New"/>
              </a:rPr>
              <a:t>+ </a:t>
            </a:r>
            <a:r>
              <a:rPr sz="1200" spc="-100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4182D"/>
                </a:solidFill>
                <a:latin typeface="Courier New"/>
                <a:cs typeface="Courier New"/>
              </a:rPr>
              <a:t>xlab(</a:t>
            </a:r>
            <a:r>
              <a:rPr sz="1200" spc="-10" dirty="0">
                <a:solidFill>
                  <a:srgbClr val="BE2F72"/>
                </a:solidFill>
                <a:latin typeface="Courier New"/>
                <a:cs typeface="Courier New"/>
              </a:rPr>
              <a:t>"Year"</a:t>
            </a:r>
            <a:r>
              <a:rPr sz="1200" spc="-10" dirty="0">
                <a:solidFill>
                  <a:srgbClr val="04182D"/>
                </a:solidFill>
                <a:latin typeface="Courier New"/>
                <a:cs typeface="Courier New"/>
              </a:rPr>
              <a:t>) </a:t>
            </a:r>
            <a:r>
              <a:rPr sz="1200" spc="-5" dirty="0">
                <a:solidFill>
                  <a:srgbClr val="04182D"/>
                </a:solidFill>
                <a:latin typeface="Courier New"/>
                <a:cs typeface="Courier New"/>
              </a:rPr>
              <a:t>+ </a:t>
            </a:r>
            <a:r>
              <a:rPr sz="1200" spc="-10" dirty="0">
                <a:solidFill>
                  <a:srgbClr val="04182D"/>
                </a:solidFill>
                <a:latin typeface="Courier New"/>
                <a:cs typeface="Courier New"/>
              </a:rPr>
              <a:t>ylab(</a:t>
            </a:r>
            <a:r>
              <a:rPr sz="1200" spc="-10" dirty="0">
                <a:solidFill>
                  <a:srgbClr val="BE2F72"/>
                </a:solidFill>
                <a:latin typeface="Courier New"/>
                <a:cs typeface="Courier New"/>
              </a:rPr>
              <a:t>""</a:t>
            </a:r>
            <a:r>
              <a:rPr sz="120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r>
              <a:rPr sz="1200" spc="-5" dirty="0">
                <a:solidFill>
                  <a:srgbClr val="04182D"/>
                </a:solidFill>
                <a:latin typeface="Courier New"/>
                <a:cs typeface="Courier New"/>
              </a:rPr>
              <a:t> +</a:t>
            </a:r>
            <a:endParaRPr sz="1200" dirty="0">
              <a:latin typeface="Courier New"/>
              <a:cs typeface="Courier New"/>
            </a:endParaRPr>
          </a:p>
          <a:p>
            <a:pPr marL="1301750" marR="5080" indent="-1031875">
              <a:lnSpc>
                <a:spcPct val="142200"/>
              </a:lnSpc>
            </a:pPr>
            <a:r>
              <a:rPr sz="1200" spc="-5" dirty="0">
                <a:solidFill>
                  <a:srgbClr val="04182D"/>
                </a:solidFill>
                <a:latin typeface="Courier New"/>
                <a:cs typeface="Courier New"/>
              </a:rPr>
              <a:t>ggtitle(</a:t>
            </a:r>
            <a:r>
              <a:rPr sz="1200" spc="-5" dirty="0">
                <a:solidFill>
                  <a:srgbClr val="BE2F72"/>
                </a:solidFill>
                <a:latin typeface="Courier New"/>
                <a:cs typeface="Courier New"/>
              </a:rPr>
              <a:t>"Quarterly</a:t>
            </a:r>
            <a:r>
              <a:rPr sz="1200" spc="-3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BE2F72"/>
                </a:solidFill>
                <a:latin typeface="Courier New"/>
                <a:cs typeface="Courier New"/>
              </a:rPr>
              <a:t>changes</a:t>
            </a:r>
            <a:r>
              <a:rPr sz="1200" spc="-3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BE2F72"/>
                </a:solidFill>
                <a:latin typeface="Courier New"/>
                <a:cs typeface="Courier New"/>
              </a:rPr>
              <a:t>in</a:t>
            </a:r>
            <a:r>
              <a:rPr sz="1200" spc="-2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BE2F72"/>
                </a:solidFill>
                <a:latin typeface="Courier New"/>
                <a:cs typeface="Courier New"/>
              </a:rPr>
              <a:t>US</a:t>
            </a:r>
            <a:r>
              <a:rPr sz="1200" spc="-3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BE2F72"/>
                </a:solidFill>
                <a:latin typeface="Courier New"/>
                <a:cs typeface="Courier New"/>
              </a:rPr>
              <a:t>consumption </a:t>
            </a:r>
            <a:r>
              <a:rPr sz="1200" spc="-100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BE2F72"/>
                </a:solidFill>
                <a:latin typeface="Courier New"/>
                <a:cs typeface="Courier New"/>
              </a:rPr>
              <a:t>and</a:t>
            </a:r>
            <a:r>
              <a:rPr sz="1200" spc="-1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BE2F72"/>
                </a:solidFill>
                <a:latin typeface="Courier New"/>
                <a:cs typeface="Courier New"/>
              </a:rPr>
              <a:t>personal</a:t>
            </a:r>
            <a:r>
              <a:rPr sz="1200" spc="-10" dirty="0">
                <a:solidFill>
                  <a:srgbClr val="BE2F72"/>
                </a:solidFill>
                <a:latin typeface="Courier New"/>
                <a:cs typeface="Courier New"/>
              </a:rPr>
              <a:t> income"</a:t>
            </a:r>
            <a:r>
              <a:rPr sz="1200" spc="-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2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45095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object 2"/>
          <p:cNvSpPr txBox="1">
            <a:spLocks noGrp="1"/>
          </p:cNvSpPr>
          <p:nvPr>
            <p:ph type="title"/>
          </p:nvPr>
        </p:nvSpPr>
        <p:spPr>
          <a:xfrm>
            <a:off x="152400" y="1063705"/>
            <a:ext cx="1000442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US PERSONAL CONS</a:t>
            </a:r>
            <a:r>
              <a:rPr lang="en-US" dirty="0" smtClean="0">
                <a:latin typeface="Lucida Sans Unicode"/>
                <a:cs typeface="Lucida Sans Unicode"/>
              </a:rPr>
              <a:t>U</a:t>
            </a:r>
            <a:r>
              <a:rPr lang="en-US" dirty="0" smtClean="0"/>
              <a:t>MPTION AND INCOME</a:t>
            </a:r>
            <a:endParaRPr lang="en-US" dirty="0"/>
          </a:p>
        </p:txBody>
      </p:sp>
      <p:pic>
        <p:nvPicPr>
          <p:cNvPr id="10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986" y="2721685"/>
            <a:ext cx="6896065" cy="2122953"/>
          </a:xfrm>
          <a:prstGeom prst="rect">
            <a:avLst/>
          </a:prstGeom>
        </p:spPr>
      </p:pic>
      <p:sp>
        <p:nvSpPr>
          <p:cNvPr id="14" name="object 3"/>
          <p:cNvSpPr/>
          <p:nvPr/>
        </p:nvSpPr>
        <p:spPr>
          <a:xfrm>
            <a:off x="261729" y="1433175"/>
            <a:ext cx="6914321" cy="1193782"/>
          </a:xfrm>
          <a:custGeom>
            <a:avLst/>
            <a:gdLst/>
            <a:ahLst/>
            <a:cxnLst/>
            <a:rect l="l" t="t" r="r" b="b"/>
            <a:pathLst>
              <a:path w="9887585" h="1863089">
                <a:moveTo>
                  <a:pt x="9810694" y="1862805"/>
                </a:moveTo>
                <a:lnTo>
                  <a:pt x="76505" y="1862805"/>
                </a:lnTo>
                <a:lnTo>
                  <a:pt x="71180" y="1862280"/>
                </a:lnTo>
                <a:lnTo>
                  <a:pt x="31920" y="1846018"/>
                </a:lnTo>
                <a:lnTo>
                  <a:pt x="4175" y="1807291"/>
                </a:lnTo>
                <a:lnTo>
                  <a:pt x="0" y="1786300"/>
                </a:lnTo>
                <a:lnTo>
                  <a:pt x="0" y="178092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786300"/>
                </a:lnTo>
                <a:lnTo>
                  <a:pt x="9870412" y="1830885"/>
                </a:lnTo>
                <a:lnTo>
                  <a:pt x="9831684" y="1858629"/>
                </a:lnTo>
                <a:lnTo>
                  <a:pt x="9816018" y="1862280"/>
                </a:lnTo>
                <a:lnTo>
                  <a:pt x="9810694" y="186280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4"/>
          <p:cNvSpPr txBox="1"/>
          <p:nvPr/>
        </p:nvSpPr>
        <p:spPr>
          <a:xfrm>
            <a:off x="279986" y="1361654"/>
            <a:ext cx="6042025" cy="131266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36040" marR="726440" indent="-1323975">
              <a:lnSpc>
                <a:spcPct val="138700"/>
              </a:lnSpc>
              <a:spcBef>
                <a:spcPts val="90"/>
              </a:spcBef>
            </a:pP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ggplot(aes(x</a:t>
            </a:r>
            <a:r>
              <a:rPr sz="1200" spc="7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15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200" spc="7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Income,</a:t>
            </a:r>
            <a:r>
              <a:rPr sz="1200" spc="7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15" dirty="0">
                <a:solidFill>
                  <a:srgbClr val="04182D"/>
                </a:solidFill>
                <a:latin typeface="Courier New"/>
                <a:cs typeface="Courier New"/>
              </a:rPr>
              <a:t>y</a:t>
            </a:r>
            <a:r>
              <a:rPr sz="1200" spc="7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15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200" spc="7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Consumption), </a:t>
            </a:r>
            <a:r>
              <a:rPr sz="1200" spc="1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data </a:t>
            </a:r>
            <a:r>
              <a:rPr sz="1200" spc="15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 as.data.frame(uschange)) </a:t>
            </a:r>
            <a:r>
              <a:rPr sz="1200" spc="15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endParaRPr sz="1200" dirty="0">
              <a:latin typeface="Courier New"/>
              <a:cs typeface="Courier New"/>
            </a:endParaRPr>
          </a:p>
          <a:p>
            <a:pPr marL="252729">
              <a:lnSpc>
                <a:spcPct val="100000"/>
              </a:lnSpc>
              <a:spcBef>
                <a:spcPts val="720"/>
              </a:spcBef>
            </a:pP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geom_point()</a:t>
            </a:r>
            <a:r>
              <a:rPr sz="1200" spc="-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15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endParaRPr sz="1200" dirty="0">
              <a:latin typeface="Courier New"/>
              <a:cs typeface="Courier New"/>
            </a:endParaRPr>
          </a:p>
          <a:p>
            <a:pPr marL="1215390" marR="5080" indent="-962660">
              <a:lnSpc>
                <a:spcPct val="138700"/>
              </a:lnSpc>
            </a:pP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ggtitle(</a:t>
            </a:r>
            <a:r>
              <a:rPr sz="1200" spc="10" dirty="0">
                <a:solidFill>
                  <a:srgbClr val="BE2F72"/>
                </a:solidFill>
                <a:latin typeface="Courier New"/>
                <a:cs typeface="Courier New"/>
              </a:rPr>
              <a:t>"Quarterly</a:t>
            </a:r>
            <a:r>
              <a:rPr sz="1200" spc="1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10" dirty="0">
                <a:solidFill>
                  <a:srgbClr val="BE2F72"/>
                </a:solidFill>
                <a:latin typeface="Courier New"/>
                <a:cs typeface="Courier New"/>
              </a:rPr>
              <a:t>changes</a:t>
            </a:r>
            <a:r>
              <a:rPr sz="1200" spc="2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15" dirty="0">
                <a:solidFill>
                  <a:srgbClr val="BE2F72"/>
                </a:solidFill>
                <a:latin typeface="Courier New"/>
                <a:cs typeface="Courier New"/>
              </a:rPr>
              <a:t>in</a:t>
            </a:r>
            <a:r>
              <a:rPr sz="1200" spc="2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15" dirty="0">
                <a:solidFill>
                  <a:srgbClr val="BE2F72"/>
                </a:solidFill>
                <a:latin typeface="Courier New"/>
                <a:cs typeface="Courier New"/>
              </a:rPr>
              <a:t>US</a:t>
            </a:r>
            <a:r>
              <a:rPr sz="1200" spc="2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10" dirty="0">
                <a:solidFill>
                  <a:srgbClr val="BE2F72"/>
                </a:solidFill>
                <a:latin typeface="Courier New"/>
                <a:cs typeface="Courier New"/>
              </a:rPr>
              <a:t>consumption</a:t>
            </a:r>
            <a:r>
              <a:rPr sz="1200" spc="20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10" dirty="0">
                <a:solidFill>
                  <a:srgbClr val="BE2F72"/>
                </a:solidFill>
                <a:latin typeface="Courier New"/>
                <a:cs typeface="Courier New"/>
              </a:rPr>
              <a:t>and </a:t>
            </a:r>
            <a:r>
              <a:rPr sz="1200" spc="-91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200" spc="10" dirty="0">
                <a:solidFill>
                  <a:srgbClr val="BE2F72"/>
                </a:solidFill>
                <a:latin typeface="Courier New"/>
                <a:cs typeface="Courier New"/>
              </a:rPr>
              <a:t>personal income"</a:t>
            </a: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2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83985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4" name="object 3"/>
          <p:cNvSpPr/>
          <p:nvPr/>
        </p:nvSpPr>
        <p:spPr>
          <a:xfrm>
            <a:off x="340418" y="1503470"/>
            <a:ext cx="6673327" cy="950429"/>
          </a:xfrm>
          <a:custGeom>
            <a:avLst/>
            <a:gdLst/>
            <a:ahLst/>
            <a:cxnLst/>
            <a:rect l="l" t="t" r="r" b="b"/>
            <a:pathLst>
              <a:path w="9887585" h="1863089">
                <a:moveTo>
                  <a:pt x="9810694" y="1862805"/>
                </a:moveTo>
                <a:lnTo>
                  <a:pt x="76505" y="1862805"/>
                </a:lnTo>
                <a:lnTo>
                  <a:pt x="71180" y="1862280"/>
                </a:lnTo>
                <a:lnTo>
                  <a:pt x="31920" y="1846018"/>
                </a:lnTo>
                <a:lnTo>
                  <a:pt x="4175" y="1807291"/>
                </a:lnTo>
                <a:lnTo>
                  <a:pt x="0" y="1786300"/>
                </a:lnTo>
                <a:lnTo>
                  <a:pt x="0" y="178092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786300"/>
                </a:lnTo>
                <a:lnTo>
                  <a:pt x="9870412" y="1830885"/>
                </a:lnTo>
                <a:lnTo>
                  <a:pt x="9831684" y="1858629"/>
                </a:lnTo>
                <a:lnTo>
                  <a:pt x="9816018" y="1862280"/>
                </a:lnTo>
                <a:lnTo>
                  <a:pt x="9810694" y="186280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2"/>
          <p:cNvSpPr txBox="1">
            <a:spLocks/>
          </p:cNvSpPr>
          <p:nvPr/>
        </p:nvSpPr>
        <p:spPr>
          <a:xfrm>
            <a:off x="261729" y="803668"/>
            <a:ext cx="11261090" cy="714939"/>
          </a:xfrm>
          <a:prstGeom prst="rect">
            <a:avLst/>
          </a:prstGeom>
        </p:spPr>
        <p:txBody>
          <a:bodyPr vert="horz" wrap="square" lIns="0" tIns="34925" rIns="0" bIns="0" rtlCol="0" anchor="b" anchorCtr="0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i="0" kern="1200">
                <a:solidFill>
                  <a:srgbClr val="BA0C2F"/>
                </a:solidFill>
                <a:latin typeface="Gill Sans MT"/>
                <a:ea typeface="+mj-ea"/>
                <a:cs typeface="Gill Sans MT"/>
              </a:defRPr>
            </a:lvl1pPr>
          </a:lstStyle>
          <a:p>
            <a:pPr marL="12700" marR="5080">
              <a:lnSpc>
                <a:spcPts val="5320"/>
              </a:lnSpc>
              <a:spcBef>
                <a:spcPts val="275"/>
              </a:spcBef>
            </a:pPr>
            <a:r>
              <a:rPr lang="en-US" sz="2000" dirty="0" smtClean="0"/>
              <a:t>D</a:t>
            </a:r>
            <a:r>
              <a:rPr lang="en-US" sz="2000" dirty="0" smtClean="0">
                <a:latin typeface="Lucida Sans Unicode"/>
                <a:cs typeface="Lucida Sans Unicode"/>
              </a:rPr>
              <a:t>Y</a:t>
            </a:r>
            <a:r>
              <a:rPr lang="en-US" sz="2000" dirty="0" smtClean="0"/>
              <a:t>NAMIC REGRESSION MODEL FOR US PERSONAL  CONS</a:t>
            </a:r>
            <a:r>
              <a:rPr lang="en-US" sz="2000" dirty="0" smtClean="0">
                <a:latin typeface="Lucida Sans Unicode"/>
                <a:cs typeface="Lucida Sans Unicode"/>
              </a:rPr>
              <a:t>U</a:t>
            </a:r>
            <a:r>
              <a:rPr lang="en-US" sz="2000" dirty="0" smtClean="0"/>
              <a:t>MPTION</a:t>
            </a:r>
            <a:endParaRPr lang="en-US" sz="2000" dirty="0"/>
          </a:p>
        </p:txBody>
      </p:sp>
      <p:sp>
        <p:nvSpPr>
          <p:cNvPr id="11" name="object 5"/>
          <p:cNvSpPr txBox="1"/>
          <p:nvPr/>
        </p:nvSpPr>
        <p:spPr>
          <a:xfrm>
            <a:off x="572566" y="1504448"/>
            <a:ext cx="6209030" cy="866904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1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4182D"/>
                </a:solidFill>
                <a:latin typeface="Courier New"/>
                <a:cs typeface="Courier New"/>
              </a:rPr>
              <a:t>&lt;-</a:t>
            </a:r>
            <a:r>
              <a:rPr sz="11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auto.arima(uschange[,</a:t>
            </a:r>
            <a:r>
              <a:rPr sz="1100" spc="-5" dirty="0">
                <a:solidFill>
                  <a:srgbClr val="BE2F72"/>
                </a:solidFill>
                <a:latin typeface="Courier New"/>
                <a:cs typeface="Courier New"/>
              </a:rPr>
              <a:t>"Consumption"</a:t>
            </a: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],</a:t>
            </a:r>
            <a:endParaRPr sz="1100" dirty="0">
              <a:latin typeface="Courier New"/>
              <a:cs typeface="Courier New"/>
            </a:endParaRPr>
          </a:p>
          <a:p>
            <a:pPr marL="2486025">
              <a:lnSpc>
                <a:spcPct val="100000"/>
              </a:lnSpc>
              <a:spcBef>
                <a:spcPts val="900"/>
              </a:spcBef>
            </a:pP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xreg</a:t>
            </a:r>
            <a:r>
              <a:rPr sz="11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 uschange[,</a:t>
            </a:r>
            <a:r>
              <a:rPr sz="1100" spc="-5" dirty="0">
                <a:solidFill>
                  <a:srgbClr val="BE2F72"/>
                </a:solidFill>
                <a:latin typeface="Courier New"/>
                <a:cs typeface="Courier New"/>
              </a:rPr>
              <a:t>"Income"</a:t>
            </a: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])</a:t>
            </a:r>
            <a:endParaRPr sz="11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endParaRPr sz="1100" dirty="0">
              <a:latin typeface="Courier New"/>
              <a:cs typeface="Courier New"/>
            </a:endParaRPr>
          </a:p>
        </p:txBody>
      </p:sp>
      <p:sp>
        <p:nvSpPr>
          <p:cNvPr id="25" name="object 4"/>
          <p:cNvSpPr/>
          <p:nvPr/>
        </p:nvSpPr>
        <p:spPr>
          <a:xfrm>
            <a:off x="222300" y="2537717"/>
            <a:ext cx="6322337" cy="2306922"/>
          </a:xfrm>
          <a:custGeom>
            <a:avLst/>
            <a:gdLst/>
            <a:ahLst/>
            <a:cxnLst/>
            <a:rect l="l" t="t" r="r" b="b"/>
            <a:pathLst>
              <a:path w="9887585" h="3378200">
                <a:moveTo>
                  <a:pt x="9810694" y="3377614"/>
                </a:moveTo>
                <a:lnTo>
                  <a:pt x="76505" y="3377614"/>
                </a:lnTo>
                <a:lnTo>
                  <a:pt x="71180" y="3377090"/>
                </a:lnTo>
                <a:lnTo>
                  <a:pt x="31920" y="3360827"/>
                </a:lnTo>
                <a:lnTo>
                  <a:pt x="4175" y="3322100"/>
                </a:lnTo>
                <a:lnTo>
                  <a:pt x="0" y="3301109"/>
                </a:lnTo>
                <a:lnTo>
                  <a:pt x="0" y="329573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3301109"/>
                </a:lnTo>
                <a:lnTo>
                  <a:pt x="9870412" y="3345693"/>
                </a:lnTo>
                <a:lnTo>
                  <a:pt x="9831684" y="3373438"/>
                </a:lnTo>
                <a:lnTo>
                  <a:pt x="9816018" y="3377090"/>
                </a:lnTo>
                <a:lnTo>
                  <a:pt x="9810694" y="337761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6" name="object 6"/>
          <p:cNvSpPr txBox="1"/>
          <p:nvPr/>
        </p:nvSpPr>
        <p:spPr>
          <a:xfrm>
            <a:off x="340418" y="2673035"/>
            <a:ext cx="4823875" cy="6772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Series:</a:t>
            </a:r>
            <a:r>
              <a:rPr sz="10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uschange[,</a:t>
            </a:r>
            <a:r>
              <a:rPr sz="10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"Consumption"] </a:t>
            </a:r>
            <a:r>
              <a:rPr sz="10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endParaRPr lang="en-US" sz="1000" dirty="0" smtClean="0">
              <a:solidFill>
                <a:srgbClr val="FFFFFF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000" spc="-5" dirty="0" smtClean="0">
                <a:solidFill>
                  <a:srgbClr val="FFFFFF"/>
                </a:solidFill>
                <a:latin typeface="Courier New"/>
                <a:cs typeface="Courier New"/>
              </a:rPr>
              <a:t>Regression</a:t>
            </a:r>
            <a:r>
              <a:rPr sz="1000" spc="5" dirty="0" smtClean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with</a:t>
            </a:r>
            <a:r>
              <a:rPr sz="100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ARIMA(1,0,2)</a:t>
            </a:r>
            <a:r>
              <a:rPr sz="1000" spc="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errors </a:t>
            </a:r>
            <a:endParaRPr lang="en-US" sz="1000" spc="-5" dirty="0" smtClean="0">
              <a:solidFill>
                <a:srgbClr val="FFFFFF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000" spc="-1065" dirty="0" smtClean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Coefficients: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27" name="object 7"/>
          <p:cNvSpPr txBox="1"/>
          <p:nvPr/>
        </p:nvSpPr>
        <p:spPr>
          <a:xfrm>
            <a:off x="340419" y="3928884"/>
            <a:ext cx="57400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s.e</a:t>
            </a:r>
            <a:r>
              <a:rPr sz="1000" dirty="0">
                <a:solidFill>
                  <a:srgbClr val="FFFFFF"/>
                </a:solidFill>
                <a:latin typeface="Courier New"/>
                <a:cs typeface="Courier New"/>
              </a:rPr>
              <a:t>.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28" name="object 8"/>
          <p:cNvSpPr txBox="1"/>
          <p:nvPr/>
        </p:nvSpPr>
        <p:spPr>
          <a:xfrm>
            <a:off x="914418" y="3363990"/>
            <a:ext cx="2082490" cy="718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12115">
              <a:lnSpc>
                <a:spcPct val="141800"/>
              </a:lnSpc>
              <a:spcBef>
                <a:spcPts val="95"/>
              </a:spcBef>
              <a:tabLst>
                <a:tab pos="1111885" algn="l"/>
                <a:tab pos="1661160" algn="l"/>
              </a:tabLst>
            </a:pP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ar</a:t>
            </a:r>
            <a:r>
              <a:rPr sz="1000" dirty="0">
                <a:solidFill>
                  <a:srgbClr val="FFFFFF"/>
                </a:solidFill>
                <a:latin typeface="Courier New"/>
                <a:cs typeface="Courier New"/>
              </a:rPr>
              <a:t>1		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ma</a:t>
            </a:r>
            <a:r>
              <a:rPr sz="1000" dirty="0">
                <a:solidFill>
                  <a:srgbClr val="FFFFFF"/>
                </a:solidFill>
                <a:latin typeface="Courier New"/>
                <a:cs typeface="Courier New"/>
              </a:rPr>
              <a:t>1  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0.619</a:t>
            </a:r>
            <a:r>
              <a:rPr sz="1000" dirty="0">
                <a:solidFill>
                  <a:srgbClr val="FFFFFF"/>
                </a:solidFill>
                <a:latin typeface="Courier New"/>
                <a:cs typeface="Courier New"/>
              </a:rPr>
              <a:t>1	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-0.542</a:t>
            </a:r>
            <a:r>
              <a:rPr sz="1000" dirty="0">
                <a:solidFill>
                  <a:srgbClr val="FFFFFF"/>
                </a:solidFill>
                <a:latin typeface="Courier New"/>
                <a:cs typeface="Courier New"/>
              </a:rPr>
              <a:t>4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  <a:tabLst>
                <a:tab pos="1249045" algn="l"/>
              </a:tabLst>
            </a:pP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0.1422	0.1475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29" name="object 9"/>
          <p:cNvSpPr txBox="1"/>
          <p:nvPr/>
        </p:nvSpPr>
        <p:spPr>
          <a:xfrm>
            <a:off x="3054065" y="3377708"/>
            <a:ext cx="848328" cy="718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12115">
              <a:lnSpc>
                <a:spcPct val="1418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ma</a:t>
            </a:r>
            <a:r>
              <a:rPr sz="1000" dirty="0">
                <a:solidFill>
                  <a:srgbClr val="FFFFFF"/>
                </a:solidFill>
                <a:latin typeface="Courier New"/>
                <a:cs typeface="Courier New"/>
              </a:rPr>
              <a:t>2  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0.236</a:t>
            </a:r>
            <a:r>
              <a:rPr sz="1000" dirty="0">
                <a:solidFill>
                  <a:srgbClr val="FFFFFF"/>
                </a:solidFill>
                <a:latin typeface="Courier New"/>
                <a:cs typeface="Courier New"/>
              </a:rPr>
              <a:t>7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0.0685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0" name="object 10"/>
          <p:cNvSpPr txBox="1"/>
          <p:nvPr/>
        </p:nvSpPr>
        <p:spPr>
          <a:xfrm>
            <a:off x="3371073" y="3312886"/>
            <a:ext cx="1259504" cy="820738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0"/>
              </a:spcBef>
            </a:pP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intercept</a:t>
            </a:r>
            <a:endParaRPr sz="1000" dirty="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900"/>
              </a:spcBef>
            </a:pP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0.6099</a:t>
            </a:r>
            <a:endParaRPr sz="1000" dirty="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905"/>
              </a:spcBef>
            </a:pP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0.0777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1" name="object 11"/>
          <p:cNvSpPr txBox="1"/>
          <p:nvPr/>
        </p:nvSpPr>
        <p:spPr>
          <a:xfrm>
            <a:off x="4942064" y="3363990"/>
            <a:ext cx="1122657" cy="718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080" indent="-274955">
              <a:lnSpc>
                <a:spcPct val="141800"/>
              </a:lnSpc>
              <a:spcBef>
                <a:spcPts val="95"/>
              </a:spcBef>
            </a:pP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origxre</a:t>
            </a:r>
            <a:r>
              <a:rPr sz="1000" dirty="0">
                <a:solidFill>
                  <a:srgbClr val="FFFFFF"/>
                </a:solidFill>
                <a:latin typeface="Courier New"/>
                <a:cs typeface="Courier New"/>
              </a:rPr>
              <a:t>g  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0.249</a:t>
            </a:r>
            <a:r>
              <a:rPr sz="1000" dirty="0">
                <a:solidFill>
                  <a:srgbClr val="FFFFFF"/>
                </a:solidFill>
                <a:latin typeface="Courier New"/>
                <a:cs typeface="Courier New"/>
              </a:rPr>
              <a:t>2</a:t>
            </a:r>
            <a:endParaRPr sz="1000" dirty="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905"/>
              </a:spcBef>
            </a:pP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0.0459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2" name="object 12"/>
          <p:cNvSpPr txBox="1"/>
          <p:nvPr/>
        </p:nvSpPr>
        <p:spPr>
          <a:xfrm>
            <a:off x="340419" y="4217207"/>
            <a:ext cx="3727194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sigma^2</a:t>
            </a:r>
            <a:r>
              <a:rPr sz="10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estimated </a:t>
            </a:r>
            <a:r>
              <a:rPr sz="1000" dirty="0">
                <a:solidFill>
                  <a:srgbClr val="FFFFFF"/>
                </a:solidFill>
                <a:latin typeface="Courier New"/>
                <a:cs typeface="Courier New"/>
              </a:rPr>
              <a:t>as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 0.334: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3" name="object 13"/>
          <p:cNvSpPr txBox="1"/>
          <p:nvPr/>
        </p:nvSpPr>
        <p:spPr>
          <a:xfrm>
            <a:off x="2664887" y="4217207"/>
            <a:ext cx="304169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log</a:t>
            </a:r>
            <a:r>
              <a:rPr sz="1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likelihood=-195.22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4" name="object 14"/>
          <p:cNvSpPr txBox="1"/>
          <p:nvPr/>
        </p:nvSpPr>
        <p:spPr>
          <a:xfrm>
            <a:off x="340418" y="4457929"/>
            <a:ext cx="5098205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98320" algn="l"/>
                <a:tab pos="3722370" algn="l"/>
              </a:tabLst>
            </a:pP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AIC=402.44	AICc=402.82	BIC=422.99</a:t>
            </a:r>
            <a:endParaRPr sz="10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37498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283380" y="1097674"/>
            <a:ext cx="109950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 smtClean="0"/>
              <a:t>RESID</a:t>
            </a:r>
            <a:r>
              <a:rPr lang="en-US" sz="1800" dirty="0" smtClean="0">
                <a:latin typeface="Lucida Sans Unicode"/>
                <a:cs typeface="Lucida Sans Unicode"/>
              </a:rPr>
              <a:t>U</a:t>
            </a:r>
            <a:r>
              <a:rPr lang="en-US" sz="1800" dirty="0" smtClean="0"/>
              <a:t>ALS FROM D</a:t>
            </a:r>
            <a:r>
              <a:rPr lang="en-US" sz="1800" dirty="0" smtClean="0">
                <a:latin typeface="Lucida Sans Unicode"/>
                <a:cs typeface="Lucida Sans Unicode"/>
              </a:rPr>
              <a:t>Y</a:t>
            </a:r>
            <a:r>
              <a:rPr lang="en-US" sz="1800" dirty="0" smtClean="0"/>
              <a:t>NAMIC REGRESSION MODEL</a:t>
            </a:r>
            <a:endParaRPr lang="en-US" sz="1800" dirty="0"/>
          </a:p>
        </p:txBody>
      </p:sp>
      <p:sp>
        <p:nvSpPr>
          <p:cNvPr id="12" name="object 3"/>
          <p:cNvSpPr/>
          <p:nvPr/>
        </p:nvSpPr>
        <p:spPr>
          <a:xfrm>
            <a:off x="283380" y="1387497"/>
            <a:ext cx="5837592" cy="312080"/>
          </a:xfrm>
          <a:custGeom>
            <a:avLst/>
            <a:gdLst/>
            <a:ahLst/>
            <a:cxnLst/>
            <a:rect l="l" t="t" r="r" b="b"/>
            <a:pathLst>
              <a:path w="9887585" h="532764">
                <a:moveTo>
                  <a:pt x="9810694" y="532230"/>
                </a:moveTo>
                <a:lnTo>
                  <a:pt x="76505" y="532230"/>
                </a:lnTo>
                <a:lnTo>
                  <a:pt x="71180" y="531705"/>
                </a:lnTo>
                <a:lnTo>
                  <a:pt x="31920" y="515443"/>
                </a:lnTo>
                <a:lnTo>
                  <a:pt x="4175" y="476715"/>
                </a:lnTo>
                <a:lnTo>
                  <a:pt x="0" y="455725"/>
                </a:lnTo>
                <a:lnTo>
                  <a:pt x="0" y="450348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455725"/>
                </a:lnTo>
                <a:lnTo>
                  <a:pt x="9870412" y="500309"/>
                </a:lnTo>
                <a:lnTo>
                  <a:pt x="9831684" y="528054"/>
                </a:lnTo>
                <a:lnTo>
                  <a:pt x="9816018" y="531705"/>
                </a:lnTo>
                <a:lnTo>
                  <a:pt x="9810694" y="532230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5"/>
          <p:cNvSpPr txBox="1"/>
          <p:nvPr/>
        </p:nvSpPr>
        <p:spPr>
          <a:xfrm>
            <a:off x="369021" y="1418760"/>
            <a:ext cx="2148205" cy="2495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50" spc="5" dirty="0">
                <a:solidFill>
                  <a:srgbClr val="04182D"/>
                </a:solidFill>
                <a:latin typeface="Courier New"/>
                <a:cs typeface="Courier New"/>
              </a:rPr>
              <a:t>checkresiduals(fit)</a:t>
            </a:r>
            <a:endParaRPr sz="1450" dirty="0">
              <a:latin typeface="Courier New"/>
              <a:cs typeface="Courier New"/>
            </a:endParaRPr>
          </a:p>
        </p:txBody>
      </p:sp>
      <p:sp>
        <p:nvSpPr>
          <p:cNvPr id="17" name="object 4"/>
          <p:cNvSpPr/>
          <p:nvPr/>
        </p:nvSpPr>
        <p:spPr>
          <a:xfrm>
            <a:off x="283380" y="1730840"/>
            <a:ext cx="5346858" cy="1178657"/>
          </a:xfrm>
          <a:custGeom>
            <a:avLst/>
            <a:gdLst/>
            <a:ahLst/>
            <a:cxnLst/>
            <a:rect l="l" t="t" r="r" b="b"/>
            <a:pathLst>
              <a:path w="9887585" h="1453514">
                <a:moveTo>
                  <a:pt x="9810694" y="1453397"/>
                </a:moveTo>
                <a:lnTo>
                  <a:pt x="76505" y="1453397"/>
                </a:lnTo>
                <a:lnTo>
                  <a:pt x="71180" y="1452873"/>
                </a:lnTo>
                <a:lnTo>
                  <a:pt x="31920" y="1436611"/>
                </a:lnTo>
                <a:lnTo>
                  <a:pt x="4175" y="1397883"/>
                </a:lnTo>
                <a:lnTo>
                  <a:pt x="0" y="1376892"/>
                </a:lnTo>
                <a:lnTo>
                  <a:pt x="0" y="1371516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376892"/>
                </a:lnTo>
                <a:lnTo>
                  <a:pt x="9870412" y="1421477"/>
                </a:lnTo>
                <a:lnTo>
                  <a:pt x="9831684" y="1449222"/>
                </a:lnTo>
                <a:lnTo>
                  <a:pt x="9816018" y="1452873"/>
                </a:lnTo>
                <a:lnTo>
                  <a:pt x="9810694" y="1453397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 sz="1000"/>
          </a:p>
        </p:txBody>
      </p:sp>
      <p:sp>
        <p:nvSpPr>
          <p:cNvPr id="18" name="object 6"/>
          <p:cNvSpPr txBox="1"/>
          <p:nvPr/>
        </p:nvSpPr>
        <p:spPr>
          <a:xfrm>
            <a:off x="376869" y="1796337"/>
            <a:ext cx="4158615" cy="8678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126615" indent="446405">
              <a:lnSpc>
                <a:spcPct val="139000"/>
              </a:lnSpc>
              <a:spcBef>
                <a:spcPts val="95"/>
              </a:spcBef>
              <a:tabLst>
                <a:tab pos="794385" algn="l"/>
              </a:tabLst>
            </a:pPr>
            <a:r>
              <a:rPr sz="1000" spc="5" dirty="0">
                <a:solidFill>
                  <a:srgbClr val="FFFFFF"/>
                </a:solidFill>
                <a:latin typeface="Courier New"/>
                <a:cs typeface="Courier New"/>
              </a:rPr>
              <a:t>Ljung-Box</a:t>
            </a:r>
            <a:r>
              <a:rPr sz="1000" spc="-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5" dirty="0">
                <a:solidFill>
                  <a:srgbClr val="FFFFFF"/>
                </a:solidFill>
                <a:latin typeface="Courier New"/>
                <a:cs typeface="Courier New"/>
              </a:rPr>
              <a:t>test </a:t>
            </a:r>
            <a:endParaRPr lang="en-US" sz="1000" spc="5" dirty="0" smtClean="0">
              <a:solidFill>
                <a:srgbClr val="FFFFFF"/>
              </a:solidFill>
              <a:latin typeface="Courier New"/>
              <a:cs typeface="Courier New"/>
            </a:endParaRPr>
          </a:p>
          <a:p>
            <a:pPr marL="12700" marR="2126615" indent="446405">
              <a:lnSpc>
                <a:spcPct val="139000"/>
              </a:lnSpc>
              <a:spcBef>
                <a:spcPts val="95"/>
              </a:spcBef>
              <a:tabLst>
                <a:tab pos="794385" algn="l"/>
              </a:tabLst>
            </a:pPr>
            <a:r>
              <a:rPr sz="1000" spc="-855" dirty="0" smtClean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5" dirty="0">
                <a:solidFill>
                  <a:srgbClr val="FFFFFF"/>
                </a:solidFill>
                <a:latin typeface="Courier New"/>
                <a:cs typeface="Courier New"/>
              </a:rPr>
              <a:t>data:	residuals</a:t>
            </a:r>
            <a:endParaRPr sz="1000" dirty="0">
              <a:latin typeface="Courier New"/>
              <a:cs typeface="Courier New"/>
            </a:endParaRPr>
          </a:p>
          <a:p>
            <a:pPr marL="12700" marR="5080">
              <a:lnSpc>
                <a:spcPct val="139000"/>
              </a:lnSpc>
              <a:tabLst>
                <a:tab pos="1687830" algn="l"/>
              </a:tabLst>
            </a:pPr>
            <a:r>
              <a:rPr sz="1000" spc="5" dirty="0">
                <a:solidFill>
                  <a:srgbClr val="FFFFFF"/>
                </a:solidFill>
                <a:latin typeface="Courier New"/>
                <a:cs typeface="Courier New"/>
              </a:rPr>
              <a:t>Q* = 5.5543, df = 3, p-value = 0.1354 </a:t>
            </a:r>
            <a:endParaRPr lang="en-US" sz="1000" spc="5" dirty="0" smtClean="0">
              <a:solidFill>
                <a:srgbClr val="FFFFFF"/>
              </a:solidFill>
              <a:latin typeface="Courier New"/>
              <a:cs typeface="Courier New"/>
            </a:endParaRPr>
          </a:p>
          <a:p>
            <a:pPr marL="12700" marR="5080">
              <a:lnSpc>
                <a:spcPct val="139000"/>
              </a:lnSpc>
              <a:tabLst>
                <a:tab pos="1687830" algn="l"/>
              </a:tabLst>
            </a:pPr>
            <a:r>
              <a:rPr sz="1000" spc="-860" dirty="0" smtClean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5" dirty="0">
                <a:solidFill>
                  <a:srgbClr val="FFFFFF"/>
                </a:solidFill>
                <a:latin typeface="Courier New"/>
                <a:cs typeface="Courier New"/>
              </a:rPr>
              <a:t>Model df:</a:t>
            </a:r>
            <a:r>
              <a:rPr sz="10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5" dirty="0">
                <a:solidFill>
                  <a:srgbClr val="FFFFFF"/>
                </a:solidFill>
                <a:latin typeface="Courier New"/>
                <a:cs typeface="Courier New"/>
              </a:rPr>
              <a:t>5.	Total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5" dirty="0">
                <a:solidFill>
                  <a:srgbClr val="FFFFFF"/>
                </a:solidFill>
                <a:latin typeface="Courier New"/>
                <a:cs typeface="Courier New"/>
              </a:rPr>
              <a:t>lags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5" dirty="0">
                <a:solidFill>
                  <a:srgbClr val="FFFFFF"/>
                </a:solidFill>
                <a:latin typeface="Courier New"/>
                <a:cs typeface="Courier New"/>
              </a:rPr>
              <a:t>used:</a:t>
            </a:r>
            <a:r>
              <a:rPr sz="10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000" spc="5" dirty="0">
                <a:solidFill>
                  <a:srgbClr val="FFFFFF"/>
                </a:solidFill>
                <a:latin typeface="Courier New"/>
                <a:cs typeface="Courier New"/>
              </a:rPr>
              <a:t>8</a:t>
            </a:r>
            <a:endParaRPr sz="1000" dirty="0">
              <a:latin typeface="Courier New"/>
              <a:cs typeface="Courier New"/>
            </a:endParaRPr>
          </a:p>
        </p:txBody>
      </p:sp>
      <p:pic>
        <p:nvPicPr>
          <p:cNvPr id="19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07" y="2940760"/>
            <a:ext cx="4855972" cy="193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10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283380" y="1097674"/>
            <a:ext cx="109950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 smtClean="0"/>
              <a:t>FORECASTS FROM D</a:t>
            </a:r>
            <a:r>
              <a:rPr lang="en-US" sz="1800" dirty="0" smtClean="0">
                <a:latin typeface="Lucida Sans Unicode"/>
                <a:cs typeface="Lucida Sans Unicode"/>
              </a:rPr>
              <a:t>Y</a:t>
            </a:r>
            <a:r>
              <a:rPr lang="en-US" sz="1800" dirty="0" smtClean="0"/>
              <a:t>NAMIC REGRESSION MODEL</a:t>
            </a:r>
            <a:endParaRPr lang="en-US" sz="1800" dirty="0"/>
          </a:p>
        </p:txBody>
      </p:sp>
      <p:sp>
        <p:nvSpPr>
          <p:cNvPr id="10" name="object 3"/>
          <p:cNvSpPr/>
          <p:nvPr/>
        </p:nvSpPr>
        <p:spPr>
          <a:xfrm>
            <a:off x="283380" y="1387497"/>
            <a:ext cx="5914399" cy="1103783"/>
          </a:xfrm>
          <a:custGeom>
            <a:avLst/>
            <a:gdLst/>
            <a:ahLst/>
            <a:cxnLst/>
            <a:rect l="l" t="t" r="r" b="b"/>
            <a:pathLst>
              <a:path w="9887585" h="1433195">
                <a:moveTo>
                  <a:pt x="9810694" y="1432927"/>
                </a:moveTo>
                <a:lnTo>
                  <a:pt x="76505" y="1432927"/>
                </a:lnTo>
                <a:lnTo>
                  <a:pt x="71180" y="1432402"/>
                </a:lnTo>
                <a:lnTo>
                  <a:pt x="31920" y="1416140"/>
                </a:lnTo>
                <a:lnTo>
                  <a:pt x="4175" y="1377413"/>
                </a:lnTo>
                <a:lnTo>
                  <a:pt x="0" y="1356422"/>
                </a:lnTo>
                <a:lnTo>
                  <a:pt x="0" y="1351045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356422"/>
                </a:lnTo>
                <a:lnTo>
                  <a:pt x="9870412" y="1401006"/>
                </a:lnTo>
                <a:lnTo>
                  <a:pt x="9831684" y="1428751"/>
                </a:lnTo>
                <a:lnTo>
                  <a:pt x="9816018" y="1432402"/>
                </a:lnTo>
                <a:lnTo>
                  <a:pt x="9810694" y="1432927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 sz="1100"/>
          </a:p>
        </p:txBody>
      </p:sp>
      <p:sp>
        <p:nvSpPr>
          <p:cNvPr id="11" name="object 4"/>
          <p:cNvSpPr txBox="1"/>
          <p:nvPr/>
        </p:nvSpPr>
        <p:spPr>
          <a:xfrm>
            <a:off x="401499" y="1397703"/>
            <a:ext cx="5796280" cy="7776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  <a:tabLst>
                <a:tab pos="5370830" algn="l"/>
              </a:tabLst>
            </a:pP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fcas</a:t>
            </a:r>
            <a:r>
              <a:rPr sz="1100" dirty="0">
                <a:solidFill>
                  <a:srgbClr val="04182D"/>
                </a:solidFill>
                <a:latin typeface="Courier New"/>
                <a:cs typeface="Courier New"/>
              </a:rPr>
              <a:t>t </a:t>
            </a: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&lt;</a:t>
            </a:r>
            <a:r>
              <a:rPr sz="1100" dirty="0">
                <a:solidFill>
                  <a:srgbClr val="04182D"/>
                </a:solidFill>
                <a:latin typeface="Courier New"/>
                <a:cs typeface="Courier New"/>
              </a:rPr>
              <a:t>- </a:t>
            </a: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forecast(fit</a:t>
            </a:r>
            <a:r>
              <a:rPr sz="1100" dirty="0">
                <a:solidFill>
                  <a:srgbClr val="04182D"/>
                </a:solidFill>
                <a:latin typeface="Courier New"/>
                <a:cs typeface="Courier New"/>
              </a:rPr>
              <a:t>, </a:t>
            </a: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xre</a:t>
            </a:r>
            <a:r>
              <a:rPr sz="1100" dirty="0">
                <a:solidFill>
                  <a:srgbClr val="04182D"/>
                </a:solidFill>
                <a:latin typeface="Courier New"/>
                <a:cs typeface="Courier New"/>
              </a:rPr>
              <a:t>g = </a:t>
            </a: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rep(</a:t>
            </a:r>
            <a:r>
              <a:rPr sz="1100" spc="-5" dirty="0">
                <a:solidFill>
                  <a:srgbClr val="BE2F72"/>
                </a:solidFill>
                <a:latin typeface="Courier New"/>
                <a:cs typeface="Courier New"/>
              </a:rPr>
              <a:t>0.8</a:t>
            </a:r>
            <a:r>
              <a:rPr sz="1100" dirty="0">
                <a:solidFill>
                  <a:srgbClr val="04182D"/>
                </a:solidFill>
                <a:latin typeface="Courier New"/>
                <a:cs typeface="Courier New"/>
              </a:rPr>
              <a:t>,	</a:t>
            </a:r>
            <a:r>
              <a:rPr sz="1100" spc="-5" dirty="0">
                <a:solidFill>
                  <a:srgbClr val="BE2F72"/>
                </a:solidFill>
                <a:latin typeface="Courier New"/>
                <a:cs typeface="Courier New"/>
              </a:rPr>
              <a:t>8</a:t>
            </a: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r>
              <a:rPr sz="1100" dirty="0">
                <a:solidFill>
                  <a:srgbClr val="04182D"/>
                </a:solidFill>
                <a:latin typeface="Courier New"/>
                <a:cs typeface="Courier New"/>
              </a:rPr>
              <a:t>)  </a:t>
            </a: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autoplot(fcast) </a:t>
            </a:r>
            <a:r>
              <a:rPr sz="11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endParaRPr sz="1100" dirty="0">
              <a:latin typeface="Courier New"/>
              <a:cs typeface="Courier New"/>
            </a:endParaRPr>
          </a:p>
          <a:p>
            <a:pPr marL="287020">
              <a:lnSpc>
                <a:spcPct val="100000"/>
              </a:lnSpc>
              <a:spcBef>
                <a:spcPts val="905"/>
              </a:spcBef>
            </a:pP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xlab(</a:t>
            </a:r>
            <a:r>
              <a:rPr sz="1100" spc="-5" dirty="0">
                <a:solidFill>
                  <a:srgbClr val="BE2F72"/>
                </a:solidFill>
                <a:latin typeface="Courier New"/>
                <a:cs typeface="Courier New"/>
              </a:rPr>
              <a:t>"Year"</a:t>
            </a: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r>
              <a:rPr sz="11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1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ylab(</a:t>
            </a:r>
            <a:r>
              <a:rPr sz="1100" spc="-5" dirty="0">
                <a:solidFill>
                  <a:srgbClr val="BE2F72"/>
                </a:solidFill>
                <a:latin typeface="Courier New"/>
                <a:cs typeface="Courier New"/>
              </a:rPr>
              <a:t>"Percentage</a:t>
            </a:r>
            <a:r>
              <a:rPr sz="1100" spc="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100" spc="-5" dirty="0">
                <a:solidFill>
                  <a:srgbClr val="BE2F72"/>
                </a:solidFill>
                <a:latin typeface="Courier New"/>
                <a:cs typeface="Courier New"/>
              </a:rPr>
              <a:t>change"</a:t>
            </a:r>
            <a:r>
              <a:rPr sz="11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100" dirty="0">
              <a:latin typeface="Courier New"/>
              <a:cs typeface="Courier New"/>
            </a:endParaRPr>
          </a:p>
        </p:txBody>
      </p:sp>
      <p:pic>
        <p:nvPicPr>
          <p:cNvPr id="14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381" y="2589088"/>
            <a:ext cx="5994129" cy="226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443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object 2"/>
          <p:cNvSpPr txBox="1">
            <a:spLocks noGrp="1"/>
          </p:cNvSpPr>
          <p:nvPr>
            <p:ph idx="1"/>
          </p:nvPr>
        </p:nvSpPr>
        <p:spPr>
          <a:xfrm>
            <a:off x="457200" y="1850510"/>
            <a:ext cx="7772400" cy="1143000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sz="6400" spc="-440" dirty="0"/>
              <a:t>L</a:t>
            </a:r>
            <a:r>
              <a:rPr sz="6400" spc="-365" dirty="0"/>
              <a:t>e</a:t>
            </a:r>
            <a:r>
              <a:rPr sz="6400" spc="-225" dirty="0"/>
              <a:t>t</a:t>
            </a:r>
            <a:r>
              <a:rPr sz="7000" spc="-150" dirty="0">
                <a:latin typeface="Microsoft Sans Serif"/>
                <a:cs typeface="Microsoft Sans Serif"/>
              </a:rPr>
              <a:t>'</a:t>
            </a:r>
            <a:r>
              <a:rPr sz="6400" spc="-360" dirty="0"/>
              <a:t>s</a:t>
            </a:r>
            <a:r>
              <a:rPr sz="6400" spc="-685" dirty="0"/>
              <a:t> </a:t>
            </a:r>
            <a:r>
              <a:rPr sz="6400" spc="-265" dirty="0"/>
              <a:t>p</a:t>
            </a:r>
            <a:r>
              <a:rPr sz="6400" spc="-484" dirty="0"/>
              <a:t>r</a:t>
            </a:r>
            <a:r>
              <a:rPr sz="6400" spc="-55" dirty="0"/>
              <a:t>a</a:t>
            </a:r>
            <a:r>
              <a:rPr sz="6400" spc="160" dirty="0"/>
              <a:t>c</a:t>
            </a:r>
            <a:r>
              <a:rPr sz="6400" spc="-225" dirty="0"/>
              <a:t>t</a:t>
            </a:r>
            <a:r>
              <a:rPr sz="6400" spc="-120" dirty="0"/>
              <a:t>i</a:t>
            </a:r>
            <a:r>
              <a:rPr sz="6400" spc="160" dirty="0"/>
              <a:t>c</a:t>
            </a:r>
            <a:r>
              <a:rPr sz="6400" spc="-300" dirty="0"/>
              <a:t>e</a:t>
            </a:r>
            <a:r>
              <a:rPr sz="7000" spc="-140" dirty="0">
                <a:latin typeface="Microsoft Sans Serif"/>
                <a:cs typeface="Microsoft Sans Serif"/>
              </a:rPr>
              <a:t>!</a:t>
            </a:r>
            <a:endParaRPr sz="7000" dirty="0">
              <a:latin typeface="Microsoft Sans Serif"/>
              <a:cs typeface="Microsoft Sans Serif"/>
            </a:endParaRPr>
          </a:p>
          <a:p>
            <a:pPr marR="53975" algn="ctr">
              <a:lnSpc>
                <a:spcPct val="100000"/>
              </a:lnSpc>
              <a:spcBef>
                <a:spcPts val="865"/>
              </a:spcBef>
              <a:tabLst>
                <a:tab pos="2611755" algn="l"/>
                <a:tab pos="3120390" algn="l"/>
              </a:tabLst>
            </a:pPr>
            <a:r>
              <a:rPr sz="2250" spc="65" dirty="0"/>
              <a:t>F</a:t>
            </a:r>
            <a:r>
              <a:rPr sz="2250" spc="-470" dirty="0"/>
              <a:t> </a:t>
            </a:r>
            <a:r>
              <a:rPr sz="2250" spc="55" dirty="0"/>
              <a:t>O</a:t>
            </a:r>
            <a:r>
              <a:rPr sz="2250" spc="-475" dirty="0"/>
              <a:t> </a:t>
            </a:r>
            <a:r>
              <a:rPr sz="2250" spc="-150" dirty="0"/>
              <a:t>R</a:t>
            </a:r>
            <a:r>
              <a:rPr sz="2250" spc="-465" dirty="0"/>
              <a:t> </a:t>
            </a:r>
            <a:r>
              <a:rPr sz="2250" spc="190" dirty="0"/>
              <a:t>EC</a:t>
            </a:r>
            <a:r>
              <a:rPr sz="2250" spc="-470" dirty="0"/>
              <a:t> </a:t>
            </a:r>
            <a:r>
              <a:rPr sz="2250" spc="95" dirty="0"/>
              <a:t>A</a:t>
            </a:r>
            <a:r>
              <a:rPr sz="2250" spc="-490" dirty="0"/>
              <a:t> </a:t>
            </a:r>
            <a:r>
              <a:rPr sz="2250" spc="-229" dirty="0"/>
              <a:t>S</a:t>
            </a:r>
            <a:r>
              <a:rPr sz="2250" spc="-470" dirty="0"/>
              <a:t> </a:t>
            </a:r>
            <a:r>
              <a:rPr sz="2250" spc="-65" dirty="0"/>
              <a:t>T</a:t>
            </a:r>
            <a:r>
              <a:rPr sz="2250" spc="-465" dirty="0"/>
              <a:t> </a:t>
            </a:r>
            <a:r>
              <a:rPr sz="2250" spc="-295" dirty="0"/>
              <a:t>I</a:t>
            </a:r>
            <a:r>
              <a:rPr sz="2250" spc="-470" dirty="0"/>
              <a:t> </a:t>
            </a:r>
            <a:r>
              <a:rPr sz="2250" spc="35" dirty="0"/>
              <a:t>N</a:t>
            </a:r>
            <a:r>
              <a:rPr sz="2250" spc="-475" dirty="0"/>
              <a:t> </a:t>
            </a:r>
            <a:r>
              <a:rPr sz="2250" spc="5" dirty="0"/>
              <a:t>G	</a:t>
            </a:r>
            <a:r>
              <a:rPr sz="2250" spc="-295" dirty="0"/>
              <a:t>I</a:t>
            </a:r>
            <a:r>
              <a:rPr sz="2250" spc="-465" dirty="0"/>
              <a:t> </a:t>
            </a:r>
            <a:r>
              <a:rPr sz="2250" spc="35" dirty="0"/>
              <a:t>N	</a:t>
            </a:r>
            <a:r>
              <a:rPr sz="2250" spc="-150" dirty="0"/>
              <a:t>R</a:t>
            </a: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2013553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Date Placeholder 1"/>
          <p:cNvSpPr txBox="1">
            <a:spLocks/>
          </p:cNvSpPr>
          <p:nvPr/>
        </p:nvSpPr>
        <p:spPr>
          <a:xfrm>
            <a:off x="101885" y="4695073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600" b="0" i="0" kern="1200">
                <a:solidFill>
                  <a:srgbClr val="FFFFFF"/>
                </a:solidFill>
                <a:latin typeface="Gill Sans MT"/>
                <a:ea typeface="+mn-ea"/>
                <a:cs typeface="Gill Sans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8" name="object 6"/>
          <p:cNvSpPr/>
          <p:nvPr/>
        </p:nvSpPr>
        <p:spPr>
          <a:xfrm>
            <a:off x="226755" y="3935034"/>
            <a:ext cx="4017460" cy="943031"/>
          </a:xfrm>
          <a:custGeom>
            <a:avLst/>
            <a:gdLst/>
            <a:ahLst/>
            <a:cxnLst/>
            <a:rect l="l" t="t" r="r" b="b"/>
            <a:pathLst>
              <a:path w="6141720" h="1699259">
                <a:moveTo>
                  <a:pt x="6064612" y="1699042"/>
                </a:moveTo>
                <a:lnTo>
                  <a:pt x="0" y="1699042"/>
                </a:lnTo>
                <a:lnTo>
                  <a:pt x="0" y="0"/>
                </a:lnTo>
                <a:lnTo>
                  <a:pt x="6064612" y="0"/>
                </a:lnTo>
                <a:lnTo>
                  <a:pt x="6069936" y="524"/>
                </a:lnTo>
                <a:lnTo>
                  <a:pt x="6109196" y="16786"/>
                </a:lnTo>
                <a:lnTo>
                  <a:pt x="6136941" y="55514"/>
                </a:lnTo>
                <a:lnTo>
                  <a:pt x="6141117" y="76505"/>
                </a:lnTo>
                <a:lnTo>
                  <a:pt x="6141117" y="1622537"/>
                </a:lnTo>
                <a:lnTo>
                  <a:pt x="6124330" y="1667122"/>
                </a:lnTo>
                <a:lnTo>
                  <a:pt x="6085602" y="1694867"/>
                </a:lnTo>
                <a:lnTo>
                  <a:pt x="6064612" y="1699042"/>
                </a:lnTo>
                <a:close/>
              </a:path>
            </a:pathLst>
          </a:custGeom>
          <a:solidFill>
            <a:srgbClr val="7833FF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ct val="100000"/>
              </a:lnSpc>
              <a:spcBef>
                <a:spcPts val="690"/>
              </a:spcBef>
            </a:pPr>
            <a:r>
              <a:rPr lang="en-US" sz="1600" spc="-21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a hid  A sg ha 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78100"/>
              </a:lnSpc>
              <a:spcBef>
                <a:spcPts val="1040"/>
              </a:spcBef>
            </a:pPr>
            <a:r>
              <a:rPr lang="en-US"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 School of Economics, QAU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715824" y="790576"/>
            <a:ext cx="6897756" cy="2737929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lang="en-US" sz="4400" dirty="0" smtClean="0"/>
              <a:t>D</a:t>
            </a:r>
            <a:r>
              <a:rPr lang="en-US" sz="4400" dirty="0" smtClean="0">
                <a:latin typeface="Lucida Sans Unicode"/>
                <a:cs typeface="Lucida Sans Unicode"/>
              </a:rPr>
              <a:t>Y</a:t>
            </a:r>
            <a:r>
              <a:rPr lang="en-US" sz="4400" dirty="0" smtClean="0"/>
              <a:t>NAMIC HARMONIC  REGRESSION</a:t>
            </a:r>
            <a:br>
              <a:rPr lang="en-US" sz="4400" dirty="0" smtClean="0"/>
            </a:br>
            <a:r>
              <a:rPr lang="en-US" sz="4400" spc="-345" dirty="0" smtClean="0"/>
              <a:t/>
            </a:r>
            <a:br>
              <a:rPr lang="en-US" sz="4400" spc="-345" dirty="0" smtClean="0"/>
            </a:br>
            <a:r>
              <a:rPr sz="2250" spc="65" dirty="0" smtClean="0"/>
              <a:t>F</a:t>
            </a:r>
            <a:r>
              <a:rPr sz="2250" spc="-470" dirty="0" smtClean="0"/>
              <a:t> </a:t>
            </a:r>
            <a:r>
              <a:rPr sz="2250" spc="55" dirty="0"/>
              <a:t>O</a:t>
            </a:r>
            <a:r>
              <a:rPr sz="2250" spc="-475" dirty="0"/>
              <a:t> </a:t>
            </a:r>
            <a:r>
              <a:rPr sz="2250" spc="-150" dirty="0"/>
              <a:t>R</a:t>
            </a:r>
            <a:r>
              <a:rPr sz="2250" spc="-465" dirty="0"/>
              <a:t> </a:t>
            </a:r>
            <a:r>
              <a:rPr sz="2250" spc="190" dirty="0"/>
              <a:t>EC</a:t>
            </a:r>
            <a:r>
              <a:rPr sz="2250" spc="-470" dirty="0"/>
              <a:t> </a:t>
            </a:r>
            <a:r>
              <a:rPr sz="2250" spc="95" dirty="0"/>
              <a:t>A</a:t>
            </a:r>
            <a:r>
              <a:rPr sz="2250" spc="-490" dirty="0"/>
              <a:t> </a:t>
            </a:r>
            <a:r>
              <a:rPr sz="2250" spc="-229" dirty="0"/>
              <a:t>S</a:t>
            </a:r>
            <a:r>
              <a:rPr sz="2250" spc="-470" dirty="0"/>
              <a:t> </a:t>
            </a:r>
            <a:r>
              <a:rPr sz="2250" spc="-65" dirty="0"/>
              <a:t>T</a:t>
            </a:r>
            <a:r>
              <a:rPr sz="2250" spc="-465" dirty="0"/>
              <a:t> </a:t>
            </a:r>
            <a:r>
              <a:rPr sz="2250" spc="-295" dirty="0"/>
              <a:t>I</a:t>
            </a:r>
            <a:r>
              <a:rPr sz="2250" spc="-470" dirty="0"/>
              <a:t> </a:t>
            </a:r>
            <a:r>
              <a:rPr sz="2250" spc="35" dirty="0"/>
              <a:t>N</a:t>
            </a:r>
            <a:r>
              <a:rPr sz="2250" spc="-475" dirty="0"/>
              <a:t> </a:t>
            </a:r>
            <a:r>
              <a:rPr sz="2250" spc="5" dirty="0"/>
              <a:t>G	</a:t>
            </a:r>
            <a:r>
              <a:rPr sz="2250" spc="-295" dirty="0"/>
              <a:t>I</a:t>
            </a:r>
            <a:r>
              <a:rPr sz="2250" spc="-465" dirty="0"/>
              <a:t> </a:t>
            </a:r>
            <a:r>
              <a:rPr sz="2250" spc="35" dirty="0"/>
              <a:t>N	</a:t>
            </a:r>
            <a:r>
              <a:rPr sz="2250" spc="-150" dirty="0"/>
              <a:t>R</a:t>
            </a:r>
            <a:endParaRPr sz="2250" dirty="0"/>
          </a:p>
        </p:txBody>
      </p:sp>
      <p:grpSp>
        <p:nvGrpSpPr>
          <p:cNvPr id="11" name="object 3"/>
          <p:cNvGrpSpPr/>
          <p:nvPr/>
        </p:nvGrpSpPr>
        <p:grpSpPr>
          <a:xfrm>
            <a:off x="6053476" y="2870736"/>
            <a:ext cx="804524" cy="861034"/>
            <a:chOff x="7287459" y="4974305"/>
            <a:chExt cx="982980" cy="982980"/>
          </a:xfrm>
        </p:grpSpPr>
        <p:sp>
          <p:nvSpPr>
            <p:cNvPr id="12" name="object 4"/>
            <p:cNvSpPr/>
            <p:nvPr/>
          </p:nvSpPr>
          <p:spPr>
            <a:xfrm>
              <a:off x="7287459" y="4974305"/>
              <a:ext cx="982980" cy="982980"/>
            </a:xfrm>
            <a:custGeom>
              <a:avLst/>
              <a:gdLst/>
              <a:ahLst/>
              <a:cxnLst/>
              <a:rect l="l" t="t" r="r" b="b"/>
              <a:pathLst>
                <a:path w="982979" h="982979">
                  <a:moveTo>
                    <a:pt x="491289" y="982578"/>
                  </a:moveTo>
                  <a:lnTo>
                    <a:pt x="443134" y="980213"/>
                  </a:lnTo>
                  <a:lnTo>
                    <a:pt x="395443" y="973138"/>
                  </a:lnTo>
                  <a:lnTo>
                    <a:pt x="348675" y="961423"/>
                  </a:lnTo>
                  <a:lnTo>
                    <a:pt x="303281" y="945181"/>
                  </a:lnTo>
                  <a:lnTo>
                    <a:pt x="259697" y="924568"/>
                  </a:lnTo>
                  <a:lnTo>
                    <a:pt x="218343" y="899781"/>
                  </a:lnTo>
                  <a:lnTo>
                    <a:pt x="179618" y="871061"/>
                  </a:lnTo>
                  <a:lnTo>
                    <a:pt x="143895" y="838683"/>
                  </a:lnTo>
                  <a:lnTo>
                    <a:pt x="111517" y="802960"/>
                  </a:lnTo>
                  <a:lnTo>
                    <a:pt x="82797" y="764235"/>
                  </a:lnTo>
                  <a:lnTo>
                    <a:pt x="58010" y="722881"/>
                  </a:lnTo>
                  <a:lnTo>
                    <a:pt x="37397" y="679297"/>
                  </a:lnTo>
                  <a:lnTo>
                    <a:pt x="21154" y="633903"/>
                  </a:lnTo>
                  <a:lnTo>
                    <a:pt x="9439" y="587135"/>
                  </a:lnTo>
                  <a:lnTo>
                    <a:pt x="2365" y="539444"/>
                  </a:lnTo>
                  <a:lnTo>
                    <a:pt x="0" y="491289"/>
                  </a:lnTo>
                  <a:lnTo>
                    <a:pt x="591" y="467182"/>
                  </a:lnTo>
                  <a:lnTo>
                    <a:pt x="5317" y="419202"/>
                  </a:lnTo>
                  <a:lnTo>
                    <a:pt x="14722" y="371915"/>
                  </a:lnTo>
                  <a:lnTo>
                    <a:pt x="28718" y="325778"/>
                  </a:lnTo>
                  <a:lnTo>
                    <a:pt x="47168" y="281235"/>
                  </a:lnTo>
                  <a:lnTo>
                    <a:pt x="69896" y="238716"/>
                  </a:lnTo>
                  <a:lnTo>
                    <a:pt x="96681" y="198628"/>
                  </a:lnTo>
                  <a:lnTo>
                    <a:pt x="127267" y="161359"/>
                  </a:lnTo>
                  <a:lnTo>
                    <a:pt x="161359" y="127267"/>
                  </a:lnTo>
                  <a:lnTo>
                    <a:pt x="198628" y="96681"/>
                  </a:lnTo>
                  <a:lnTo>
                    <a:pt x="238716" y="69896"/>
                  </a:lnTo>
                  <a:lnTo>
                    <a:pt x="281235" y="47168"/>
                  </a:lnTo>
                  <a:lnTo>
                    <a:pt x="325778" y="28718"/>
                  </a:lnTo>
                  <a:lnTo>
                    <a:pt x="371915" y="14722"/>
                  </a:lnTo>
                  <a:lnTo>
                    <a:pt x="419202" y="5317"/>
                  </a:lnTo>
                  <a:lnTo>
                    <a:pt x="467182" y="591"/>
                  </a:lnTo>
                  <a:lnTo>
                    <a:pt x="491289" y="0"/>
                  </a:lnTo>
                  <a:lnTo>
                    <a:pt x="515395" y="591"/>
                  </a:lnTo>
                  <a:lnTo>
                    <a:pt x="563376" y="5317"/>
                  </a:lnTo>
                  <a:lnTo>
                    <a:pt x="610663" y="14722"/>
                  </a:lnTo>
                  <a:lnTo>
                    <a:pt x="656799" y="28718"/>
                  </a:lnTo>
                  <a:lnTo>
                    <a:pt x="701342" y="47168"/>
                  </a:lnTo>
                  <a:lnTo>
                    <a:pt x="743862" y="69896"/>
                  </a:lnTo>
                  <a:lnTo>
                    <a:pt x="783950" y="96681"/>
                  </a:lnTo>
                  <a:lnTo>
                    <a:pt x="821219" y="127267"/>
                  </a:lnTo>
                  <a:lnTo>
                    <a:pt x="855311" y="161359"/>
                  </a:lnTo>
                  <a:lnTo>
                    <a:pt x="885896" y="198628"/>
                  </a:lnTo>
                  <a:lnTo>
                    <a:pt x="912682" y="238716"/>
                  </a:lnTo>
                  <a:lnTo>
                    <a:pt x="935410" y="281235"/>
                  </a:lnTo>
                  <a:lnTo>
                    <a:pt x="953860" y="325778"/>
                  </a:lnTo>
                  <a:lnTo>
                    <a:pt x="967855" y="371915"/>
                  </a:lnTo>
                  <a:lnTo>
                    <a:pt x="977261" y="419202"/>
                  </a:lnTo>
                  <a:lnTo>
                    <a:pt x="981987" y="467182"/>
                  </a:lnTo>
                  <a:lnTo>
                    <a:pt x="982578" y="491289"/>
                  </a:lnTo>
                  <a:lnTo>
                    <a:pt x="981987" y="515395"/>
                  </a:lnTo>
                  <a:lnTo>
                    <a:pt x="977261" y="563376"/>
                  </a:lnTo>
                  <a:lnTo>
                    <a:pt x="967855" y="610663"/>
                  </a:lnTo>
                  <a:lnTo>
                    <a:pt x="953860" y="656799"/>
                  </a:lnTo>
                  <a:lnTo>
                    <a:pt x="935410" y="701342"/>
                  </a:lnTo>
                  <a:lnTo>
                    <a:pt x="912682" y="743862"/>
                  </a:lnTo>
                  <a:lnTo>
                    <a:pt x="885897" y="783950"/>
                  </a:lnTo>
                  <a:lnTo>
                    <a:pt x="855311" y="821219"/>
                  </a:lnTo>
                  <a:lnTo>
                    <a:pt x="821219" y="855311"/>
                  </a:lnTo>
                  <a:lnTo>
                    <a:pt x="783950" y="885896"/>
                  </a:lnTo>
                  <a:lnTo>
                    <a:pt x="743862" y="912682"/>
                  </a:lnTo>
                  <a:lnTo>
                    <a:pt x="701342" y="935410"/>
                  </a:lnTo>
                  <a:lnTo>
                    <a:pt x="656799" y="953860"/>
                  </a:lnTo>
                  <a:lnTo>
                    <a:pt x="610663" y="967855"/>
                  </a:lnTo>
                  <a:lnTo>
                    <a:pt x="563376" y="977261"/>
                  </a:lnTo>
                  <a:lnTo>
                    <a:pt x="515395" y="981987"/>
                  </a:lnTo>
                  <a:lnTo>
                    <a:pt x="491289" y="982578"/>
                  </a:lnTo>
                  <a:close/>
                </a:path>
              </a:pathLst>
            </a:custGeom>
            <a:solidFill>
              <a:srgbClr val="0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5"/>
            <p:cNvSpPr/>
            <p:nvPr/>
          </p:nvSpPr>
          <p:spPr>
            <a:xfrm>
              <a:off x="7464603" y="5201056"/>
              <a:ext cx="627380" cy="483870"/>
            </a:xfrm>
            <a:custGeom>
              <a:avLst/>
              <a:gdLst/>
              <a:ahLst/>
              <a:cxnLst/>
              <a:rect l="l" t="t" r="r" b="b"/>
              <a:pathLst>
                <a:path w="627379" h="483870">
                  <a:moveTo>
                    <a:pt x="626770" y="209892"/>
                  </a:moveTo>
                  <a:lnTo>
                    <a:pt x="621728" y="172161"/>
                  </a:lnTo>
                  <a:lnTo>
                    <a:pt x="607174" y="136652"/>
                  </a:lnTo>
                  <a:lnTo>
                    <a:pt x="590003" y="112458"/>
                  </a:lnTo>
                  <a:lnTo>
                    <a:pt x="590003" y="225552"/>
                  </a:lnTo>
                  <a:lnTo>
                    <a:pt x="584238" y="264845"/>
                  </a:lnTo>
                  <a:lnTo>
                    <a:pt x="567677" y="297535"/>
                  </a:lnTo>
                  <a:lnTo>
                    <a:pt x="541426" y="323824"/>
                  </a:lnTo>
                  <a:lnTo>
                    <a:pt x="513664" y="339826"/>
                  </a:lnTo>
                  <a:lnTo>
                    <a:pt x="511086" y="338315"/>
                  </a:lnTo>
                  <a:lnTo>
                    <a:pt x="507263" y="336384"/>
                  </a:lnTo>
                  <a:lnTo>
                    <a:pt x="497928" y="332270"/>
                  </a:lnTo>
                  <a:lnTo>
                    <a:pt x="488137" y="328650"/>
                  </a:lnTo>
                  <a:lnTo>
                    <a:pt x="480415" y="326072"/>
                  </a:lnTo>
                  <a:lnTo>
                    <a:pt x="477278" y="325081"/>
                  </a:lnTo>
                  <a:lnTo>
                    <a:pt x="491871" y="322554"/>
                  </a:lnTo>
                  <a:lnTo>
                    <a:pt x="523989" y="309994"/>
                  </a:lnTo>
                  <a:lnTo>
                    <a:pt x="556107" y="279996"/>
                  </a:lnTo>
                  <a:lnTo>
                    <a:pt x="559600" y="266877"/>
                  </a:lnTo>
                  <a:lnTo>
                    <a:pt x="570712" y="225132"/>
                  </a:lnTo>
                  <a:lnTo>
                    <a:pt x="565543" y="206857"/>
                  </a:lnTo>
                  <a:lnTo>
                    <a:pt x="555434" y="171069"/>
                  </a:lnTo>
                  <a:lnTo>
                    <a:pt x="521817" y="142836"/>
                  </a:lnTo>
                  <a:lnTo>
                    <a:pt x="488200" y="132054"/>
                  </a:lnTo>
                  <a:lnTo>
                    <a:pt x="472922" y="130327"/>
                  </a:lnTo>
                  <a:lnTo>
                    <a:pt x="460756" y="130327"/>
                  </a:lnTo>
                  <a:lnTo>
                    <a:pt x="460756" y="236321"/>
                  </a:lnTo>
                  <a:lnTo>
                    <a:pt x="456069" y="253936"/>
                  </a:lnTo>
                  <a:lnTo>
                    <a:pt x="445770" y="263004"/>
                  </a:lnTo>
                  <a:lnTo>
                    <a:pt x="435457" y="266357"/>
                  </a:lnTo>
                  <a:lnTo>
                    <a:pt x="430771" y="266852"/>
                  </a:lnTo>
                  <a:lnTo>
                    <a:pt x="419481" y="266865"/>
                  </a:lnTo>
                  <a:lnTo>
                    <a:pt x="419481" y="365620"/>
                  </a:lnTo>
                  <a:lnTo>
                    <a:pt x="415442" y="366306"/>
                  </a:lnTo>
                  <a:lnTo>
                    <a:pt x="365125" y="368846"/>
                  </a:lnTo>
                  <a:lnTo>
                    <a:pt x="365125" y="345084"/>
                  </a:lnTo>
                  <a:lnTo>
                    <a:pt x="399707" y="345084"/>
                  </a:lnTo>
                  <a:lnTo>
                    <a:pt x="402234" y="346786"/>
                  </a:lnTo>
                  <a:lnTo>
                    <a:pt x="408178" y="351599"/>
                  </a:lnTo>
                  <a:lnTo>
                    <a:pt x="414096" y="358038"/>
                  </a:lnTo>
                  <a:lnTo>
                    <a:pt x="419481" y="365620"/>
                  </a:lnTo>
                  <a:lnTo>
                    <a:pt x="419481" y="266865"/>
                  </a:lnTo>
                  <a:lnTo>
                    <a:pt x="366014" y="266877"/>
                  </a:lnTo>
                  <a:lnTo>
                    <a:pt x="366052" y="206857"/>
                  </a:lnTo>
                  <a:lnTo>
                    <a:pt x="430771" y="206895"/>
                  </a:lnTo>
                  <a:lnTo>
                    <a:pt x="435457" y="207124"/>
                  </a:lnTo>
                  <a:lnTo>
                    <a:pt x="445770" y="209969"/>
                  </a:lnTo>
                  <a:lnTo>
                    <a:pt x="456069" y="218617"/>
                  </a:lnTo>
                  <a:lnTo>
                    <a:pt x="460756" y="236321"/>
                  </a:lnTo>
                  <a:lnTo>
                    <a:pt x="460756" y="130327"/>
                  </a:lnTo>
                  <a:lnTo>
                    <a:pt x="258229" y="130327"/>
                  </a:lnTo>
                  <a:lnTo>
                    <a:pt x="258229" y="354812"/>
                  </a:lnTo>
                  <a:lnTo>
                    <a:pt x="256603" y="354457"/>
                  </a:lnTo>
                  <a:lnTo>
                    <a:pt x="212369" y="337515"/>
                  </a:lnTo>
                  <a:lnTo>
                    <a:pt x="175488" y="315290"/>
                  </a:lnTo>
                  <a:lnTo>
                    <a:pt x="147370" y="288645"/>
                  </a:lnTo>
                  <a:lnTo>
                    <a:pt x="123151" y="225552"/>
                  </a:lnTo>
                  <a:lnTo>
                    <a:pt x="129451" y="192646"/>
                  </a:lnTo>
                  <a:lnTo>
                    <a:pt x="175488" y="135801"/>
                  </a:lnTo>
                  <a:lnTo>
                    <a:pt x="212369" y="113588"/>
                  </a:lnTo>
                  <a:lnTo>
                    <a:pt x="256603" y="96647"/>
                  </a:lnTo>
                  <a:lnTo>
                    <a:pt x="306743" y="85852"/>
                  </a:lnTo>
                  <a:lnTo>
                    <a:pt x="361353" y="82067"/>
                  </a:lnTo>
                  <a:lnTo>
                    <a:pt x="415442" y="84785"/>
                  </a:lnTo>
                  <a:lnTo>
                    <a:pt x="464210" y="93091"/>
                  </a:lnTo>
                  <a:lnTo>
                    <a:pt x="506577" y="107200"/>
                  </a:lnTo>
                  <a:lnTo>
                    <a:pt x="541426" y="127292"/>
                  </a:lnTo>
                  <a:lnTo>
                    <a:pt x="584238" y="186258"/>
                  </a:lnTo>
                  <a:lnTo>
                    <a:pt x="590003" y="225552"/>
                  </a:lnTo>
                  <a:lnTo>
                    <a:pt x="590003" y="112458"/>
                  </a:lnTo>
                  <a:lnTo>
                    <a:pt x="583984" y="103962"/>
                  </a:lnTo>
                  <a:lnTo>
                    <a:pt x="560882" y="82067"/>
                  </a:lnTo>
                  <a:lnTo>
                    <a:pt x="553072" y="74663"/>
                  </a:lnTo>
                  <a:lnTo>
                    <a:pt x="515302" y="49364"/>
                  </a:lnTo>
                  <a:lnTo>
                    <a:pt x="471563" y="28663"/>
                  </a:lnTo>
                  <a:lnTo>
                    <a:pt x="422744" y="13131"/>
                  </a:lnTo>
                  <a:lnTo>
                    <a:pt x="369722" y="3390"/>
                  </a:lnTo>
                  <a:lnTo>
                    <a:pt x="313385" y="0"/>
                  </a:lnTo>
                  <a:lnTo>
                    <a:pt x="257060" y="3390"/>
                  </a:lnTo>
                  <a:lnTo>
                    <a:pt x="204038" y="13131"/>
                  </a:lnTo>
                  <a:lnTo>
                    <a:pt x="155219" y="28663"/>
                  </a:lnTo>
                  <a:lnTo>
                    <a:pt x="111480" y="49364"/>
                  </a:lnTo>
                  <a:lnTo>
                    <a:pt x="73698" y="74663"/>
                  </a:lnTo>
                  <a:lnTo>
                    <a:pt x="42786" y="103962"/>
                  </a:lnTo>
                  <a:lnTo>
                    <a:pt x="19608" y="136652"/>
                  </a:lnTo>
                  <a:lnTo>
                    <a:pt x="5041" y="172161"/>
                  </a:lnTo>
                  <a:lnTo>
                    <a:pt x="0" y="209892"/>
                  </a:lnTo>
                  <a:lnTo>
                    <a:pt x="5041" y="247611"/>
                  </a:lnTo>
                  <a:lnTo>
                    <a:pt x="19608" y="283121"/>
                  </a:lnTo>
                  <a:lnTo>
                    <a:pt x="42786" y="315823"/>
                  </a:lnTo>
                  <a:lnTo>
                    <a:pt x="73698" y="345122"/>
                  </a:lnTo>
                  <a:lnTo>
                    <a:pt x="111480" y="370408"/>
                  </a:lnTo>
                  <a:lnTo>
                    <a:pt x="155219" y="391121"/>
                  </a:lnTo>
                  <a:lnTo>
                    <a:pt x="204038" y="406641"/>
                  </a:lnTo>
                  <a:lnTo>
                    <a:pt x="257060" y="416394"/>
                  </a:lnTo>
                  <a:lnTo>
                    <a:pt x="258229" y="416471"/>
                  </a:lnTo>
                  <a:lnTo>
                    <a:pt x="258229" y="483298"/>
                  </a:lnTo>
                  <a:lnTo>
                    <a:pt x="365150" y="483260"/>
                  </a:lnTo>
                  <a:lnTo>
                    <a:pt x="365137" y="416674"/>
                  </a:lnTo>
                  <a:lnTo>
                    <a:pt x="369722" y="416394"/>
                  </a:lnTo>
                  <a:lnTo>
                    <a:pt x="422744" y="406641"/>
                  </a:lnTo>
                  <a:lnTo>
                    <a:pt x="439648" y="401269"/>
                  </a:lnTo>
                  <a:lnTo>
                    <a:pt x="483362" y="483336"/>
                  </a:lnTo>
                  <a:lnTo>
                    <a:pt x="604177" y="483285"/>
                  </a:lnTo>
                  <a:lnTo>
                    <a:pt x="530987" y="359905"/>
                  </a:lnTo>
                  <a:lnTo>
                    <a:pt x="553072" y="345122"/>
                  </a:lnTo>
                  <a:lnTo>
                    <a:pt x="583984" y="315823"/>
                  </a:lnTo>
                  <a:lnTo>
                    <a:pt x="607174" y="283121"/>
                  </a:lnTo>
                  <a:lnTo>
                    <a:pt x="621728" y="247611"/>
                  </a:lnTo>
                  <a:lnTo>
                    <a:pt x="626770" y="209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9939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283380" y="1097674"/>
            <a:ext cx="109950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 smtClean="0"/>
              <a:t>D</a:t>
            </a:r>
            <a:r>
              <a:rPr lang="en-US" sz="1800" dirty="0" smtClean="0">
                <a:latin typeface="Lucida Sans Unicode"/>
                <a:cs typeface="Lucida Sans Unicode"/>
              </a:rPr>
              <a:t>Y</a:t>
            </a:r>
            <a:r>
              <a:rPr lang="en-US" sz="1800" dirty="0" smtClean="0"/>
              <a:t>NAMIC HARMONIC REGRESSION</a:t>
            </a:r>
            <a:endParaRPr lang="en-US" sz="1800" dirty="0"/>
          </a:p>
        </p:txBody>
      </p:sp>
      <p:pic>
        <p:nvPicPr>
          <p:cNvPr id="8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380" y="1425508"/>
            <a:ext cx="6682150" cy="88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39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283380" y="1097674"/>
            <a:ext cx="109950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 smtClean="0"/>
              <a:t>D</a:t>
            </a:r>
            <a:r>
              <a:rPr lang="en-US" sz="1800" dirty="0" smtClean="0">
                <a:latin typeface="Lucida Sans Unicode"/>
                <a:cs typeface="Lucida Sans Unicode"/>
              </a:rPr>
              <a:t>Y</a:t>
            </a:r>
            <a:r>
              <a:rPr lang="en-US" sz="1800" dirty="0" smtClean="0"/>
              <a:t>NAMIC HARMONIC REGRESSION</a:t>
            </a:r>
            <a:endParaRPr lang="en-US" sz="1800" dirty="0"/>
          </a:p>
        </p:txBody>
      </p:sp>
      <p:pic>
        <p:nvPicPr>
          <p:cNvPr id="6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380" y="1347940"/>
            <a:ext cx="4740683" cy="1051085"/>
          </a:xfrm>
          <a:prstGeom prst="rect">
            <a:avLst/>
          </a:prstGeom>
        </p:spPr>
      </p:pic>
      <p:sp>
        <p:nvSpPr>
          <p:cNvPr id="7" name="object 5"/>
          <p:cNvSpPr txBox="1"/>
          <p:nvPr/>
        </p:nvSpPr>
        <p:spPr>
          <a:xfrm>
            <a:off x="361552" y="2143872"/>
            <a:ext cx="6226415" cy="2804486"/>
          </a:xfrm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495300" indent="-457200">
              <a:lnSpc>
                <a:spcPct val="100000"/>
              </a:lnSpc>
              <a:spcBef>
                <a:spcPts val="2025"/>
              </a:spcBef>
              <a:buFont typeface="Arial" panose="020B0604020202020204" pitchFamily="34" charset="0"/>
              <a:buChar char="•"/>
            </a:pPr>
            <a:r>
              <a:rPr sz="1400" i="1" spc="-280" dirty="0">
                <a:solidFill>
                  <a:srgbClr val="04182D"/>
                </a:solidFill>
                <a:latin typeface="Verdana"/>
                <a:cs typeface="Verdana"/>
              </a:rPr>
              <a:t>m</a:t>
            </a:r>
            <a:r>
              <a:rPr sz="1400" i="1" spc="-22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1400" spc="170" dirty="0">
                <a:solidFill>
                  <a:srgbClr val="04182D"/>
                </a:solidFill>
                <a:latin typeface="Tahoma"/>
                <a:cs typeface="Tahoma"/>
              </a:rPr>
              <a:t>=</a:t>
            </a:r>
            <a:r>
              <a:rPr sz="1400" spc="-22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1400"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z="1400"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14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1400"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1400"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sz="14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1400" spc="-95" dirty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p</a:t>
            </a:r>
            <a:r>
              <a:rPr sz="1400" spc="6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1400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sz="14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sz="1400" spc="-1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14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endParaRPr sz="1400" dirty="0">
              <a:latin typeface="Lucida Sans Unicode"/>
              <a:cs typeface="Lucida Sans Unicode"/>
            </a:endParaRPr>
          </a:p>
          <a:p>
            <a:pPr marL="381000" marR="30480" indent="-342900">
              <a:lnSpc>
                <a:spcPct val="115100"/>
              </a:lnSpc>
              <a:spcBef>
                <a:spcPts val="1230"/>
              </a:spcBef>
              <a:buFont typeface="Arial" panose="020B0604020202020204" pitchFamily="34" charset="0"/>
              <a:buChar char="•"/>
            </a:pPr>
            <a:r>
              <a:rPr sz="1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sz="14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z="1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er</a:t>
            </a:r>
            <a:r>
              <a:rPr sz="14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1400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periodic</a:t>
            </a:r>
            <a:r>
              <a:rPr sz="1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f</a:t>
            </a:r>
            <a:r>
              <a:rPr sz="1400" spc="-2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4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nction</a:t>
            </a:r>
            <a:r>
              <a:rPr sz="1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04182D"/>
                </a:solidFill>
                <a:latin typeface="Lucida Sans Unicode"/>
                <a:cs typeface="Lucida Sans Unicode"/>
              </a:rPr>
              <a:t>can</a:t>
            </a:r>
            <a:r>
              <a:rPr sz="1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be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04182D"/>
                </a:solidFill>
                <a:latin typeface="Lucida Sans Unicode"/>
                <a:cs typeface="Lucida Sans Unicode"/>
              </a:rPr>
              <a:t>appro</a:t>
            </a:r>
            <a:r>
              <a:rPr sz="1400" dirty="0">
                <a:solidFill>
                  <a:srgbClr val="04182D"/>
                </a:solidFill>
                <a:latin typeface="Microsoft Sans Serif"/>
                <a:cs typeface="Microsoft Sans Serif"/>
              </a:rPr>
              <a:t>x</a:t>
            </a:r>
            <a:r>
              <a:rPr sz="1400" dirty="0">
                <a:solidFill>
                  <a:srgbClr val="04182D"/>
                </a:solidFill>
                <a:latin typeface="Lucida Sans Unicode"/>
                <a:cs typeface="Lucida Sans Unicode"/>
              </a:rPr>
              <a:t>imated</a:t>
            </a:r>
            <a:r>
              <a:rPr sz="1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15" dirty="0">
                <a:solidFill>
                  <a:srgbClr val="04182D"/>
                </a:solidFill>
                <a:latin typeface="Lucida Sans Unicode"/>
                <a:cs typeface="Lucida Sans Unicode"/>
              </a:rPr>
              <a:t>b</a:t>
            </a:r>
            <a:r>
              <a:rPr sz="1400" spc="15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14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400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sz="1400" spc="-8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400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ms</a:t>
            </a:r>
            <a:r>
              <a:rPr sz="1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of </a:t>
            </a:r>
            <a:r>
              <a:rPr sz="1400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sin </a:t>
            </a:r>
            <a:r>
              <a:rPr sz="1400" spc="-77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and</a:t>
            </a:r>
            <a:r>
              <a:rPr sz="14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cos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terms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for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04182D"/>
                </a:solidFill>
                <a:latin typeface="Lucida Sans Unicode"/>
                <a:cs typeface="Lucida Sans Unicode"/>
              </a:rPr>
              <a:t>large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eno</a:t>
            </a:r>
            <a:r>
              <a:rPr sz="1400" spc="-2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4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gh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04182D"/>
                </a:solidFill>
                <a:latin typeface="Lucida Sans Unicode"/>
                <a:cs typeface="Lucida Sans Unicode"/>
              </a:rPr>
              <a:t>K</a:t>
            </a:r>
            <a:endParaRPr sz="1400" dirty="0">
              <a:latin typeface="Lucida Sans Unicode"/>
              <a:cs typeface="Lucida Sans Unicode"/>
            </a:endParaRPr>
          </a:p>
          <a:p>
            <a:pPr marL="381000" indent="-342900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Char char="•"/>
            </a:pPr>
            <a:r>
              <a:rPr sz="1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Regression</a:t>
            </a:r>
            <a:r>
              <a:rPr sz="14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70" dirty="0">
                <a:solidFill>
                  <a:srgbClr val="04182D"/>
                </a:solidFill>
                <a:latin typeface="Lucida Sans Unicode"/>
                <a:cs typeface="Lucida Sans Unicode"/>
              </a:rPr>
              <a:t>coe </a:t>
            </a:r>
            <a:r>
              <a:rPr sz="1400" spc="60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cients</a:t>
            </a:r>
            <a:r>
              <a:rPr sz="1400" spc="-25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r>
              <a:rPr sz="1400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400" i="1" spc="-35" dirty="0">
                <a:solidFill>
                  <a:srgbClr val="04182D"/>
                </a:solidFill>
                <a:latin typeface="Verdana"/>
                <a:cs typeface="Verdana"/>
              </a:rPr>
              <a:t>α</a:t>
            </a:r>
            <a:r>
              <a:rPr sz="1400" i="1" spc="-52" baseline="-12919" dirty="0">
                <a:solidFill>
                  <a:srgbClr val="04182D"/>
                </a:solidFill>
                <a:latin typeface="Verdana"/>
                <a:cs typeface="Verdana"/>
              </a:rPr>
              <a:t>k</a:t>
            </a:r>
            <a:r>
              <a:rPr sz="1400" i="1" spc="322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1400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and</a:t>
            </a:r>
            <a:r>
              <a:rPr sz="14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i="1" spc="-175" dirty="0">
                <a:solidFill>
                  <a:srgbClr val="04182D"/>
                </a:solidFill>
                <a:latin typeface="Verdana"/>
                <a:cs typeface="Verdana"/>
              </a:rPr>
              <a:t>γ</a:t>
            </a:r>
            <a:r>
              <a:rPr sz="1400" i="1" spc="-262" baseline="-12919" dirty="0">
                <a:solidFill>
                  <a:srgbClr val="04182D"/>
                </a:solidFill>
                <a:latin typeface="Verdana"/>
                <a:cs typeface="Verdana"/>
              </a:rPr>
              <a:t>k</a:t>
            </a:r>
            <a:endParaRPr sz="1400" baseline="-12919" dirty="0">
              <a:latin typeface="Verdana"/>
              <a:cs typeface="Verdana"/>
            </a:endParaRPr>
          </a:p>
          <a:p>
            <a:pPr marL="495300" marR="1070610" indent="-457200">
              <a:lnSpc>
                <a:spcPts val="516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sz="1400" i="1" spc="-229" dirty="0">
                <a:solidFill>
                  <a:srgbClr val="04182D"/>
                </a:solidFill>
                <a:latin typeface="Verdana"/>
                <a:cs typeface="Verdana"/>
              </a:rPr>
              <a:t>e</a:t>
            </a:r>
            <a:r>
              <a:rPr sz="1400" i="1" spc="-345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1400" i="1" spc="225" baseline="-12919" dirty="0">
                <a:solidFill>
                  <a:srgbClr val="04182D"/>
                </a:solidFill>
                <a:latin typeface="Verdana"/>
                <a:cs typeface="Verdana"/>
              </a:rPr>
              <a:t> </a:t>
            </a:r>
            <a:r>
              <a:rPr sz="1400" spc="95" dirty="0">
                <a:solidFill>
                  <a:srgbClr val="04182D"/>
                </a:solidFill>
                <a:latin typeface="Lucida Sans Unicode"/>
                <a:cs typeface="Lucida Sans Unicode"/>
              </a:rPr>
              <a:t>can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be</a:t>
            </a:r>
            <a:r>
              <a:rPr sz="1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modeled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04182D"/>
                </a:solidFill>
                <a:latin typeface="Lucida Sans Unicode"/>
                <a:cs typeface="Lucida Sans Unicode"/>
              </a:rPr>
              <a:t>as</a:t>
            </a:r>
            <a:r>
              <a:rPr sz="1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non</a:t>
            </a:r>
            <a:r>
              <a:rPr sz="1400" spc="-5" dirty="0">
                <a:solidFill>
                  <a:srgbClr val="04182D"/>
                </a:solidFill>
                <a:latin typeface="Microsoft Sans Serif"/>
                <a:cs typeface="Microsoft Sans Serif"/>
              </a:rPr>
              <a:t>-</a:t>
            </a:r>
            <a:r>
              <a:rPr sz="14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seasonal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50" dirty="0">
                <a:solidFill>
                  <a:srgbClr val="04182D"/>
                </a:solidFill>
                <a:latin typeface="Lucida Sans Unicode"/>
                <a:cs typeface="Lucida Sans Unicode"/>
              </a:rPr>
              <a:t>ARIMA</a:t>
            </a:r>
            <a:r>
              <a:rPr sz="1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process </a:t>
            </a:r>
            <a:r>
              <a:rPr sz="1400" spc="-78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endParaRPr lang="en-US" sz="1400" spc="-780" dirty="0" smtClean="0">
              <a:solidFill>
                <a:srgbClr val="04182D"/>
              </a:solidFill>
              <a:latin typeface="Lucida Sans Unicode"/>
              <a:cs typeface="Lucida Sans Unicode"/>
            </a:endParaRPr>
          </a:p>
          <a:p>
            <a:pPr marL="495300" marR="1070610" indent="-457200">
              <a:lnSpc>
                <a:spcPts val="516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sz="1400" spc="-4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Ass</a:t>
            </a:r>
            <a:r>
              <a:rPr sz="1400" spc="-40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400" spc="-4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mes</a:t>
            </a:r>
            <a:r>
              <a:rPr sz="1400" spc="-5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seasonal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95" dirty="0">
                <a:solidFill>
                  <a:srgbClr val="04182D"/>
                </a:solidFill>
                <a:latin typeface="Lucida Sans Unicode"/>
                <a:cs typeface="Lucida Sans Unicode"/>
              </a:rPr>
              <a:t>pa</a:t>
            </a:r>
            <a:r>
              <a:rPr sz="1400" spc="22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ern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-90" dirty="0">
                <a:solidFill>
                  <a:srgbClr val="04182D"/>
                </a:solidFill>
                <a:latin typeface="Lucida Sans Unicode"/>
                <a:cs typeface="Lucida Sans Unicode"/>
              </a:rPr>
              <a:t>is</a:t>
            </a:r>
            <a:r>
              <a:rPr sz="14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4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nchanging</a:t>
            </a:r>
            <a:endParaRPr sz="1400" dirty="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3327569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283380" y="1097674"/>
            <a:ext cx="109950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 smtClean="0"/>
              <a:t>E</a:t>
            </a:r>
            <a:r>
              <a:rPr lang="en-US" sz="1800" dirty="0" smtClean="0">
                <a:latin typeface="Lucida Sans Unicode"/>
                <a:cs typeface="Lucida Sans Unicode"/>
              </a:rPr>
              <a:t>X</a:t>
            </a:r>
            <a:r>
              <a:rPr lang="en-US" sz="1800" dirty="0" smtClean="0"/>
              <a:t>AMPLE</a:t>
            </a:r>
            <a:r>
              <a:rPr lang="en-US" sz="1800" dirty="0" smtClean="0">
                <a:latin typeface="Lucida Sans Unicode"/>
                <a:cs typeface="Lucida Sans Unicode"/>
              </a:rPr>
              <a:t>: </a:t>
            </a:r>
            <a:r>
              <a:rPr lang="en-US" sz="1800" dirty="0" smtClean="0"/>
              <a:t>A</a:t>
            </a:r>
            <a:r>
              <a:rPr lang="en-US" sz="1800" dirty="0" smtClean="0">
                <a:latin typeface="Lucida Sans Unicode"/>
                <a:cs typeface="Lucida Sans Unicode"/>
              </a:rPr>
              <a:t>U</a:t>
            </a:r>
            <a:r>
              <a:rPr lang="en-US" sz="1800" dirty="0" smtClean="0"/>
              <a:t>STRALIAN CAFE E</a:t>
            </a:r>
            <a:r>
              <a:rPr lang="en-US" sz="1800" dirty="0" smtClean="0">
                <a:latin typeface="Lucida Sans Unicode"/>
                <a:cs typeface="Lucida Sans Unicode"/>
              </a:rPr>
              <a:t>X</a:t>
            </a:r>
            <a:r>
              <a:rPr lang="en-US" sz="1800" dirty="0" smtClean="0"/>
              <a:t>PENDIT</a:t>
            </a:r>
            <a:r>
              <a:rPr lang="en-US" sz="1800" dirty="0" smtClean="0">
                <a:latin typeface="Lucida Sans Unicode"/>
                <a:cs typeface="Lucida Sans Unicode"/>
              </a:rPr>
              <a:t>U</a:t>
            </a:r>
            <a:r>
              <a:rPr lang="en-US" sz="1800" dirty="0" smtClean="0"/>
              <a:t>RE</a:t>
            </a:r>
            <a:endParaRPr lang="en-US" sz="1800" dirty="0"/>
          </a:p>
        </p:txBody>
      </p:sp>
      <p:pic>
        <p:nvPicPr>
          <p:cNvPr id="1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038" y="2572019"/>
            <a:ext cx="5818428" cy="2310907"/>
          </a:xfrm>
          <a:prstGeom prst="rect">
            <a:avLst/>
          </a:prstGeom>
        </p:spPr>
      </p:pic>
      <p:grpSp>
        <p:nvGrpSpPr>
          <p:cNvPr id="18" name="object 3"/>
          <p:cNvGrpSpPr/>
          <p:nvPr/>
        </p:nvGrpSpPr>
        <p:grpSpPr>
          <a:xfrm>
            <a:off x="289038" y="1384565"/>
            <a:ext cx="6575460" cy="1092540"/>
            <a:chOff x="491289" y="1166812"/>
            <a:chExt cx="9887585" cy="1822450"/>
          </a:xfrm>
        </p:grpSpPr>
        <p:sp>
          <p:nvSpPr>
            <p:cNvPr id="19" name="object 4"/>
            <p:cNvSpPr/>
            <p:nvPr/>
          </p:nvSpPr>
          <p:spPr>
            <a:xfrm>
              <a:off x="491289" y="1166812"/>
              <a:ext cx="9887585" cy="1822450"/>
            </a:xfrm>
            <a:custGeom>
              <a:avLst/>
              <a:gdLst/>
              <a:ahLst/>
              <a:cxnLst/>
              <a:rect l="l" t="t" r="r" b="b"/>
              <a:pathLst>
                <a:path w="9887585" h="1822450">
                  <a:moveTo>
                    <a:pt x="9810694" y="1821864"/>
                  </a:moveTo>
                  <a:lnTo>
                    <a:pt x="76505" y="1821864"/>
                  </a:lnTo>
                  <a:lnTo>
                    <a:pt x="71180" y="1821340"/>
                  </a:lnTo>
                  <a:lnTo>
                    <a:pt x="31920" y="1805077"/>
                  </a:lnTo>
                  <a:lnTo>
                    <a:pt x="4175" y="1766350"/>
                  </a:lnTo>
                  <a:lnTo>
                    <a:pt x="0" y="1745359"/>
                  </a:lnTo>
                  <a:lnTo>
                    <a:pt x="0" y="1739983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1745359"/>
                  </a:lnTo>
                  <a:lnTo>
                    <a:pt x="9870412" y="1789944"/>
                  </a:lnTo>
                  <a:lnTo>
                    <a:pt x="9831684" y="1817689"/>
                  </a:lnTo>
                  <a:lnTo>
                    <a:pt x="9816018" y="1821340"/>
                  </a:lnTo>
                  <a:lnTo>
                    <a:pt x="9810694" y="1821864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5"/>
            <p:cNvSpPr/>
            <p:nvPr/>
          </p:nvSpPr>
          <p:spPr>
            <a:xfrm>
              <a:off x="4628571" y="1765291"/>
              <a:ext cx="657225" cy="182245"/>
            </a:xfrm>
            <a:custGeom>
              <a:avLst/>
              <a:gdLst/>
              <a:ahLst/>
              <a:cxnLst/>
              <a:rect l="l" t="t" r="r" b="b"/>
              <a:pathLst>
                <a:path w="657225" h="182244">
                  <a:moveTo>
                    <a:pt x="30169" y="179395"/>
                  </a:moveTo>
                  <a:lnTo>
                    <a:pt x="0" y="179395"/>
                  </a:lnTo>
                  <a:lnTo>
                    <a:pt x="0" y="2294"/>
                  </a:lnTo>
                  <a:lnTo>
                    <a:pt x="108085" y="2294"/>
                  </a:lnTo>
                  <a:lnTo>
                    <a:pt x="108085" y="30617"/>
                  </a:lnTo>
                  <a:lnTo>
                    <a:pt x="29721" y="30617"/>
                  </a:lnTo>
                  <a:lnTo>
                    <a:pt x="29721" y="77019"/>
                  </a:lnTo>
                  <a:lnTo>
                    <a:pt x="102151" y="77019"/>
                  </a:lnTo>
                  <a:lnTo>
                    <a:pt x="102151" y="105342"/>
                  </a:lnTo>
                  <a:lnTo>
                    <a:pt x="30169" y="105342"/>
                  </a:lnTo>
                  <a:lnTo>
                    <a:pt x="30169" y="179395"/>
                  </a:lnTo>
                  <a:close/>
                </a:path>
                <a:path w="657225" h="182244">
                  <a:moveTo>
                    <a:pt x="156719" y="179395"/>
                  </a:moveTo>
                  <a:lnTo>
                    <a:pt x="125709" y="179395"/>
                  </a:lnTo>
                  <a:lnTo>
                    <a:pt x="171719" y="2518"/>
                  </a:lnTo>
                  <a:lnTo>
                    <a:pt x="206871" y="2518"/>
                  </a:lnTo>
                  <a:lnTo>
                    <a:pt x="212377" y="23788"/>
                  </a:lnTo>
                  <a:lnTo>
                    <a:pt x="189184" y="23788"/>
                  </a:lnTo>
                  <a:lnTo>
                    <a:pt x="188445" y="31177"/>
                  </a:lnTo>
                  <a:lnTo>
                    <a:pt x="188802" y="40021"/>
                  </a:lnTo>
                  <a:lnTo>
                    <a:pt x="189168" y="42663"/>
                  </a:lnTo>
                  <a:lnTo>
                    <a:pt x="188069" y="50330"/>
                  </a:lnTo>
                  <a:lnTo>
                    <a:pt x="185448" y="62242"/>
                  </a:lnTo>
                  <a:lnTo>
                    <a:pt x="174182" y="107973"/>
                  </a:lnTo>
                  <a:lnTo>
                    <a:pt x="234169" y="107973"/>
                  </a:lnTo>
                  <a:lnTo>
                    <a:pt x="241139" y="134896"/>
                  </a:lnTo>
                  <a:lnTo>
                    <a:pt x="167689" y="134896"/>
                  </a:lnTo>
                  <a:lnTo>
                    <a:pt x="156719" y="179395"/>
                  </a:lnTo>
                  <a:close/>
                </a:path>
                <a:path w="657225" h="182244">
                  <a:moveTo>
                    <a:pt x="189168" y="42663"/>
                  </a:moveTo>
                  <a:lnTo>
                    <a:pt x="188792" y="39951"/>
                  </a:lnTo>
                  <a:lnTo>
                    <a:pt x="188442" y="31103"/>
                  </a:lnTo>
                  <a:lnTo>
                    <a:pt x="189184" y="23788"/>
                  </a:lnTo>
                  <a:lnTo>
                    <a:pt x="189918" y="31177"/>
                  </a:lnTo>
                  <a:lnTo>
                    <a:pt x="189547" y="40021"/>
                  </a:lnTo>
                  <a:lnTo>
                    <a:pt x="189168" y="42663"/>
                  </a:lnTo>
                  <a:close/>
                </a:path>
                <a:path w="657225" h="182244">
                  <a:moveTo>
                    <a:pt x="234169" y="107973"/>
                  </a:moveTo>
                  <a:lnTo>
                    <a:pt x="204184" y="107973"/>
                  </a:lnTo>
                  <a:lnTo>
                    <a:pt x="192730" y="62074"/>
                  </a:lnTo>
                  <a:lnTo>
                    <a:pt x="190232" y="50320"/>
                  </a:lnTo>
                  <a:lnTo>
                    <a:pt x="189168" y="42663"/>
                  </a:lnTo>
                  <a:lnTo>
                    <a:pt x="189550" y="39951"/>
                  </a:lnTo>
                  <a:lnTo>
                    <a:pt x="189911" y="31103"/>
                  </a:lnTo>
                  <a:lnTo>
                    <a:pt x="189184" y="23788"/>
                  </a:lnTo>
                  <a:lnTo>
                    <a:pt x="212377" y="23788"/>
                  </a:lnTo>
                  <a:lnTo>
                    <a:pt x="234169" y="107973"/>
                  </a:lnTo>
                  <a:close/>
                </a:path>
                <a:path w="657225" h="182244">
                  <a:moveTo>
                    <a:pt x="252658" y="179395"/>
                  </a:moveTo>
                  <a:lnTo>
                    <a:pt x="221872" y="179395"/>
                  </a:lnTo>
                  <a:lnTo>
                    <a:pt x="210845" y="134896"/>
                  </a:lnTo>
                  <a:lnTo>
                    <a:pt x="241139" y="134896"/>
                  </a:lnTo>
                  <a:lnTo>
                    <a:pt x="252658" y="179395"/>
                  </a:lnTo>
                  <a:close/>
                </a:path>
                <a:path w="657225" h="182244">
                  <a:moveTo>
                    <a:pt x="385196" y="179395"/>
                  </a:moveTo>
                  <a:lnTo>
                    <a:pt x="279406" y="179395"/>
                  </a:lnTo>
                  <a:lnTo>
                    <a:pt x="279406" y="2518"/>
                  </a:lnTo>
                  <a:lnTo>
                    <a:pt x="309576" y="2518"/>
                  </a:lnTo>
                  <a:lnTo>
                    <a:pt x="309576" y="151073"/>
                  </a:lnTo>
                  <a:lnTo>
                    <a:pt x="385196" y="151073"/>
                  </a:lnTo>
                  <a:lnTo>
                    <a:pt x="385196" y="179395"/>
                  </a:lnTo>
                  <a:close/>
                </a:path>
                <a:path w="657225" h="182244">
                  <a:moveTo>
                    <a:pt x="515804" y="153815"/>
                  </a:moveTo>
                  <a:lnTo>
                    <a:pt x="473329" y="153815"/>
                  </a:lnTo>
                  <a:lnTo>
                    <a:pt x="479766" y="151856"/>
                  </a:lnTo>
                  <a:lnTo>
                    <a:pt x="488647" y="143983"/>
                  </a:lnTo>
                  <a:lnTo>
                    <a:pt x="490868" y="138516"/>
                  </a:lnTo>
                  <a:lnTo>
                    <a:pt x="490868" y="125866"/>
                  </a:lnTo>
                  <a:lnTo>
                    <a:pt x="489338" y="120921"/>
                  </a:lnTo>
                  <a:lnTo>
                    <a:pt x="483218" y="112488"/>
                  </a:lnTo>
                  <a:lnTo>
                    <a:pt x="478908" y="109540"/>
                  </a:lnTo>
                  <a:lnTo>
                    <a:pt x="473348" y="107861"/>
                  </a:lnTo>
                  <a:lnTo>
                    <a:pt x="450678" y="100752"/>
                  </a:lnTo>
                  <a:lnTo>
                    <a:pt x="417314" y="74490"/>
                  </a:lnTo>
                  <a:lnTo>
                    <a:pt x="411553" y="49480"/>
                  </a:lnTo>
                  <a:lnTo>
                    <a:pt x="411976" y="42365"/>
                  </a:lnTo>
                  <a:lnTo>
                    <a:pt x="431539" y="9609"/>
                  </a:lnTo>
                  <a:lnTo>
                    <a:pt x="465344" y="0"/>
                  </a:lnTo>
                  <a:lnTo>
                    <a:pt x="476713" y="850"/>
                  </a:lnTo>
                  <a:lnTo>
                    <a:pt x="510283" y="21235"/>
                  </a:lnTo>
                  <a:lnTo>
                    <a:pt x="513606" y="27874"/>
                  </a:lnTo>
                  <a:lnTo>
                    <a:pt x="457470" y="27874"/>
                  </a:lnTo>
                  <a:lnTo>
                    <a:pt x="451648" y="29628"/>
                  </a:lnTo>
                  <a:lnTo>
                    <a:pt x="443663" y="36606"/>
                  </a:lnTo>
                  <a:lnTo>
                    <a:pt x="441667" y="41439"/>
                  </a:lnTo>
                  <a:lnTo>
                    <a:pt x="441667" y="53454"/>
                  </a:lnTo>
                  <a:lnTo>
                    <a:pt x="443196" y="58473"/>
                  </a:lnTo>
                  <a:lnTo>
                    <a:pt x="449316" y="66870"/>
                  </a:lnTo>
                  <a:lnTo>
                    <a:pt x="453794" y="69892"/>
                  </a:lnTo>
                  <a:lnTo>
                    <a:pt x="482639" y="79090"/>
                  </a:lnTo>
                  <a:lnTo>
                    <a:pt x="491228" y="82456"/>
                  </a:lnTo>
                  <a:lnTo>
                    <a:pt x="518505" y="113724"/>
                  </a:lnTo>
                  <a:lnTo>
                    <a:pt x="521038" y="131090"/>
                  </a:lnTo>
                  <a:lnTo>
                    <a:pt x="520590" y="138304"/>
                  </a:lnTo>
                  <a:lnTo>
                    <a:pt x="519246" y="145111"/>
                  </a:lnTo>
                  <a:lnTo>
                    <a:pt x="517007" y="151513"/>
                  </a:lnTo>
                  <a:lnTo>
                    <a:pt x="515804" y="153815"/>
                  </a:lnTo>
                  <a:close/>
                </a:path>
                <a:path w="657225" h="182244">
                  <a:moveTo>
                    <a:pt x="519078" y="54462"/>
                  </a:moveTo>
                  <a:lnTo>
                    <a:pt x="488796" y="54462"/>
                  </a:lnTo>
                  <a:lnTo>
                    <a:pt x="488796" y="44387"/>
                  </a:lnTo>
                  <a:lnTo>
                    <a:pt x="486781" y="37446"/>
                  </a:lnTo>
                  <a:lnTo>
                    <a:pt x="482751" y="33640"/>
                  </a:lnTo>
                  <a:lnTo>
                    <a:pt x="478759" y="29796"/>
                  </a:lnTo>
                  <a:lnTo>
                    <a:pt x="472881" y="27874"/>
                  </a:lnTo>
                  <a:lnTo>
                    <a:pt x="513606" y="27874"/>
                  </a:lnTo>
                  <a:lnTo>
                    <a:pt x="514964" y="30589"/>
                  </a:lnTo>
                  <a:lnTo>
                    <a:pt x="517836" y="41439"/>
                  </a:lnTo>
                  <a:lnTo>
                    <a:pt x="517960" y="42365"/>
                  </a:lnTo>
                  <a:lnTo>
                    <a:pt x="519078" y="54462"/>
                  </a:lnTo>
                  <a:close/>
                </a:path>
                <a:path w="657225" h="182244">
                  <a:moveTo>
                    <a:pt x="464896" y="181690"/>
                  </a:moveTo>
                  <a:lnTo>
                    <a:pt x="423027" y="168145"/>
                  </a:lnTo>
                  <a:lnTo>
                    <a:pt x="406851" y="126332"/>
                  </a:lnTo>
                  <a:lnTo>
                    <a:pt x="437133" y="126332"/>
                  </a:lnTo>
                  <a:lnTo>
                    <a:pt x="437133" y="136594"/>
                  </a:lnTo>
                  <a:lnTo>
                    <a:pt x="439483" y="143740"/>
                  </a:lnTo>
                  <a:lnTo>
                    <a:pt x="448924" y="151800"/>
                  </a:lnTo>
                  <a:lnTo>
                    <a:pt x="455828" y="153815"/>
                  </a:lnTo>
                  <a:lnTo>
                    <a:pt x="515804" y="153815"/>
                  </a:lnTo>
                  <a:lnTo>
                    <a:pt x="513873" y="157510"/>
                  </a:lnTo>
                  <a:lnTo>
                    <a:pt x="480302" y="180123"/>
                  </a:lnTo>
                  <a:lnTo>
                    <a:pt x="472819" y="181298"/>
                  </a:lnTo>
                  <a:lnTo>
                    <a:pt x="464896" y="181690"/>
                  </a:lnTo>
                  <a:close/>
                </a:path>
                <a:path w="657225" h="182244">
                  <a:moveTo>
                    <a:pt x="656599" y="179395"/>
                  </a:moveTo>
                  <a:lnTo>
                    <a:pt x="550808" y="179395"/>
                  </a:lnTo>
                  <a:lnTo>
                    <a:pt x="550808" y="2518"/>
                  </a:lnTo>
                  <a:lnTo>
                    <a:pt x="656599" y="2518"/>
                  </a:lnTo>
                  <a:lnTo>
                    <a:pt x="656599" y="30617"/>
                  </a:lnTo>
                  <a:lnTo>
                    <a:pt x="580698" y="30617"/>
                  </a:lnTo>
                  <a:lnTo>
                    <a:pt x="580698" y="73101"/>
                  </a:lnTo>
                  <a:lnTo>
                    <a:pt x="648594" y="73101"/>
                  </a:lnTo>
                  <a:lnTo>
                    <a:pt x="648594" y="101200"/>
                  </a:lnTo>
                  <a:lnTo>
                    <a:pt x="580698" y="101200"/>
                  </a:lnTo>
                  <a:lnTo>
                    <a:pt x="580698" y="151296"/>
                  </a:lnTo>
                  <a:lnTo>
                    <a:pt x="656599" y="151296"/>
                  </a:lnTo>
                  <a:lnTo>
                    <a:pt x="656599" y="179395"/>
                  </a:lnTo>
                  <a:close/>
                </a:path>
              </a:pathLst>
            </a:custGeom>
            <a:solidFill>
              <a:srgbClr val="BE2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6"/>
          <p:cNvSpPr txBox="1"/>
          <p:nvPr/>
        </p:nvSpPr>
        <p:spPr>
          <a:xfrm>
            <a:off x="374814" y="1247930"/>
            <a:ext cx="6108179" cy="1299202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&lt;-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auto.arima(cafe,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xreg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fourier(cafe,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K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),</a:t>
            </a:r>
            <a:endParaRPr lang="en-US"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lang="en-US"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              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seasonal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FALSE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lambda </a:t>
            </a:r>
            <a:r>
              <a:rPr sz="1400" dirty="0" smtClean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-10" dirty="0" smtClean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E2F72"/>
                </a:solidFill>
                <a:latin typeface="Courier New"/>
                <a:cs typeface="Courier New"/>
              </a:rPr>
              <a:t>0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  <a:p>
            <a:pPr marL="424815" marR="5080" indent="-412750">
              <a:lnSpc>
                <a:spcPct val="141800"/>
              </a:lnSpc>
              <a:tabLst>
                <a:tab pos="3584575" algn="l"/>
              </a:tabLst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%&gt;%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forecast(xreg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fourier(cafe,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K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h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24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))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%&gt;% </a:t>
            </a:r>
            <a:r>
              <a:rPr sz="1400" spc="-106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endParaRPr lang="en-US" sz="1400" spc="-1065" dirty="0" smtClean="0">
              <a:solidFill>
                <a:srgbClr val="04182D"/>
              </a:solidFill>
              <a:latin typeface="Courier New"/>
              <a:cs typeface="Courier New"/>
            </a:endParaRPr>
          </a:p>
          <a:p>
            <a:pPr marL="424815" marR="5080" indent="-412750">
              <a:lnSpc>
                <a:spcPct val="141800"/>
              </a:lnSpc>
              <a:tabLst>
                <a:tab pos="3584575" algn="l"/>
              </a:tabLst>
            </a:pPr>
            <a:r>
              <a:rPr sz="1400" spc="-5" dirty="0" err="1" smtClean="0">
                <a:solidFill>
                  <a:srgbClr val="04182D"/>
                </a:solidFill>
                <a:latin typeface="Courier New"/>
                <a:cs typeface="Courier New"/>
              </a:rPr>
              <a:t>autoplot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()</a:t>
            </a:r>
            <a:r>
              <a:rPr sz="1400" spc="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400" spc="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 err="1" smtClean="0">
                <a:solidFill>
                  <a:srgbClr val="04182D"/>
                </a:solidFill>
                <a:latin typeface="Courier New"/>
                <a:cs typeface="Courier New"/>
              </a:rPr>
              <a:t>ylim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1400" spc="-5" dirty="0" smtClean="0">
                <a:solidFill>
                  <a:srgbClr val="BE2F72"/>
                </a:solidFill>
                <a:latin typeface="Courier New"/>
                <a:cs typeface="Courier New"/>
              </a:rPr>
              <a:t>1.6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lang="en-US"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 smtClean="0">
                <a:solidFill>
                  <a:srgbClr val="BE2F72"/>
                </a:solidFill>
                <a:latin typeface="Courier New"/>
                <a:cs typeface="Courier New"/>
              </a:rPr>
              <a:t>5.1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949697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283380" y="1097674"/>
            <a:ext cx="109950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 smtClean="0"/>
              <a:t>E</a:t>
            </a:r>
            <a:r>
              <a:rPr lang="en-US" sz="1800" dirty="0" smtClean="0">
                <a:latin typeface="Lucida Sans Unicode"/>
                <a:cs typeface="Lucida Sans Unicode"/>
              </a:rPr>
              <a:t>X</a:t>
            </a:r>
            <a:r>
              <a:rPr lang="en-US" sz="1800" dirty="0" smtClean="0"/>
              <a:t>AMPLE</a:t>
            </a:r>
            <a:r>
              <a:rPr lang="en-US" sz="1800" dirty="0" smtClean="0">
                <a:latin typeface="Lucida Sans Unicode"/>
                <a:cs typeface="Lucida Sans Unicode"/>
              </a:rPr>
              <a:t>: </a:t>
            </a:r>
            <a:r>
              <a:rPr lang="en-US" sz="1800" dirty="0" smtClean="0"/>
              <a:t>A</a:t>
            </a:r>
            <a:r>
              <a:rPr lang="en-US" sz="1800" dirty="0" smtClean="0">
                <a:latin typeface="Lucida Sans Unicode"/>
                <a:cs typeface="Lucida Sans Unicode"/>
              </a:rPr>
              <a:t>U</a:t>
            </a:r>
            <a:r>
              <a:rPr lang="en-US" sz="1800" dirty="0" smtClean="0"/>
              <a:t>STRALIAN CAFE E</a:t>
            </a:r>
            <a:r>
              <a:rPr lang="en-US" sz="1800" dirty="0" smtClean="0">
                <a:latin typeface="Lucida Sans Unicode"/>
                <a:cs typeface="Lucida Sans Unicode"/>
              </a:rPr>
              <a:t>X</a:t>
            </a:r>
            <a:r>
              <a:rPr lang="en-US" sz="1800" dirty="0" smtClean="0"/>
              <a:t>PENDIT</a:t>
            </a:r>
            <a:r>
              <a:rPr lang="en-US" sz="1800" dirty="0" smtClean="0">
                <a:latin typeface="Lucida Sans Unicode"/>
                <a:cs typeface="Lucida Sans Unicode"/>
              </a:rPr>
              <a:t>U</a:t>
            </a:r>
            <a:r>
              <a:rPr lang="en-US" sz="1800" dirty="0" smtClean="0"/>
              <a:t>RE</a:t>
            </a:r>
            <a:endParaRPr lang="en-US" sz="1800" dirty="0"/>
          </a:p>
        </p:txBody>
      </p:sp>
      <p:grpSp>
        <p:nvGrpSpPr>
          <p:cNvPr id="18" name="object 3"/>
          <p:cNvGrpSpPr/>
          <p:nvPr/>
        </p:nvGrpSpPr>
        <p:grpSpPr>
          <a:xfrm>
            <a:off x="289038" y="1384565"/>
            <a:ext cx="6575460" cy="1092540"/>
            <a:chOff x="491289" y="1166812"/>
            <a:chExt cx="9887585" cy="1822450"/>
          </a:xfrm>
        </p:grpSpPr>
        <p:sp>
          <p:nvSpPr>
            <p:cNvPr id="19" name="object 4"/>
            <p:cNvSpPr/>
            <p:nvPr/>
          </p:nvSpPr>
          <p:spPr>
            <a:xfrm>
              <a:off x="491289" y="1166812"/>
              <a:ext cx="9887585" cy="1822450"/>
            </a:xfrm>
            <a:custGeom>
              <a:avLst/>
              <a:gdLst/>
              <a:ahLst/>
              <a:cxnLst/>
              <a:rect l="l" t="t" r="r" b="b"/>
              <a:pathLst>
                <a:path w="9887585" h="1822450">
                  <a:moveTo>
                    <a:pt x="9810694" y="1821864"/>
                  </a:moveTo>
                  <a:lnTo>
                    <a:pt x="76505" y="1821864"/>
                  </a:lnTo>
                  <a:lnTo>
                    <a:pt x="71180" y="1821340"/>
                  </a:lnTo>
                  <a:lnTo>
                    <a:pt x="31920" y="1805077"/>
                  </a:lnTo>
                  <a:lnTo>
                    <a:pt x="4175" y="1766350"/>
                  </a:lnTo>
                  <a:lnTo>
                    <a:pt x="0" y="1745359"/>
                  </a:lnTo>
                  <a:lnTo>
                    <a:pt x="0" y="1739983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1745359"/>
                  </a:lnTo>
                  <a:lnTo>
                    <a:pt x="9870412" y="1789944"/>
                  </a:lnTo>
                  <a:lnTo>
                    <a:pt x="9831684" y="1817689"/>
                  </a:lnTo>
                  <a:lnTo>
                    <a:pt x="9816018" y="1821340"/>
                  </a:lnTo>
                  <a:lnTo>
                    <a:pt x="9810694" y="1821864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5"/>
            <p:cNvSpPr/>
            <p:nvPr/>
          </p:nvSpPr>
          <p:spPr>
            <a:xfrm>
              <a:off x="4628571" y="1765291"/>
              <a:ext cx="657225" cy="182245"/>
            </a:xfrm>
            <a:custGeom>
              <a:avLst/>
              <a:gdLst/>
              <a:ahLst/>
              <a:cxnLst/>
              <a:rect l="l" t="t" r="r" b="b"/>
              <a:pathLst>
                <a:path w="657225" h="182244">
                  <a:moveTo>
                    <a:pt x="30169" y="179395"/>
                  </a:moveTo>
                  <a:lnTo>
                    <a:pt x="0" y="179395"/>
                  </a:lnTo>
                  <a:lnTo>
                    <a:pt x="0" y="2294"/>
                  </a:lnTo>
                  <a:lnTo>
                    <a:pt x="108085" y="2294"/>
                  </a:lnTo>
                  <a:lnTo>
                    <a:pt x="108085" y="30617"/>
                  </a:lnTo>
                  <a:lnTo>
                    <a:pt x="29721" y="30617"/>
                  </a:lnTo>
                  <a:lnTo>
                    <a:pt x="29721" y="77019"/>
                  </a:lnTo>
                  <a:lnTo>
                    <a:pt x="102151" y="77019"/>
                  </a:lnTo>
                  <a:lnTo>
                    <a:pt x="102151" y="105342"/>
                  </a:lnTo>
                  <a:lnTo>
                    <a:pt x="30169" y="105342"/>
                  </a:lnTo>
                  <a:lnTo>
                    <a:pt x="30169" y="179395"/>
                  </a:lnTo>
                  <a:close/>
                </a:path>
                <a:path w="657225" h="182244">
                  <a:moveTo>
                    <a:pt x="156719" y="179395"/>
                  </a:moveTo>
                  <a:lnTo>
                    <a:pt x="125709" y="179395"/>
                  </a:lnTo>
                  <a:lnTo>
                    <a:pt x="171719" y="2518"/>
                  </a:lnTo>
                  <a:lnTo>
                    <a:pt x="206871" y="2518"/>
                  </a:lnTo>
                  <a:lnTo>
                    <a:pt x="212377" y="23788"/>
                  </a:lnTo>
                  <a:lnTo>
                    <a:pt x="189184" y="23788"/>
                  </a:lnTo>
                  <a:lnTo>
                    <a:pt x="188445" y="31177"/>
                  </a:lnTo>
                  <a:lnTo>
                    <a:pt x="188802" y="40021"/>
                  </a:lnTo>
                  <a:lnTo>
                    <a:pt x="189168" y="42663"/>
                  </a:lnTo>
                  <a:lnTo>
                    <a:pt x="188069" y="50330"/>
                  </a:lnTo>
                  <a:lnTo>
                    <a:pt x="185448" y="62242"/>
                  </a:lnTo>
                  <a:lnTo>
                    <a:pt x="174182" y="107973"/>
                  </a:lnTo>
                  <a:lnTo>
                    <a:pt x="234169" y="107973"/>
                  </a:lnTo>
                  <a:lnTo>
                    <a:pt x="241139" y="134896"/>
                  </a:lnTo>
                  <a:lnTo>
                    <a:pt x="167689" y="134896"/>
                  </a:lnTo>
                  <a:lnTo>
                    <a:pt x="156719" y="179395"/>
                  </a:lnTo>
                  <a:close/>
                </a:path>
                <a:path w="657225" h="182244">
                  <a:moveTo>
                    <a:pt x="189168" y="42663"/>
                  </a:moveTo>
                  <a:lnTo>
                    <a:pt x="188792" y="39951"/>
                  </a:lnTo>
                  <a:lnTo>
                    <a:pt x="188442" y="31103"/>
                  </a:lnTo>
                  <a:lnTo>
                    <a:pt x="189184" y="23788"/>
                  </a:lnTo>
                  <a:lnTo>
                    <a:pt x="189918" y="31177"/>
                  </a:lnTo>
                  <a:lnTo>
                    <a:pt x="189547" y="40021"/>
                  </a:lnTo>
                  <a:lnTo>
                    <a:pt x="189168" y="42663"/>
                  </a:lnTo>
                  <a:close/>
                </a:path>
                <a:path w="657225" h="182244">
                  <a:moveTo>
                    <a:pt x="234169" y="107973"/>
                  </a:moveTo>
                  <a:lnTo>
                    <a:pt x="204184" y="107973"/>
                  </a:lnTo>
                  <a:lnTo>
                    <a:pt x="192730" y="62074"/>
                  </a:lnTo>
                  <a:lnTo>
                    <a:pt x="190232" y="50320"/>
                  </a:lnTo>
                  <a:lnTo>
                    <a:pt x="189168" y="42663"/>
                  </a:lnTo>
                  <a:lnTo>
                    <a:pt x="189550" y="39951"/>
                  </a:lnTo>
                  <a:lnTo>
                    <a:pt x="189911" y="31103"/>
                  </a:lnTo>
                  <a:lnTo>
                    <a:pt x="189184" y="23788"/>
                  </a:lnTo>
                  <a:lnTo>
                    <a:pt x="212377" y="23788"/>
                  </a:lnTo>
                  <a:lnTo>
                    <a:pt x="234169" y="107973"/>
                  </a:lnTo>
                  <a:close/>
                </a:path>
                <a:path w="657225" h="182244">
                  <a:moveTo>
                    <a:pt x="252658" y="179395"/>
                  </a:moveTo>
                  <a:lnTo>
                    <a:pt x="221872" y="179395"/>
                  </a:lnTo>
                  <a:lnTo>
                    <a:pt x="210845" y="134896"/>
                  </a:lnTo>
                  <a:lnTo>
                    <a:pt x="241139" y="134896"/>
                  </a:lnTo>
                  <a:lnTo>
                    <a:pt x="252658" y="179395"/>
                  </a:lnTo>
                  <a:close/>
                </a:path>
                <a:path w="657225" h="182244">
                  <a:moveTo>
                    <a:pt x="385196" y="179395"/>
                  </a:moveTo>
                  <a:lnTo>
                    <a:pt x="279406" y="179395"/>
                  </a:lnTo>
                  <a:lnTo>
                    <a:pt x="279406" y="2518"/>
                  </a:lnTo>
                  <a:lnTo>
                    <a:pt x="309576" y="2518"/>
                  </a:lnTo>
                  <a:lnTo>
                    <a:pt x="309576" y="151073"/>
                  </a:lnTo>
                  <a:lnTo>
                    <a:pt x="385196" y="151073"/>
                  </a:lnTo>
                  <a:lnTo>
                    <a:pt x="385196" y="179395"/>
                  </a:lnTo>
                  <a:close/>
                </a:path>
                <a:path w="657225" h="182244">
                  <a:moveTo>
                    <a:pt x="515804" y="153815"/>
                  </a:moveTo>
                  <a:lnTo>
                    <a:pt x="473329" y="153815"/>
                  </a:lnTo>
                  <a:lnTo>
                    <a:pt x="479766" y="151856"/>
                  </a:lnTo>
                  <a:lnTo>
                    <a:pt x="488647" y="143983"/>
                  </a:lnTo>
                  <a:lnTo>
                    <a:pt x="490868" y="138516"/>
                  </a:lnTo>
                  <a:lnTo>
                    <a:pt x="490868" y="125866"/>
                  </a:lnTo>
                  <a:lnTo>
                    <a:pt x="489338" y="120921"/>
                  </a:lnTo>
                  <a:lnTo>
                    <a:pt x="483218" y="112488"/>
                  </a:lnTo>
                  <a:lnTo>
                    <a:pt x="478908" y="109540"/>
                  </a:lnTo>
                  <a:lnTo>
                    <a:pt x="473348" y="107861"/>
                  </a:lnTo>
                  <a:lnTo>
                    <a:pt x="450678" y="100752"/>
                  </a:lnTo>
                  <a:lnTo>
                    <a:pt x="417314" y="74490"/>
                  </a:lnTo>
                  <a:lnTo>
                    <a:pt x="411553" y="49480"/>
                  </a:lnTo>
                  <a:lnTo>
                    <a:pt x="411976" y="42365"/>
                  </a:lnTo>
                  <a:lnTo>
                    <a:pt x="431539" y="9609"/>
                  </a:lnTo>
                  <a:lnTo>
                    <a:pt x="465344" y="0"/>
                  </a:lnTo>
                  <a:lnTo>
                    <a:pt x="476713" y="850"/>
                  </a:lnTo>
                  <a:lnTo>
                    <a:pt x="510283" y="21235"/>
                  </a:lnTo>
                  <a:lnTo>
                    <a:pt x="513606" y="27874"/>
                  </a:lnTo>
                  <a:lnTo>
                    <a:pt x="457470" y="27874"/>
                  </a:lnTo>
                  <a:lnTo>
                    <a:pt x="451648" y="29628"/>
                  </a:lnTo>
                  <a:lnTo>
                    <a:pt x="443663" y="36606"/>
                  </a:lnTo>
                  <a:lnTo>
                    <a:pt x="441667" y="41439"/>
                  </a:lnTo>
                  <a:lnTo>
                    <a:pt x="441667" y="53454"/>
                  </a:lnTo>
                  <a:lnTo>
                    <a:pt x="443196" y="58473"/>
                  </a:lnTo>
                  <a:lnTo>
                    <a:pt x="449316" y="66870"/>
                  </a:lnTo>
                  <a:lnTo>
                    <a:pt x="453794" y="69892"/>
                  </a:lnTo>
                  <a:lnTo>
                    <a:pt x="482639" y="79090"/>
                  </a:lnTo>
                  <a:lnTo>
                    <a:pt x="491228" y="82456"/>
                  </a:lnTo>
                  <a:lnTo>
                    <a:pt x="518505" y="113724"/>
                  </a:lnTo>
                  <a:lnTo>
                    <a:pt x="521038" y="131090"/>
                  </a:lnTo>
                  <a:lnTo>
                    <a:pt x="520590" y="138304"/>
                  </a:lnTo>
                  <a:lnTo>
                    <a:pt x="519246" y="145111"/>
                  </a:lnTo>
                  <a:lnTo>
                    <a:pt x="517007" y="151513"/>
                  </a:lnTo>
                  <a:lnTo>
                    <a:pt x="515804" y="153815"/>
                  </a:lnTo>
                  <a:close/>
                </a:path>
                <a:path w="657225" h="182244">
                  <a:moveTo>
                    <a:pt x="519078" y="54462"/>
                  </a:moveTo>
                  <a:lnTo>
                    <a:pt x="488796" y="54462"/>
                  </a:lnTo>
                  <a:lnTo>
                    <a:pt x="488796" y="44387"/>
                  </a:lnTo>
                  <a:lnTo>
                    <a:pt x="486781" y="37446"/>
                  </a:lnTo>
                  <a:lnTo>
                    <a:pt x="482751" y="33640"/>
                  </a:lnTo>
                  <a:lnTo>
                    <a:pt x="478759" y="29796"/>
                  </a:lnTo>
                  <a:lnTo>
                    <a:pt x="472881" y="27874"/>
                  </a:lnTo>
                  <a:lnTo>
                    <a:pt x="513606" y="27874"/>
                  </a:lnTo>
                  <a:lnTo>
                    <a:pt x="514964" y="30589"/>
                  </a:lnTo>
                  <a:lnTo>
                    <a:pt x="517836" y="41439"/>
                  </a:lnTo>
                  <a:lnTo>
                    <a:pt x="517960" y="42365"/>
                  </a:lnTo>
                  <a:lnTo>
                    <a:pt x="519078" y="54462"/>
                  </a:lnTo>
                  <a:close/>
                </a:path>
                <a:path w="657225" h="182244">
                  <a:moveTo>
                    <a:pt x="464896" y="181690"/>
                  </a:moveTo>
                  <a:lnTo>
                    <a:pt x="423027" y="168145"/>
                  </a:lnTo>
                  <a:lnTo>
                    <a:pt x="406851" y="126332"/>
                  </a:lnTo>
                  <a:lnTo>
                    <a:pt x="437133" y="126332"/>
                  </a:lnTo>
                  <a:lnTo>
                    <a:pt x="437133" y="136594"/>
                  </a:lnTo>
                  <a:lnTo>
                    <a:pt x="439483" y="143740"/>
                  </a:lnTo>
                  <a:lnTo>
                    <a:pt x="448924" y="151800"/>
                  </a:lnTo>
                  <a:lnTo>
                    <a:pt x="455828" y="153815"/>
                  </a:lnTo>
                  <a:lnTo>
                    <a:pt x="515804" y="153815"/>
                  </a:lnTo>
                  <a:lnTo>
                    <a:pt x="513873" y="157510"/>
                  </a:lnTo>
                  <a:lnTo>
                    <a:pt x="480302" y="180123"/>
                  </a:lnTo>
                  <a:lnTo>
                    <a:pt x="472819" y="181298"/>
                  </a:lnTo>
                  <a:lnTo>
                    <a:pt x="464896" y="181690"/>
                  </a:lnTo>
                  <a:close/>
                </a:path>
                <a:path w="657225" h="182244">
                  <a:moveTo>
                    <a:pt x="656599" y="179395"/>
                  </a:moveTo>
                  <a:lnTo>
                    <a:pt x="550808" y="179395"/>
                  </a:lnTo>
                  <a:lnTo>
                    <a:pt x="550808" y="2518"/>
                  </a:lnTo>
                  <a:lnTo>
                    <a:pt x="656599" y="2518"/>
                  </a:lnTo>
                  <a:lnTo>
                    <a:pt x="656599" y="30617"/>
                  </a:lnTo>
                  <a:lnTo>
                    <a:pt x="580698" y="30617"/>
                  </a:lnTo>
                  <a:lnTo>
                    <a:pt x="580698" y="73101"/>
                  </a:lnTo>
                  <a:lnTo>
                    <a:pt x="648594" y="73101"/>
                  </a:lnTo>
                  <a:lnTo>
                    <a:pt x="648594" y="101200"/>
                  </a:lnTo>
                  <a:lnTo>
                    <a:pt x="580698" y="101200"/>
                  </a:lnTo>
                  <a:lnTo>
                    <a:pt x="580698" y="151296"/>
                  </a:lnTo>
                  <a:lnTo>
                    <a:pt x="656599" y="151296"/>
                  </a:lnTo>
                  <a:lnTo>
                    <a:pt x="656599" y="179395"/>
                  </a:lnTo>
                  <a:close/>
                </a:path>
              </a:pathLst>
            </a:custGeom>
            <a:solidFill>
              <a:srgbClr val="BE2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6"/>
          <p:cNvSpPr txBox="1"/>
          <p:nvPr/>
        </p:nvSpPr>
        <p:spPr>
          <a:xfrm>
            <a:off x="374814" y="1247930"/>
            <a:ext cx="6108179" cy="1299202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&lt;-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auto.arima(cafe,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xreg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fourier(cafe,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K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),</a:t>
            </a:r>
            <a:endParaRPr lang="en-US"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lang="en-US"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              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seasonal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FALSE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lambda </a:t>
            </a:r>
            <a:r>
              <a:rPr sz="1400" dirty="0" smtClean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-10" dirty="0" smtClean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E2F72"/>
                </a:solidFill>
                <a:latin typeface="Courier New"/>
                <a:cs typeface="Courier New"/>
              </a:rPr>
              <a:t>0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  <a:p>
            <a:pPr marL="424815" marR="5080" indent="-412750">
              <a:lnSpc>
                <a:spcPct val="141800"/>
              </a:lnSpc>
              <a:tabLst>
                <a:tab pos="3584575" algn="l"/>
              </a:tabLst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%&gt;%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forecast(xreg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fourier(cafe,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K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h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24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))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%&gt;% </a:t>
            </a:r>
            <a:r>
              <a:rPr sz="1400" spc="-106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endParaRPr lang="en-US" sz="1400" spc="-1065" dirty="0" smtClean="0">
              <a:solidFill>
                <a:srgbClr val="04182D"/>
              </a:solidFill>
              <a:latin typeface="Courier New"/>
              <a:cs typeface="Courier New"/>
            </a:endParaRPr>
          </a:p>
          <a:p>
            <a:pPr marL="424815" marR="5080" indent="-412750">
              <a:lnSpc>
                <a:spcPct val="141800"/>
              </a:lnSpc>
              <a:tabLst>
                <a:tab pos="3584575" algn="l"/>
              </a:tabLst>
            </a:pPr>
            <a:r>
              <a:rPr sz="1400" spc="-5" dirty="0" err="1" smtClean="0">
                <a:solidFill>
                  <a:srgbClr val="04182D"/>
                </a:solidFill>
                <a:latin typeface="Courier New"/>
                <a:cs typeface="Courier New"/>
              </a:rPr>
              <a:t>autoplot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()</a:t>
            </a:r>
            <a:r>
              <a:rPr sz="1400" spc="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400" spc="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 err="1" smtClean="0">
                <a:solidFill>
                  <a:srgbClr val="04182D"/>
                </a:solidFill>
                <a:latin typeface="Courier New"/>
                <a:cs typeface="Courier New"/>
              </a:rPr>
              <a:t>ylim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1400" spc="-5" dirty="0" smtClean="0">
                <a:solidFill>
                  <a:srgbClr val="BE2F72"/>
                </a:solidFill>
                <a:latin typeface="Courier New"/>
                <a:cs typeface="Courier New"/>
              </a:rPr>
              <a:t>1.6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lang="en-US"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 smtClean="0">
                <a:solidFill>
                  <a:srgbClr val="BE2F72"/>
                </a:solidFill>
                <a:latin typeface="Courier New"/>
                <a:cs typeface="Courier New"/>
              </a:rPr>
              <a:t>5.1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10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038" y="2547131"/>
            <a:ext cx="6039843" cy="229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825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283380" y="1097674"/>
            <a:ext cx="109950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 smtClean="0"/>
              <a:t>E</a:t>
            </a:r>
            <a:r>
              <a:rPr lang="en-US" sz="1800" dirty="0" smtClean="0">
                <a:latin typeface="Lucida Sans Unicode"/>
                <a:cs typeface="Lucida Sans Unicode"/>
              </a:rPr>
              <a:t>X</a:t>
            </a:r>
            <a:r>
              <a:rPr lang="en-US" sz="1800" dirty="0" smtClean="0"/>
              <a:t>AMPLE</a:t>
            </a:r>
            <a:r>
              <a:rPr lang="en-US" sz="1800" dirty="0" smtClean="0">
                <a:latin typeface="Lucida Sans Unicode"/>
                <a:cs typeface="Lucida Sans Unicode"/>
              </a:rPr>
              <a:t>: </a:t>
            </a:r>
            <a:r>
              <a:rPr lang="en-US" sz="1800" dirty="0" smtClean="0"/>
              <a:t>A</a:t>
            </a:r>
            <a:r>
              <a:rPr lang="en-US" sz="1800" dirty="0" smtClean="0">
                <a:latin typeface="Lucida Sans Unicode"/>
                <a:cs typeface="Lucida Sans Unicode"/>
              </a:rPr>
              <a:t>U</a:t>
            </a:r>
            <a:r>
              <a:rPr lang="en-US" sz="1800" dirty="0" smtClean="0"/>
              <a:t>STRALIAN CAFE E</a:t>
            </a:r>
            <a:r>
              <a:rPr lang="en-US" sz="1800" dirty="0" smtClean="0">
                <a:latin typeface="Lucida Sans Unicode"/>
                <a:cs typeface="Lucida Sans Unicode"/>
              </a:rPr>
              <a:t>X</a:t>
            </a:r>
            <a:r>
              <a:rPr lang="en-US" sz="1800" dirty="0" smtClean="0"/>
              <a:t>PENDIT</a:t>
            </a:r>
            <a:r>
              <a:rPr lang="en-US" sz="1800" dirty="0" smtClean="0">
                <a:latin typeface="Lucida Sans Unicode"/>
                <a:cs typeface="Lucida Sans Unicode"/>
              </a:rPr>
              <a:t>U</a:t>
            </a:r>
            <a:r>
              <a:rPr lang="en-US" sz="1800" dirty="0" smtClean="0"/>
              <a:t>RE</a:t>
            </a:r>
            <a:endParaRPr lang="en-US" sz="1800" dirty="0"/>
          </a:p>
        </p:txBody>
      </p:sp>
      <p:grpSp>
        <p:nvGrpSpPr>
          <p:cNvPr id="18" name="object 3"/>
          <p:cNvGrpSpPr/>
          <p:nvPr/>
        </p:nvGrpSpPr>
        <p:grpSpPr>
          <a:xfrm>
            <a:off x="289038" y="1384565"/>
            <a:ext cx="6575460" cy="1092540"/>
            <a:chOff x="491289" y="1166812"/>
            <a:chExt cx="9887585" cy="1822450"/>
          </a:xfrm>
        </p:grpSpPr>
        <p:sp>
          <p:nvSpPr>
            <p:cNvPr id="19" name="object 4"/>
            <p:cNvSpPr/>
            <p:nvPr/>
          </p:nvSpPr>
          <p:spPr>
            <a:xfrm>
              <a:off x="491289" y="1166812"/>
              <a:ext cx="9887585" cy="1822450"/>
            </a:xfrm>
            <a:custGeom>
              <a:avLst/>
              <a:gdLst/>
              <a:ahLst/>
              <a:cxnLst/>
              <a:rect l="l" t="t" r="r" b="b"/>
              <a:pathLst>
                <a:path w="9887585" h="1822450">
                  <a:moveTo>
                    <a:pt x="9810694" y="1821864"/>
                  </a:moveTo>
                  <a:lnTo>
                    <a:pt x="76505" y="1821864"/>
                  </a:lnTo>
                  <a:lnTo>
                    <a:pt x="71180" y="1821340"/>
                  </a:lnTo>
                  <a:lnTo>
                    <a:pt x="31920" y="1805077"/>
                  </a:lnTo>
                  <a:lnTo>
                    <a:pt x="4175" y="1766350"/>
                  </a:lnTo>
                  <a:lnTo>
                    <a:pt x="0" y="1745359"/>
                  </a:lnTo>
                  <a:lnTo>
                    <a:pt x="0" y="1739983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1745359"/>
                  </a:lnTo>
                  <a:lnTo>
                    <a:pt x="9870412" y="1789944"/>
                  </a:lnTo>
                  <a:lnTo>
                    <a:pt x="9831684" y="1817689"/>
                  </a:lnTo>
                  <a:lnTo>
                    <a:pt x="9816018" y="1821340"/>
                  </a:lnTo>
                  <a:lnTo>
                    <a:pt x="9810694" y="1821864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5"/>
            <p:cNvSpPr/>
            <p:nvPr/>
          </p:nvSpPr>
          <p:spPr>
            <a:xfrm>
              <a:off x="4628571" y="1765291"/>
              <a:ext cx="657225" cy="182245"/>
            </a:xfrm>
            <a:custGeom>
              <a:avLst/>
              <a:gdLst/>
              <a:ahLst/>
              <a:cxnLst/>
              <a:rect l="l" t="t" r="r" b="b"/>
              <a:pathLst>
                <a:path w="657225" h="182244">
                  <a:moveTo>
                    <a:pt x="30169" y="179395"/>
                  </a:moveTo>
                  <a:lnTo>
                    <a:pt x="0" y="179395"/>
                  </a:lnTo>
                  <a:lnTo>
                    <a:pt x="0" y="2294"/>
                  </a:lnTo>
                  <a:lnTo>
                    <a:pt x="108085" y="2294"/>
                  </a:lnTo>
                  <a:lnTo>
                    <a:pt x="108085" y="30617"/>
                  </a:lnTo>
                  <a:lnTo>
                    <a:pt x="29721" y="30617"/>
                  </a:lnTo>
                  <a:lnTo>
                    <a:pt x="29721" y="77019"/>
                  </a:lnTo>
                  <a:lnTo>
                    <a:pt x="102151" y="77019"/>
                  </a:lnTo>
                  <a:lnTo>
                    <a:pt x="102151" y="105342"/>
                  </a:lnTo>
                  <a:lnTo>
                    <a:pt x="30169" y="105342"/>
                  </a:lnTo>
                  <a:lnTo>
                    <a:pt x="30169" y="179395"/>
                  </a:lnTo>
                  <a:close/>
                </a:path>
                <a:path w="657225" h="182244">
                  <a:moveTo>
                    <a:pt x="156719" y="179395"/>
                  </a:moveTo>
                  <a:lnTo>
                    <a:pt x="125709" y="179395"/>
                  </a:lnTo>
                  <a:lnTo>
                    <a:pt x="171719" y="2518"/>
                  </a:lnTo>
                  <a:lnTo>
                    <a:pt x="206871" y="2518"/>
                  </a:lnTo>
                  <a:lnTo>
                    <a:pt x="212377" y="23788"/>
                  </a:lnTo>
                  <a:lnTo>
                    <a:pt x="189184" y="23788"/>
                  </a:lnTo>
                  <a:lnTo>
                    <a:pt x="188445" y="31177"/>
                  </a:lnTo>
                  <a:lnTo>
                    <a:pt x="188802" y="40021"/>
                  </a:lnTo>
                  <a:lnTo>
                    <a:pt x="189168" y="42663"/>
                  </a:lnTo>
                  <a:lnTo>
                    <a:pt x="188069" y="50330"/>
                  </a:lnTo>
                  <a:lnTo>
                    <a:pt x="185448" y="62242"/>
                  </a:lnTo>
                  <a:lnTo>
                    <a:pt x="174182" y="107973"/>
                  </a:lnTo>
                  <a:lnTo>
                    <a:pt x="234169" y="107973"/>
                  </a:lnTo>
                  <a:lnTo>
                    <a:pt x="241139" y="134896"/>
                  </a:lnTo>
                  <a:lnTo>
                    <a:pt x="167689" y="134896"/>
                  </a:lnTo>
                  <a:lnTo>
                    <a:pt x="156719" y="179395"/>
                  </a:lnTo>
                  <a:close/>
                </a:path>
                <a:path w="657225" h="182244">
                  <a:moveTo>
                    <a:pt x="189168" y="42663"/>
                  </a:moveTo>
                  <a:lnTo>
                    <a:pt x="188792" y="39951"/>
                  </a:lnTo>
                  <a:lnTo>
                    <a:pt x="188442" y="31103"/>
                  </a:lnTo>
                  <a:lnTo>
                    <a:pt x="189184" y="23788"/>
                  </a:lnTo>
                  <a:lnTo>
                    <a:pt x="189918" y="31177"/>
                  </a:lnTo>
                  <a:lnTo>
                    <a:pt x="189547" y="40021"/>
                  </a:lnTo>
                  <a:lnTo>
                    <a:pt x="189168" y="42663"/>
                  </a:lnTo>
                  <a:close/>
                </a:path>
                <a:path w="657225" h="182244">
                  <a:moveTo>
                    <a:pt x="234169" y="107973"/>
                  </a:moveTo>
                  <a:lnTo>
                    <a:pt x="204184" y="107973"/>
                  </a:lnTo>
                  <a:lnTo>
                    <a:pt x="192730" y="62074"/>
                  </a:lnTo>
                  <a:lnTo>
                    <a:pt x="190232" y="50320"/>
                  </a:lnTo>
                  <a:lnTo>
                    <a:pt x="189168" y="42663"/>
                  </a:lnTo>
                  <a:lnTo>
                    <a:pt x="189550" y="39951"/>
                  </a:lnTo>
                  <a:lnTo>
                    <a:pt x="189911" y="31103"/>
                  </a:lnTo>
                  <a:lnTo>
                    <a:pt x="189184" y="23788"/>
                  </a:lnTo>
                  <a:lnTo>
                    <a:pt x="212377" y="23788"/>
                  </a:lnTo>
                  <a:lnTo>
                    <a:pt x="234169" y="107973"/>
                  </a:lnTo>
                  <a:close/>
                </a:path>
                <a:path w="657225" h="182244">
                  <a:moveTo>
                    <a:pt x="252658" y="179395"/>
                  </a:moveTo>
                  <a:lnTo>
                    <a:pt x="221872" y="179395"/>
                  </a:lnTo>
                  <a:lnTo>
                    <a:pt x="210845" y="134896"/>
                  </a:lnTo>
                  <a:lnTo>
                    <a:pt x="241139" y="134896"/>
                  </a:lnTo>
                  <a:lnTo>
                    <a:pt x="252658" y="179395"/>
                  </a:lnTo>
                  <a:close/>
                </a:path>
                <a:path w="657225" h="182244">
                  <a:moveTo>
                    <a:pt x="385196" y="179395"/>
                  </a:moveTo>
                  <a:lnTo>
                    <a:pt x="279406" y="179395"/>
                  </a:lnTo>
                  <a:lnTo>
                    <a:pt x="279406" y="2518"/>
                  </a:lnTo>
                  <a:lnTo>
                    <a:pt x="309576" y="2518"/>
                  </a:lnTo>
                  <a:lnTo>
                    <a:pt x="309576" y="151073"/>
                  </a:lnTo>
                  <a:lnTo>
                    <a:pt x="385196" y="151073"/>
                  </a:lnTo>
                  <a:lnTo>
                    <a:pt x="385196" y="179395"/>
                  </a:lnTo>
                  <a:close/>
                </a:path>
                <a:path w="657225" h="182244">
                  <a:moveTo>
                    <a:pt x="515804" y="153815"/>
                  </a:moveTo>
                  <a:lnTo>
                    <a:pt x="473329" y="153815"/>
                  </a:lnTo>
                  <a:lnTo>
                    <a:pt x="479766" y="151856"/>
                  </a:lnTo>
                  <a:lnTo>
                    <a:pt x="488647" y="143983"/>
                  </a:lnTo>
                  <a:lnTo>
                    <a:pt x="490868" y="138516"/>
                  </a:lnTo>
                  <a:lnTo>
                    <a:pt x="490868" y="125866"/>
                  </a:lnTo>
                  <a:lnTo>
                    <a:pt x="489338" y="120921"/>
                  </a:lnTo>
                  <a:lnTo>
                    <a:pt x="483218" y="112488"/>
                  </a:lnTo>
                  <a:lnTo>
                    <a:pt x="478908" y="109540"/>
                  </a:lnTo>
                  <a:lnTo>
                    <a:pt x="473348" y="107861"/>
                  </a:lnTo>
                  <a:lnTo>
                    <a:pt x="450678" y="100752"/>
                  </a:lnTo>
                  <a:lnTo>
                    <a:pt x="417314" y="74490"/>
                  </a:lnTo>
                  <a:lnTo>
                    <a:pt x="411553" y="49480"/>
                  </a:lnTo>
                  <a:lnTo>
                    <a:pt x="411976" y="42365"/>
                  </a:lnTo>
                  <a:lnTo>
                    <a:pt x="431539" y="9609"/>
                  </a:lnTo>
                  <a:lnTo>
                    <a:pt x="465344" y="0"/>
                  </a:lnTo>
                  <a:lnTo>
                    <a:pt x="476713" y="850"/>
                  </a:lnTo>
                  <a:lnTo>
                    <a:pt x="510283" y="21235"/>
                  </a:lnTo>
                  <a:lnTo>
                    <a:pt x="513606" y="27874"/>
                  </a:lnTo>
                  <a:lnTo>
                    <a:pt x="457470" y="27874"/>
                  </a:lnTo>
                  <a:lnTo>
                    <a:pt x="451648" y="29628"/>
                  </a:lnTo>
                  <a:lnTo>
                    <a:pt x="443663" y="36606"/>
                  </a:lnTo>
                  <a:lnTo>
                    <a:pt x="441667" y="41439"/>
                  </a:lnTo>
                  <a:lnTo>
                    <a:pt x="441667" y="53454"/>
                  </a:lnTo>
                  <a:lnTo>
                    <a:pt x="443196" y="58473"/>
                  </a:lnTo>
                  <a:lnTo>
                    <a:pt x="449316" y="66870"/>
                  </a:lnTo>
                  <a:lnTo>
                    <a:pt x="453794" y="69892"/>
                  </a:lnTo>
                  <a:lnTo>
                    <a:pt x="482639" y="79090"/>
                  </a:lnTo>
                  <a:lnTo>
                    <a:pt x="491228" y="82456"/>
                  </a:lnTo>
                  <a:lnTo>
                    <a:pt x="518505" y="113724"/>
                  </a:lnTo>
                  <a:lnTo>
                    <a:pt x="521038" y="131090"/>
                  </a:lnTo>
                  <a:lnTo>
                    <a:pt x="520590" y="138304"/>
                  </a:lnTo>
                  <a:lnTo>
                    <a:pt x="519246" y="145111"/>
                  </a:lnTo>
                  <a:lnTo>
                    <a:pt x="517007" y="151513"/>
                  </a:lnTo>
                  <a:lnTo>
                    <a:pt x="515804" y="153815"/>
                  </a:lnTo>
                  <a:close/>
                </a:path>
                <a:path w="657225" h="182244">
                  <a:moveTo>
                    <a:pt x="519078" y="54462"/>
                  </a:moveTo>
                  <a:lnTo>
                    <a:pt x="488796" y="54462"/>
                  </a:lnTo>
                  <a:lnTo>
                    <a:pt x="488796" y="44387"/>
                  </a:lnTo>
                  <a:lnTo>
                    <a:pt x="486781" y="37446"/>
                  </a:lnTo>
                  <a:lnTo>
                    <a:pt x="482751" y="33640"/>
                  </a:lnTo>
                  <a:lnTo>
                    <a:pt x="478759" y="29796"/>
                  </a:lnTo>
                  <a:lnTo>
                    <a:pt x="472881" y="27874"/>
                  </a:lnTo>
                  <a:lnTo>
                    <a:pt x="513606" y="27874"/>
                  </a:lnTo>
                  <a:lnTo>
                    <a:pt x="514964" y="30589"/>
                  </a:lnTo>
                  <a:lnTo>
                    <a:pt x="517836" y="41439"/>
                  </a:lnTo>
                  <a:lnTo>
                    <a:pt x="517960" y="42365"/>
                  </a:lnTo>
                  <a:lnTo>
                    <a:pt x="519078" y="54462"/>
                  </a:lnTo>
                  <a:close/>
                </a:path>
                <a:path w="657225" h="182244">
                  <a:moveTo>
                    <a:pt x="464896" y="181690"/>
                  </a:moveTo>
                  <a:lnTo>
                    <a:pt x="423027" y="168145"/>
                  </a:lnTo>
                  <a:lnTo>
                    <a:pt x="406851" y="126332"/>
                  </a:lnTo>
                  <a:lnTo>
                    <a:pt x="437133" y="126332"/>
                  </a:lnTo>
                  <a:lnTo>
                    <a:pt x="437133" y="136594"/>
                  </a:lnTo>
                  <a:lnTo>
                    <a:pt x="439483" y="143740"/>
                  </a:lnTo>
                  <a:lnTo>
                    <a:pt x="448924" y="151800"/>
                  </a:lnTo>
                  <a:lnTo>
                    <a:pt x="455828" y="153815"/>
                  </a:lnTo>
                  <a:lnTo>
                    <a:pt x="515804" y="153815"/>
                  </a:lnTo>
                  <a:lnTo>
                    <a:pt x="513873" y="157510"/>
                  </a:lnTo>
                  <a:lnTo>
                    <a:pt x="480302" y="180123"/>
                  </a:lnTo>
                  <a:lnTo>
                    <a:pt x="472819" y="181298"/>
                  </a:lnTo>
                  <a:lnTo>
                    <a:pt x="464896" y="181690"/>
                  </a:lnTo>
                  <a:close/>
                </a:path>
                <a:path w="657225" h="182244">
                  <a:moveTo>
                    <a:pt x="656599" y="179395"/>
                  </a:moveTo>
                  <a:lnTo>
                    <a:pt x="550808" y="179395"/>
                  </a:lnTo>
                  <a:lnTo>
                    <a:pt x="550808" y="2518"/>
                  </a:lnTo>
                  <a:lnTo>
                    <a:pt x="656599" y="2518"/>
                  </a:lnTo>
                  <a:lnTo>
                    <a:pt x="656599" y="30617"/>
                  </a:lnTo>
                  <a:lnTo>
                    <a:pt x="580698" y="30617"/>
                  </a:lnTo>
                  <a:lnTo>
                    <a:pt x="580698" y="73101"/>
                  </a:lnTo>
                  <a:lnTo>
                    <a:pt x="648594" y="73101"/>
                  </a:lnTo>
                  <a:lnTo>
                    <a:pt x="648594" y="101200"/>
                  </a:lnTo>
                  <a:lnTo>
                    <a:pt x="580698" y="101200"/>
                  </a:lnTo>
                  <a:lnTo>
                    <a:pt x="580698" y="151296"/>
                  </a:lnTo>
                  <a:lnTo>
                    <a:pt x="656599" y="151296"/>
                  </a:lnTo>
                  <a:lnTo>
                    <a:pt x="656599" y="179395"/>
                  </a:lnTo>
                  <a:close/>
                </a:path>
              </a:pathLst>
            </a:custGeom>
            <a:solidFill>
              <a:srgbClr val="BE2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6"/>
          <p:cNvSpPr txBox="1"/>
          <p:nvPr/>
        </p:nvSpPr>
        <p:spPr>
          <a:xfrm>
            <a:off x="374814" y="1247930"/>
            <a:ext cx="6108179" cy="1299202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&lt;-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auto.arima(cafe,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xreg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fourier(cafe,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K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),</a:t>
            </a:r>
            <a:endParaRPr lang="en-US"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lang="en-US"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              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seasonal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FALSE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lambda </a:t>
            </a:r>
            <a:r>
              <a:rPr sz="1400" dirty="0" smtClean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-10" dirty="0" smtClean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E2F72"/>
                </a:solidFill>
                <a:latin typeface="Courier New"/>
                <a:cs typeface="Courier New"/>
              </a:rPr>
              <a:t>0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  <a:p>
            <a:pPr marL="424815" marR="5080" indent="-412750">
              <a:lnSpc>
                <a:spcPct val="141800"/>
              </a:lnSpc>
              <a:tabLst>
                <a:tab pos="3584575" algn="l"/>
              </a:tabLst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%&gt;%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forecast(xreg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fourier(cafe,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K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h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24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))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%&gt;% </a:t>
            </a:r>
            <a:r>
              <a:rPr sz="1400" spc="-106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endParaRPr lang="en-US" sz="1400" spc="-1065" dirty="0" smtClean="0">
              <a:solidFill>
                <a:srgbClr val="04182D"/>
              </a:solidFill>
              <a:latin typeface="Courier New"/>
              <a:cs typeface="Courier New"/>
            </a:endParaRPr>
          </a:p>
          <a:p>
            <a:pPr marL="424815" marR="5080" indent="-412750">
              <a:lnSpc>
                <a:spcPct val="141800"/>
              </a:lnSpc>
              <a:tabLst>
                <a:tab pos="3584575" algn="l"/>
              </a:tabLst>
            </a:pPr>
            <a:r>
              <a:rPr sz="1400" spc="-5" dirty="0" err="1" smtClean="0">
                <a:solidFill>
                  <a:srgbClr val="04182D"/>
                </a:solidFill>
                <a:latin typeface="Courier New"/>
                <a:cs typeface="Courier New"/>
              </a:rPr>
              <a:t>autoplot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()</a:t>
            </a:r>
            <a:r>
              <a:rPr sz="1400" spc="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400" spc="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 err="1" smtClean="0">
                <a:solidFill>
                  <a:srgbClr val="04182D"/>
                </a:solidFill>
                <a:latin typeface="Courier New"/>
                <a:cs typeface="Courier New"/>
              </a:rPr>
              <a:t>ylim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1400" spc="-5" dirty="0" smtClean="0">
                <a:solidFill>
                  <a:srgbClr val="BE2F72"/>
                </a:solidFill>
                <a:latin typeface="Courier New"/>
                <a:cs typeface="Courier New"/>
              </a:rPr>
              <a:t>1.6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lang="en-US"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 smtClean="0">
                <a:solidFill>
                  <a:srgbClr val="BE2F72"/>
                </a:solidFill>
                <a:latin typeface="Courier New"/>
                <a:cs typeface="Courier New"/>
              </a:rPr>
              <a:t>5.1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11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038" y="2547131"/>
            <a:ext cx="5976147" cy="229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21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283380" y="1097674"/>
            <a:ext cx="109950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 smtClean="0"/>
              <a:t>E</a:t>
            </a:r>
            <a:r>
              <a:rPr lang="en-US" sz="1800" dirty="0" smtClean="0">
                <a:latin typeface="Lucida Sans Unicode"/>
                <a:cs typeface="Lucida Sans Unicode"/>
              </a:rPr>
              <a:t>X</a:t>
            </a:r>
            <a:r>
              <a:rPr lang="en-US" sz="1800" dirty="0" smtClean="0"/>
              <a:t>AMPLE</a:t>
            </a:r>
            <a:r>
              <a:rPr lang="en-US" sz="1800" dirty="0" smtClean="0">
                <a:latin typeface="Lucida Sans Unicode"/>
                <a:cs typeface="Lucida Sans Unicode"/>
              </a:rPr>
              <a:t>: </a:t>
            </a:r>
            <a:r>
              <a:rPr lang="en-US" sz="1800" dirty="0" smtClean="0"/>
              <a:t>A</a:t>
            </a:r>
            <a:r>
              <a:rPr lang="en-US" sz="1800" dirty="0" smtClean="0">
                <a:latin typeface="Lucida Sans Unicode"/>
                <a:cs typeface="Lucida Sans Unicode"/>
              </a:rPr>
              <a:t>U</a:t>
            </a:r>
            <a:r>
              <a:rPr lang="en-US" sz="1800" dirty="0" smtClean="0"/>
              <a:t>STRALIAN CAFE E</a:t>
            </a:r>
            <a:r>
              <a:rPr lang="en-US" sz="1800" dirty="0" smtClean="0">
                <a:latin typeface="Lucida Sans Unicode"/>
                <a:cs typeface="Lucida Sans Unicode"/>
              </a:rPr>
              <a:t>X</a:t>
            </a:r>
            <a:r>
              <a:rPr lang="en-US" sz="1800" dirty="0" smtClean="0"/>
              <a:t>PENDIT</a:t>
            </a:r>
            <a:r>
              <a:rPr lang="en-US" sz="1800" dirty="0" smtClean="0">
                <a:latin typeface="Lucida Sans Unicode"/>
                <a:cs typeface="Lucida Sans Unicode"/>
              </a:rPr>
              <a:t>U</a:t>
            </a:r>
            <a:r>
              <a:rPr lang="en-US" sz="1800" dirty="0" smtClean="0"/>
              <a:t>RE</a:t>
            </a:r>
            <a:endParaRPr lang="en-US" sz="1800" dirty="0"/>
          </a:p>
        </p:txBody>
      </p:sp>
      <p:grpSp>
        <p:nvGrpSpPr>
          <p:cNvPr id="18" name="object 3"/>
          <p:cNvGrpSpPr/>
          <p:nvPr/>
        </p:nvGrpSpPr>
        <p:grpSpPr>
          <a:xfrm>
            <a:off x="289038" y="1384565"/>
            <a:ext cx="6575460" cy="1092540"/>
            <a:chOff x="491289" y="1166812"/>
            <a:chExt cx="9887585" cy="1822450"/>
          </a:xfrm>
        </p:grpSpPr>
        <p:sp>
          <p:nvSpPr>
            <p:cNvPr id="19" name="object 4"/>
            <p:cNvSpPr/>
            <p:nvPr/>
          </p:nvSpPr>
          <p:spPr>
            <a:xfrm>
              <a:off x="491289" y="1166812"/>
              <a:ext cx="9887585" cy="1822450"/>
            </a:xfrm>
            <a:custGeom>
              <a:avLst/>
              <a:gdLst/>
              <a:ahLst/>
              <a:cxnLst/>
              <a:rect l="l" t="t" r="r" b="b"/>
              <a:pathLst>
                <a:path w="9887585" h="1822450">
                  <a:moveTo>
                    <a:pt x="9810694" y="1821864"/>
                  </a:moveTo>
                  <a:lnTo>
                    <a:pt x="76505" y="1821864"/>
                  </a:lnTo>
                  <a:lnTo>
                    <a:pt x="71180" y="1821340"/>
                  </a:lnTo>
                  <a:lnTo>
                    <a:pt x="31920" y="1805077"/>
                  </a:lnTo>
                  <a:lnTo>
                    <a:pt x="4175" y="1766350"/>
                  </a:lnTo>
                  <a:lnTo>
                    <a:pt x="0" y="1745359"/>
                  </a:lnTo>
                  <a:lnTo>
                    <a:pt x="0" y="1739983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1745359"/>
                  </a:lnTo>
                  <a:lnTo>
                    <a:pt x="9870412" y="1789944"/>
                  </a:lnTo>
                  <a:lnTo>
                    <a:pt x="9831684" y="1817689"/>
                  </a:lnTo>
                  <a:lnTo>
                    <a:pt x="9816018" y="1821340"/>
                  </a:lnTo>
                  <a:lnTo>
                    <a:pt x="9810694" y="1821864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5"/>
            <p:cNvSpPr/>
            <p:nvPr/>
          </p:nvSpPr>
          <p:spPr>
            <a:xfrm>
              <a:off x="4628571" y="1765291"/>
              <a:ext cx="657225" cy="182245"/>
            </a:xfrm>
            <a:custGeom>
              <a:avLst/>
              <a:gdLst/>
              <a:ahLst/>
              <a:cxnLst/>
              <a:rect l="l" t="t" r="r" b="b"/>
              <a:pathLst>
                <a:path w="657225" h="182244">
                  <a:moveTo>
                    <a:pt x="30169" y="179395"/>
                  </a:moveTo>
                  <a:lnTo>
                    <a:pt x="0" y="179395"/>
                  </a:lnTo>
                  <a:lnTo>
                    <a:pt x="0" y="2294"/>
                  </a:lnTo>
                  <a:lnTo>
                    <a:pt x="108085" y="2294"/>
                  </a:lnTo>
                  <a:lnTo>
                    <a:pt x="108085" y="30617"/>
                  </a:lnTo>
                  <a:lnTo>
                    <a:pt x="29721" y="30617"/>
                  </a:lnTo>
                  <a:lnTo>
                    <a:pt x="29721" y="77019"/>
                  </a:lnTo>
                  <a:lnTo>
                    <a:pt x="102151" y="77019"/>
                  </a:lnTo>
                  <a:lnTo>
                    <a:pt x="102151" y="105342"/>
                  </a:lnTo>
                  <a:lnTo>
                    <a:pt x="30169" y="105342"/>
                  </a:lnTo>
                  <a:lnTo>
                    <a:pt x="30169" y="179395"/>
                  </a:lnTo>
                  <a:close/>
                </a:path>
                <a:path w="657225" h="182244">
                  <a:moveTo>
                    <a:pt x="156719" y="179395"/>
                  </a:moveTo>
                  <a:lnTo>
                    <a:pt x="125709" y="179395"/>
                  </a:lnTo>
                  <a:lnTo>
                    <a:pt x="171719" y="2518"/>
                  </a:lnTo>
                  <a:lnTo>
                    <a:pt x="206871" y="2518"/>
                  </a:lnTo>
                  <a:lnTo>
                    <a:pt x="212377" y="23788"/>
                  </a:lnTo>
                  <a:lnTo>
                    <a:pt x="189184" y="23788"/>
                  </a:lnTo>
                  <a:lnTo>
                    <a:pt x="188445" y="31177"/>
                  </a:lnTo>
                  <a:lnTo>
                    <a:pt x="188802" y="40021"/>
                  </a:lnTo>
                  <a:lnTo>
                    <a:pt x="189168" y="42663"/>
                  </a:lnTo>
                  <a:lnTo>
                    <a:pt x="188069" y="50330"/>
                  </a:lnTo>
                  <a:lnTo>
                    <a:pt x="185448" y="62242"/>
                  </a:lnTo>
                  <a:lnTo>
                    <a:pt x="174182" y="107973"/>
                  </a:lnTo>
                  <a:lnTo>
                    <a:pt x="234169" y="107973"/>
                  </a:lnTo>
                  <a:lnTo>
                    <a:pt x="241139" y="134896"/>
                  </a:lnTo>
                  <a:lnTo>
                    <a:pt x="167689" y="134896"/>
                  </a:lnTo>
                  <a:lnTo>
                    <a:pt x="156719" y="179395"/>
                  </a:lnTo>
                  <a:close/>
                </a:path>
                <a:path w="657225" h="182244">
                  <a:moveTo>
                    <a:pt x="189168" y="42663"/>
                  </a:moveTo>
                  <a:lnTo>
                    <a:pt x="188792" y="39951"/>
                  </a:lnTo>
                  <a:lnTo>
                    <a:pt x="188442" y="31103"/>
                  </a:lnTo>
                  <a:lnTo>
                    <a:pt x="189184" y="23788"/>
                  </a:lnTo>
                  <a:lnTo>
                    <a:pt x="189918" y="31177"/>
                  </a:lnTo>
                  <a:lnTo>
                    <a:pt x="189547" y="40021"/>
                  </a:lnTo>
                  <a:lnTo>
                    <a:pt x="189168" y="42663"/>
                  </a:lnTo>
                  <a:close/>
                </a:path>
                <a:path w="657225" h="182244">
                  <a:moveTo>
                    <a:pt x="234169" y="107973"/>
                  </a:moveTo>
                  <a:lnTo>
                    <a:pt x="204184" y="107973"/>
                  </a:lnTo>
                  <a:lnTo>
                    <a:pt x="192730" y="62074"/>
                  </a:lnTo>
                  <a:lnTo>
                    <a:pt x="190232" y="50320"/>
                  </a:lnTo>
                  <a:lnTo>
                    <a:pt x="189168" y="42663"/>
                  </a:lnTo>
                  <a:lnTo>
                    <a:pt x="189550" y="39951"/>
                  </a:lnTo>
                  <a:lnTo>
                    <a:pt x="189911" y="31103"/>
                  </a:lnTo>
                  <a:lnTo>
                    <a:pt x="189184" y="23788"/>
                  </a:lnTo>
                  <a:lnTo>
                    <a:pt x="212377" y="23788"/>
                  </a:lnTo>
                  <a:lnTo>
                    <a:pt x="234169" y="107973"/>
                  </a:lnTo>
                  <a:close/>
                </a:path>
                <a:path w="657225" h="182244">
                  <a:moveTo>
                    <a:pt x="252658" y="179395"/>
                  </a:moveTo>
                  <a:lnTo>
                    <a:pt x="221872" y="179395"/>
                  </a:lnTo>
                  <a:lnTo>
                    <a:pt x="210845" y="134896"/>
                  </a:lnTo>
                  <a:lnTo>
                    <a:pt x="241139" y="134896"/>
                  </a:lnTo>
                  <a:lnTo>
                    <a:pt x="252658" y="179395"/>
                  </a:lnTo>
                  <a:close/>
                </a:path>
                <a:path w="657225" h="182244">
                  <a:moveTo>
                    <a:pt x="385196" y="179395"/>
                  </a:moveTo>
                  <a:lnTo>
                    <a:pt x="279406" y="179395"/>
                  </a:lnTo>
                  <a:lnTo>
                    <a:pt x="279406" y="2518"/>
                  </a:lnTo>
                  <a:lnTo>
                    <a:pt x="309576" y="2518"/>
                  </a:lnTo>
                  <a:lnTo>
                    <a:pt x="309576" y="151073"/>
                  </a:lnTo>
                  <a:lnTo>
                    <a:pt x="385196" y="151073"/>
                  </a:lnTo>
                  <a:lnTo>
                    <a:pt x="385196" y="179395"/>
                  </a:lnTo>
                  <a:close/>
                </a:path>
                <a:path w="657225" h="182244">
                  <a:moveTo>
                    <a:pt x="515804" y="153815"/>
                  </a:moveTo>
                  <a:lnTo>
                    <a:pt x="473329" y="153815"/>
                  </a:lnTo>
                  <a:lnTo>
                    <a:pt x="479766" y="151856"/>
                  </a:lnTo>
                  <a:lnTo>
                    <a:pt x="488647" y="143983"/>
                  </a:lnTo>
                  <a:lnTo>
                    <a:pt x="490868" y="138516"/>
                  </a:lnTo>
                  <a:lnTo>
                    <a:pt x="490868" y="125866"/>
                  </a:lnTo>
                  <a:lnTo>
                    <a:pt x="489338" y="120921"/>
                  </a:lnTo>
                  <a:lnTo>
                    <a:pt x="483218" y="112488"/>
                  </a:lnTo>
                  <a:lnTo>
                    <a:pt x="478908" y="109540"/>
                  </a:lnTo>
                  <a:lnTo>
                    <a:pt x="473348" y="107861"/>
                  </a:lnTo>
                  <a:lnTo>
                    <a:pt x="450678" y="100752"/>
                  </a:lnTo>
                  <a:lnTo>
                    <a:pt x="417314" y="74490"/>
                  </a:lnTo>
                  <a:lnTo>
                    <a:pt x="411553" y="49480"/>
                  </a:lnTo>
                  <a:lnTo>
                    <a:pt x="411976" y="42365"/>
                  </a:lnTo>
                  <a:lnTo>
                    <a:pt x="431539" y="9609"/>
                  </a:lnTo>
                  <a:lnTo>
                    <a:pt x="465344" y="0"/>
                  </a:lnTo>
                  <a:lnTo>
                    <a:pt x="476713" y="850"/>
                  </a:lnTo>
                  <a:lnTo>
                    <a:pt x="510283" y="21235"/>
                  </a:lnTo>
                  <a:lnTo>
                    <a:pt x="513606" y="27874"/>
                  </a:lnTo>
                  <a:lnTo>
                    <a:pt x="457470" y="27874"/>
                  </a:lnTo>
                  <a:lnTo>
                    <a:pt x="451648" y="29628"/>
                  </a:lnTo>
                  <a:lnTo>
                    <a:pt x="443663" y="36606"/>
                  </a:lnTo>
                  <a:lnTo>
                    <a:pt x="441667" y="41439"/>
                  </a:lnTo>
                  <a:lnTo>
                    <a:pt x="441667" y="53454"/>
                  </a:lnTo>
                  <a:lnTo>
                    <a:pt x="443196" y="58473"/>
                  </a:lnTo>
                  <a:lnTo>
                    <a:pt x="449316" y="66870"/>
                  </a:lnTo>
                  <a:lnTo>
                    <a:pt x="453794" y="69892"/>
                  </a:lnTo>
                  <a:lnTo>
                    <a:pt x="482639" y="79090"/>
                  </a:lnTo>
                  <a:lnTo>
                    <a:pt x="491228" y="82456"/>
                  </a:lnTo>
                  <a:lnTo>
                    <a:pt x="518505" y="113724"/>
                  </a:lnTo>
                  <a:lnTo>
                    <a:pt x="521038" y="131090"/>
                  </a:lnTo>
                  <a:lnTo>
                    <a:pt x="520590" y="138304"/>
                  </a:lnTo>
                  <a:lnTo>
                    <a:pt x="519246" y="145111"/>
                  </a:lnTo>
                  <a:lnTo>
                    <a:pt x="517007" y="151513"/>
                  </a:lnTo>
                  <a:lnTo>
                    <a:pt x="515804" y="153815"/>
                  </a:lnTo>
                  <a:close/>
                </a:path>
                <a:path w="657225" h="182244">
                  <a:moveTo>
                    <a:pt x="519078" y="54462"/>
                  </a:moveTo>
                  <a:lnTo>
                    <a:pt x="488796" y="54462"/>
                  </a:lnTo>
                  <a:lnTo>
                    <a:pt x="488796" y="44387"/>
                  </a:lnTo>
                  <a:lnTo>
                    <a:pt x="486781" y="37446"/>
                  </a:lnTo>
                  <a:lnTo>
                    <a:pt x="482751" y="33640"/>
                  </a:lnTo>
                  <a:lnTo>
                    <a:pt x="478759" y="29796"/>
                  </a:lnTo>
                  <a:lnTo>
                    <a:pt x="472881" y="27874"/>
                  </a:lnTo>
                  <a:lnTo>
                    <a:pt x="513606" y="27874"/>
                  </a:lnTo>
                  <a:lnTo>
                    <a:pt x="514964" y="30589"/>
                  </a:lnTo>
                  <a:lnTo>
                    <a:pt x="517836" y="41439"/>
                  </a:lnTo>
                  <a:lnTo>
                    <a:pt x="517960" y="42365"/>
                  </a:lnTo>
                  <a:lnTo>
                    <a:pt x="519078" y="54462"/>
                  </a:lnTo>
                  <a:close/>
                </a:path>
                <a:path w="657225" h="182244">
                  <a:moveTo>
                    <a:pt x="464896" y="181690"/>
                  </a:moveTo>
                  <a:lnTo>
                    <a:pt x="423027" y="168145"/>
                  </a:lnTo>
                  <a:lnTo>
                    <a:pt x="406851" y="126332"/>
                  </a:lnTo>
                  <a:lnTo>
                    <a:pt x="437133" y="126332"/>
                  </a:lnTo>
                  <a:lnTo>
                    <a:pt x="437133" y="136594"/>
                  </a:lnTo>
                  <a:lnTo>
                    <a:pt x="439483" y="143740"/>
                  </a:lnTo>
                  <a:lnTo>
                    <a:pt x="448924" y="151800"/>
                  </a:lnTo>
                  <a:lnTo>
                    <a:pt x="455828" y="153815"/>
                  </a:lnTo>
                  <a:lnTo>
                    <a:pt x="515804" y="153815"/>
                  </a:lnTo>
                  <a:lnTo>
                    <a:pt x="513873" y="157510"/>
                  </a:lnTo>
                  <a:lnTo>
                    <a:pt x="480302" y="180123"/>
                  </a:lnTo>
                  <a:lnTo>
                    <a:pt x="472819" y="181298"/>
                  </a:lnTo>
                  <a:lnTo>
                    <a:pt x="464896" y="181690"/>
                  </a:lnTo>
                  <a:close/>
                </a:path>
                <a:path w="657225" h="182244">
                  <a:moveTo>
                    <a:pt x="656599" y="179395"/>
                  </a:moveTo>
                  <a:lnTo>
                    <a:pt x="550808" y="179395"/>
                  </a:lnTo>
                  <a:lnTo>
                    <a:pt x="550808" y="2518"/>
                  </a:lnTo>
                  <a:lnTo>
                    <a:pt x="656599" y="2518"/>
                  </a:lnTo>
                  <a:lnTo>
                    <a:pt x="656599" y="30617"/>
                  </a:lnTo>
                  <a:lnTo>
                    <a:pt x="580698" y="30617"/>
                  </a:lnTo>
                  <a:lnTo>
                    <a:pt x="580698" y="73101"/>
                  </a:lnTo>
                  <a:lnTo>
                    <a:pt x="648594" y="73101"/>
                  </a:lnTo>
                  <a:lnTo>
                    <a:pt x="648594" y="101200"/>
                  </a:lnTo>
                  <a:lnTo>
                    <a:pt x="580698" y="101200"/>
                  </a:lnTo>
                  <a:lnTo>
                    <a:pt x="580698" y="151296"/>
                  </a:lnTo>
                  <a:lnTo>
                    <a:pt x="656599" y="151296"/>
                  </a:lnTo>
                  <a:lnTo>
                    <a:pt x="656599" y="179395"/>
                  </a:lnTo>
                  <a:close/>
                </a:path>
              </a:pathLst>
            </a:custGeom>
            <a:solidFill>
              <a:srgbClr val="BE2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6"/>
          <p:cNvSpPr txBox="1"/>
          <p:nvPr/>
        </p:nvSpPr>
        <p:spPr>
          <a:xfrm>
            <a:off x="374814" y="1247930"/>
            <a:ext cx="6108179" cy="1299202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&lt;-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auto.arima(cafe,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xreg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fourier(cafe,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K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),</a:t>
            </a:r>
            <a:endParaRPr lang="en-US"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lang="en-US"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              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seasonal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FALSE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lambda </a:t>
            </a:r>
            <a:r>
              <a:rPr sz="1400" dirty="0" smtClean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-10" dirty="0" smtClean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E2F72"/>
                </a:solidFill>
                <a:latin typeface="Courier New"/>
                <a:cs typeface="Courier New"/>
              </a:rPr>
              <a:t>0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  <a:p>
            <a:pPr marL="424815" marR="5080" indent="-412750">
              <a:lnSpc>
                <a:spcPct val="141800"/>
              </a:lnSpc>
              <a:tabLst>
                <a:tab pos="3584575" algn="l"/>
              </a:tabLst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%&gt;%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forecast(xreg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fourier(cafe,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K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h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24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))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%&gt;% </a:t>
            </a:r>
            <a:r>
              <a:rPr sz="1400" spc="-106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endParaRPr lang="en-US" sz="1400" spc="-1065" dirty="0" smtClean="0">
              <a:solidFill>
                <a:srgbClr val="04182D"/>
              </a:solidFill>
              <a:latin typeface="Courier New"/>
              <a:cs typeface="Courier New"/>
            </a:endParaRPr>
          </a:p>
          <a:p>
            <a:pPr marL="424815" marR="5080" indent="-412750">
              <a:lnSpc>
                <a:spcPct val="141800"/>
              </a:lnSpc>
              <a:tabLst>
                <a:tab pos="3584575" algn="l"/>
              </a:tabLst>
            </a:pPr>
            <a:r>
              <a:rPr sz="1400" spc="-5" dirty="0" err="1" smtClean="0">
                <a:solidFill>
                  <a:srgbClr val="04182D"/>
                </a:solidFill>
                <a:latin typeface="Courier New"/>
                <a:cs typeface="Courier New"/>
              </a:rPr>
              <a:t>autoplot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()</a:t>
            </a:r>
            <a:r>
              <a:rPr sz="1400" spc="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400" spc="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 err="1" smtClean="0">
                <a:solidFill>
                  <a:srgbClr val="04182D"/>
                </a:solidFill>
                <a:latin typeface="Courier New"/>
                <a:cs typeface="Courier New"/>
              </a:rPr>
              <a:t>ylim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1400" spc="-5" dirty="0" smtClean="0">
                <a:solidFill>
                  <a:srgbClr val="BE2F72"/>
                </a:solidFill>
                <a:latin typeface="Courier New"/>
                <a:cs typeface="Courier New"/>
              </a:rPr>
              <a:t>1.6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lang="en-US"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 smtClean="0">
                <a:solidFill>
                  <a:srgbClr val="BE2F72"/>
                </a:solidFill>
                <a:latin typeface="Courier New"/>
                <a:cs typeface="Courier New"/>
              </a:rPr>
              <a:t>5.1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10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491" y="2520430"/>
            <a:ext cx="6136501" cy="232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0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283380" y="1097674"/>
            <a:ext cx="109950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 smtClean="0"/>
              <a:t>E</a:t>
            </a:r>
            <a:r>
              <a:rPr lang="en-US" sz="1800" dirty="0" smtClean="0">
                <a:latin typeface="Lucida Sans Unicode"/>
                <a:cs typeface="Lucida Sans Unicode"/>
              </a:rPr>
              <a:t>X</a:t>
            </a:r>
            <a:r>
              <a:rPr lang="en-US" sz="1800" dirty="0" smtClean="0"/>
              <a:t>AMPLE</a:t>
            </a:r>
            <a:r>
              <a:rPr lang="en-US" sz="1800" dirty="0" smtClean="0">
                <a:latin typeface="Lucida Sans Unicode"/>
                <a:cs typeface="Lucida Sans Unicode"/>
              </a:rPr>
              <a:t>: </a:t>
            </a:r>
            <a:r>
              <a:rPr lang="en-US" sz="1800" dirty="0" smtClean="0"/>
              <a:t>A</a:t>
            </a:r>
            <a:r>
              <a:rPr lang="en-US" sz="1800" dirty="0" smtClean="0">
                <a:latin typeface="Lucida Sans Unicode"/>
                <a:cs typeface="Lucida Sans Unicode"/>
              </a:rPr>
              <a:t>U</a:t>
            </a:r>
            <a:r>
              <a:rPr lang="en-US" sz="1800" dirty="0" smtClean="0"/>
              <a:t>STRALIAN CAFE E</a:t>
            </a:r>
            <a:r>
              <a:rPr lang="en-US" sz="1800" dirty="0" smtClean="0">
                <a:latin typeface="Lucida Sans Unicode"/>
                <a:cs typeface="Lucida Sans Unicode"/>
              </a:rPr>
              <a:t>X</a:t>
            </a:r>
            <a:r>
              <a:rPr lang="en-US" sz="1800" dirty="0" smtClean="0"/>
              <a:t>PENDIT</a:t>
            </a:r>
            <a:r>
              <a:rPr lang="en-US" sz="1800" dirty="0" smtClean="0">
                <a:latin typeface="Lucida Sans Unicode"/>
                <a:cs typeface="Lucida Sans Unicode"/>
              </a:rPr>
              <a:t>U</a:t>
            </a:r>
            <a:r>
              <a:rPr lang="en-US" sz="1800" dirty="0" smtClean="0"/>
              <a:t>RE</a:t>
            </a:r>
            <a:endParaRPr lang="en-US" sz="1800" dirty="0"/>
          </a:p>
        </p:txBody>
      </p:sp>
      <p:grpSp>
        <p:nvGrpSpPr>
          <p:cNvPr id="18" name="object 3"/>
          <p:cNvGrpSpPr/>
          <p:nvPr/>
        </p:nvGrpSpPr>
        <p:grpSpPr>
          <a:xfrm>
            <a:off x="289038" y="1384565"/>
            <a:ext cx="6575460" cy="1092540"/>
            <a:chOff x="491289" y="1166812"/>
            <a:chExt cx="9887585" cy="1822450"/>
          </a:xfrm>
        </p:grpSpPr>
        <p:sp>
          <p:nvSpPr>
            <p:cNvPr id="19" name="object 4"/>
            <p:cNvSpPr/>
            <p:nvPr/>
          </p:nvSpPr>
          <p:spPr>
            <a:xfrm>
              <a:off x="491289" y="1166812"/>
              <a:ext cx="9887585" cy="1822450"/>
            </a:xfrm>
            <a:custGeom>
              <a:avLst/>
              <a:gdLst/>
              <a:ahLst/>
              <a:cxnLst/>
              <a:rect l="l" t="t" r="r" b="b"/>
              <a:pathLst>
                <a:path w="9887585" h="1822450">
                  <a:moveTo>
                    <a:pt x="9810694" y="1821864"/>
                  </a:moveTo>
                  <a:lnTo>
                    <a:pt x="76505" y="1821864"/>
                  </a:lnTo>
                  <a:lnTo>
                    <a:pt x="71180" y="1821340"/>
                  </a:lnTo>
                  <a:lnTo>
                    <a:pt x="31920" y="1805077"/>
                  </a:lnTo>
                  <a:lnTo>
                    <a:pt x="4175" y="1766350"/>
                  </a:lnTo>
                  <a:lnTo>
                    <a:pt x="0" y="1745359"/>
                  </a:lnTo>
                  <a:lnTo>
                    <a:pt x="0" y="1739983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1745359"/>
                  </a:lnTo>
                  <a:lnTo>
                    <a:pt x="9870412" y="1789944"/>
                  </a:lnTo>
                  <a:lnTo>
                    <a:pt x="9831684" y="1817689"/>
                  </a:lnTo>
                  <a:lnTo>
                    <a:pt x="9816018" y="1821340"/>
                  </a:lnTo>
                  <a:lnTo>
                    <a:pt x="9810694" y="1821864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5"/>
            <p:cNvSpPr/>
            <p:nvPr/>
          </p:nvSpPr>
          <p:spPr>
            <a:xfrm>
              <a:off x="4628571" y="1765291"/>
              <a:ext cx="657225" cy="182245"/>
            </a:xfrm>
            <a:custGeom>
              <a:avLst/>
              <a:gdLst/>
              <a:ahLst/>
              <a:cxnLst/>
              <a:rect l="l" t="t" r="r" b="b"/>
              <a:pathLst>
                <a:path w="657225" h="182244">
                  <a:moveTo>
                    <a:pt x="30169" y="179395"/>
                  </a:moveTo>
                  <a:lnTo>
                    <a:pt x="0" y="179395"/>
                  </a:lnTo>
                  <a:lnTo>
                    <a:pt x="0" y="2294"/>
                  </a:lnTo>
                  <a:lnTo>
                    <a:pt x="108085" y="2294"/>
                  </a:lnTo>
                  <a:lnTo>
                    <a:pt x="108085" y="30617"/>
                  </a:lnTo>
                  <a:lnTo>
                    <a:pt x="29721" y="30617"/>
                  </a:lnTo>
                  <a:lnTo>
                    <a:pt x="29721" y="77019"/>
                  </a:lnTo>
                  <a:lnTo>
                    <a:pt x="102151" y="77019"/>
                  </a:lnTo>
                  <a:lnTo>
                    <a:pt x="102151" y="105342"/>
                  </a:lnTo>
                  <a:lnTo>
                    <a:pt x="30169" y="105342"/>
                  </a:lnTo>
                  <a:lnTo>
                    <a:pt x="30169" y="179395"/>
                  </a:lnTo>
                  <a:close/>
                </a:path>
                <a:path w="657225" h="182244">
                  <a:moveTo>
                    <a:pt x="156719" y="179395"/>
                  </a:moveTo>
                  <a:lnTo>
                    <a:pt x="125709" y="179395"/>
                  </a:lnTo>
                  <a:lnTo>
                    <a:pt x="171719" y="2518"/>
                  </a:lnTo>
                  <a:lnTo>
                    <a:pt x="206871" y="2518"/>
                  </a:lnTo>
                  <a:lnTo>
                    <a:pt x="212377" y="23788"/>
                  </a:lnTo>
                  <a:lnTo>
                    <a:pt x="189184" y="23788"/>
                  </a:lnTo>
                  <a:lnTo>
                    <a:pt x="188445" y="31177"/>
                  </a:lnTo>
                  <a:lnTo>
                    <a:pt x="188802" y="40021"/>
                  </a:lnTo>
                  <a:lnTo>
                    <a:pt x="189168" y="42663"/>
                  </a:lnTo>
                  <a:lnTo>
                    <a:pt x="188069" y="50330"/>
                  </a:lnTo>
                  <a:lnTo>
                    <a:pt x="185448" y="62242"/>
                  </a:lnTo>
                  <a:lnTo>
                    <a:pt x="174182" y="107973"/>
                  </a:lnTo>
                  <a:lnTo>
                    <a:pt x="234169" y="107973"/>
                  </a:lnTo>
                  <a:lnTo>
                    <a:pt x="241139" y="134896"/>
                  </a:lnTo>
                  <a:lnTo>
                    <a:pt x="167689" y="134896"/>
                  </a:lnTo>
                  <a:lnTo>
                    <a:pt x="156719" y="179395"/>
                  </a:lnTo>
                  <a:close/>
                </a:path>
                <a:path w="657225" h="182244">
                  <a:moveTo>
                    <a:pt x="189168" y="42663"/>
                  </a:moveTo>
                  <a:lnTo>
                    <a:pt x="188792" y="39951"/>
                  </a:lnTo>
                  <a:lnTo>
                    <a:pt x="188442" y="31103"/>
                  </a:lnTo>
                  <a:lnTo>
                    <a:pt x="189184" y="23788"/>
                  </a:lnTo>
                  <a:lnTo>
                    <a:pt x="189918" y="31177"/>
                  </a:lnTo>
                  <a:lnTo>
                    <a:pt x="189547" y="40021"/>
                  </a:lnTo>
                  <a:lnTo>
                    <a:pt x="189168" y="42663"/>
                  </a:lnTo>
                  <a:close/>
                </a:path>
                <a:path w="657225" h="182244">
                  <a:moveTo>
                    <a:pt x="234169" y="107973"/>
                  </a:moveTo>
                  <a:lnTo>
                    <a:pt x="204184" y="107973"/>
                  </a:lnTo>
                  <a:lnTo>
                    <a:pt x="192730" y="62074"/>
                  </a:lnTo>
                  <a:lnTo>
                    <a:pt x="190232" y="50320"/>
                  </a:lnTo>
                  <a:lnTo>
                    <a:pt x="189168" y="42663"/>
                  </a:lnTo>
                  <a:lnTo>
                    <a:pt x="189550" y="39951"/>
                  </a:lnTo>
                  <a:lnTo>
                    <a:pt x="189911" y="31103"/>
                  </a:lnTo>
                  <a:lnTo>
                    <a:pt x="189184" y="23788"/>
                  </a:lnTo>
                  <a:lnTo>
                    <a:pt x="212377" y="23788"/>
                  </a:lnTo>
                  <a:lnTo>
                    <a:pt x="234169" y="107973"/>
                  </a:lnTo>
                  <a:close/>
                </a:path>
                <a:path w="657225" h="182244">
                  <a:moveTo>
                    <a:pt x="252658" y="179395"/>
                  </a:moveTo>
                  <a:lnTo>
                    <a:pt x="221872" y="179395"/>
                  </a:lnTo>
                  <a:lnTo>
                    <a:pt x="210845" y="134896"/>
                  </a:lnTo>
                  <a:lnTo>
                    <a:pt x="241139" y="134896"/>
                  </a:lnTo>
                  <a:lnTo>
                    <a:pt x="252658" y="179395"/>
                  </a:lnTo>
                  <a:close/>
                </a:path>
                <a:path w="657225" h="182244">
                  <a:moveTo>
                    <a:pt x="385196" y="179395"/>
                  </a:moveTo>
                  <a:lnTo>
                    <a:pt x="279406" y="179395"/>
                  </a:lnTo>
                  <a:lnTo>
                    <a:pt x="279406" y="2518"/>
                  </a:lnTo>
                  <a:lnTo>
                    <a:pt x="309576" y="2518"/>
                  </a:lnTo>
                  <a:lnTo>
                    <a:pt x="309576" y="151073"/>
                  </a:lnTo>
                  <a:lnTo>
                    <a:pt x="385196" y="151073"/>
                  </a:lnTo>
                  <a:lnTo>
                    <a:pt x="385196" y="179395"/>
                  </a:lnTo>
                  <a:close/>
                </a:path>
                <a:path w="657225" h="182244">
                  <a:moveTo>
                    <a:pt x="515804" y="153815"/>
                  </a:moveTo>
                  <a:lnTo>
                    <a:pt x="473329" y="153815"/>
                  </a:lnTo>
                  <a:lnTo>
                    <a:pt x="479766" y="151856"/>
                  </a:lnTo>
                  <a:lnTo>
                    <a:pt x="488647" y="143983"/>
                  </a:lnTo>
                  <a:lnTo>
                    <a:pt x="490868" y="138516"/>
                  </a:lnTo>
                  <a:lnTo>
                    <a:pt x="490868" y="125866"/>
                  </a:lnTo>
                  <a:lnTo>
                    <a:pt x="489338" y="120921"/>
                  </a:lnTo>
                  <a:lnTo>
                    <a:pt x="483218" y="112488"/>
                  </a:lnTo>
                  <a:lnTo>
                    <a:pt x="478908" y="109540"/>
                  </a:lnTo>
                  <a:lnTo>
                    <a:pt x="473348" y="107861"/>
                  </a:lnTo>
                  <a:lnTo>
                    <a:pt x="450678" y="100752"/>
                  </a:lnTo>
                  <a:lnTo>
                    <a:pt x="417314" y="74490"/>
                  </a:lnTo>
                  <a:lnTo>
                    <a:pt x="411553" y="49480"/>
                  </a:lnTo>
                  <a:lnTo>
                    <a:pt x="411976" y="42365"/>
                  </a:lnTo>
                  <a:lnTo>
                    <a:pt x="431539" y="9609"/>
                  </a:lnTo>
                  <a:lnTo>
                    <a:pt x="465344" y="0"/>
                  </a:lnTo>
                  <a:lnTo>
                    <a:pt x="476713" y="850"/>
                  </a:lnTo>
                  <a:lnTo>
                    <a:pt x="510283" y="21235"/>
                  </a:lnTo>
                  <a:lnTo>
                    <a:pt x="513606" y="27874"/>
                  </a:lnTo>
                  <a:lnTo>
                    <a:pt x="457470" y="27874"/>
                  </a:lnTo>
                  <a:lnTo>
                    <a:pt x="451648" y="29628"/>
                  </a:lnTo>
                  <a:lnTo>
                    <a:pt x="443663" y="36606"/>
                  </a:lnTo>
                  <a:lnTo>
                    <a:pt x="441667" y="41439"/>
                  </a:lnTo>
                  <a:lnTo>
                    <a:pt x="441667" y="53454"/>
                  </a:lnTo>
                  <a:lnTo>
                    <a:pt x="443196" y="58473"/>
                  </a:lnTo>
                  <a:lnTo>
                    <a:pt x="449316" y="66870"/>
                  </a:lnTo>
                  <a:lnTo>
                    <a:pt x="453794" y="69892"/>
                  </a:lnTo>
                  <a:lnTo>
                    <a:pt x="482639" y="79090"/>
                  </a:lnTo>
                  <a:lnTo>
                    <a:pt x="491228" y="82456"/>
                  </a:lnTo>
                  <a:lnTo>
                    <a:pt x="518505" y="113724"/>
                  </a:lnTo>
                  <a:lnTo>
                    <a:pt x="521038" y="131090"/>
                  </a:lnTo>
                  <a:lnTo>
                    <a:pt x="520590" y="138304"/>
                  </a:lnTo>
                  <a:lnTo>
                    <a:pt x="519246" y="145111"/>
                  </a:lnTo>
                  <a:lnTo>
                    <a:pt x="517007" y="151513"/>
                  </a:lnTo>
                  <a:lnTo>
                    <a:pt x="515804" y="153815"/>
                  </a:lnTo>
                  <a:close/>
                </a:path>
                <a:path w="657225" h="182244">
                  <a:moveTo>
                    <a:pt x="519078" y="54462"/>
                  </a:moveTo>
                  <a:lnTo>
                    <a:pt x="488796" y="54462"/>
                  </a:lnTo>
                  <a:lnTo>
                    <a:pt x="488796" y="44387"/>
                  </a:lnTo>
                  <a:lnTo>
                    <a:pt x="486781" y="37446"/>
                  </a:lnTo>
                  <a:lnTo>
                    <a:pt x="482751" y="33640"/>
                  </a:lnTo>
                  <a:lnTo>
                    <a:pt x="478759" y="29796"/>
                  </a:lnTo>
                  <a:lnTo>
                    <a:pt x="472881" y="27874"/>
                  </a:lnTo>
                  <a:lnTo>
                    <a:pt x="513606" y="27874"/>
                  </a:lnTo>
                  <a:lnTo>
                    <a:pt x="514964" y="30589"/>
                  </a:lnTo>
                  <a:lnTo>
                    <a:pt x="517836" y="41439"/>
                  </a:lnTo>
                  <a:lnTo>
                    <a:pt x="517960" y="42365"/>
                  </a:lnTo>
                  <a:lnTo>
                    <a:pt x="519078" y="54462"/>
                  </a:lnTo>
                  <a:close/>
                </a:path>
                <a:path w="657225" h="182244">
                  <a:moveTo>
                    <a:pt x="464896" y="181690"/>
                  </a:moveTo>
                  <a:lnTo>
                    <a:pt x="423027" y="168145"/>
                  </a:lnTo>
                  <a:lnTo>
                    <a:pt x="406851" y="126332"/>
                  </a:lnTo>
                  <a:lnTo>
                    <a:pt x="437133" y="126332"/>
                  </a:lnTo>
                  <a:lnTo>
                    <a:pt x="437133" y="136594"/>
                  </a:lnTo>
                  <a:lnTo>
                    <a:pt x="439483" y="143740"/>
                  </a:lnTo>
                  <a:lnTo>
                    <a:pt x="448924" y="151800"/>
                  </a:lnTo>
                  <a:lnTo>
                    <a:pt x="455828" y="153815"/>
                  </a:lnTo>
                  <a:lnTo>
                    <a:pt x="515804" y="153815"/>
                  </a:lnTo>
                  <a:lnTo>
                    <a:pt x="513873" y="157510"/>
                  </a:lnTo>
                  <a:lnTo>
                    <a:pt x="480302" y="180123"/>
                  </a:lnTo>
                  <a:lnTo>
                    <a:pt x="472819" y="181298"/>
                  </a:lnTo>
                  <a:lnTo>
                    <a:pt x="464896" y="181690"/>
                  </a:lnTo>
                  <a:close/>
                </a:path>
                <a:path w="657225" h="182244">
                  <a:moveTo>
                    <a:pt x="656599" y="179395"/>
                  </a:moveTo>
                  <a:lnTo>
                    <a:pt x="550808" y="179395"/>
                  </a:lnTo>
                  <a:lnTo>
                    <a:pt x="550808" y="2518"/>
                  </a:lnTo>
                  <a:lnTo>
                    <a:pt x="656599" y="2518"/>
                  </a:lnTo>
                  <a:lnTo>
                    <a:pt x="656599" y="30617"/>
                  </a:lnTo>
                  <a:lnTo>
                    <a:pt x="580698" y="30617"/>
                  </a:lnTo>
                  <a:lnTo>
                    <a:pt x="580698" y="73101"/>
                  </a:lnTo>
                  <a:lnTo>
                    <a:pt x="648594" y="73101"/>
                  </a:lnTo>
                  <a:lnTo>
                    <a:pt x="648594" y="101200"/>
                  </a:lnTo>
                  <a:lnTo>
                    <a:pt x="580698" y="101200"/>
                  </a:lnTo>
                  <a:lnTo>
                    <a:pt x="580698" y="151296"/>
                  </a:lnTo>
                  <a:lnTo>
                    <a:pt x="656599" y="151296"/>
                  </a:lnTo>
                  <a:lnTo>
                    <a:pt x="656599" y="179395"/>
                  </a:lnTo>
                  <a:close/>
                </a:path>
              </a:pathLst>
            </a:custGeom>
            <a:solidFill>
              <a:srgbClr val="BE2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6"/>
          <p:cNvSpPr txBox="1"/>
          <p:nvPr/>
        </p:nvSpPr>
        <p:spPr>
          <a:xfrm>
            <a:off x="374814" y="1247930"/>
            <a:ext cx="6108179" cy="1299202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&lt;-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auto.arima(cafe,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xreg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fourier(cafe,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K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),</a:t>
            </a:r>
            <a:endParaRPr lang="en-US"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lang="en-US"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              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seasonal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FALSE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lambda </a:t>
            </a:r>
            <a:r>
              <a:rPr sz="1400" dirty="0" smtClean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-10" dirty="0" smtClean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E2F72"/>
                </a:solidFill>
                <a:latin typeface="Courier New"/>
                <a:cs typeface="Courier New"/>
              </a:rPr>
              <a:t>0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  <a:p>
            <a:pPr marL="424815" marR="5080" indent="-412750">
              <a:lnSpc>
                <a:spcPct val="141800"/>
              </a:lnSpc>
              <a:tabLst>
                <a:tab pos="3584575" algn="l"/>
              </a:tabLst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%&gt;%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forecast(xreg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fourier(cafe,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K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h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24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))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%&gt;% </a:t>
            </a:r>
            <a:r>
              <a:rPr sz="1400" spc="-106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endParaRPr lang="en-US" sz="1400" spc="-1065" dirty="0" smtClean="0">
              <a:solidFill>
                <a:srgbClr val="04182D"/>
              </a:solidFill>
              <a:latin typeface="Courier New"/>
              <a:cs typeface="Courier New"/>
            </a:endParaRPr>
          </a:p>
          <a:p>
            <a:pPr marL="424815" marR="5080" indent="-412750">
              <a:lnSpc>
                <a:spcPct val="141800"/>
              </a:lnSpc>
              <a:tabLst>
                <a:tab pos="3584575" algn="l"/>
              </a:tabLst>
            </a:pPr>
            <a:r>
              <a:rPr sz="1400" spc="-5" dirty="0" err="1" smtClean="0">
                <a:solidFill>
                  <a:srgbClr val="04182D"/>
                </a:solidFill>
                <a:latin typeface="Courier New"/>
                <a:cs typeface="Courier New"/>
              </a:rPr>
              <a:t>autoplot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()</a:t>
            </a:r>
            <a:r>
              <a:rPr sz="1400" spc="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400" spc="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 err="1" smtClean="0">
                <a:solidFill>
                  <a:srgbClr val="04182D"/>
                </a:solidFill>
                <a:latin typeface="Courier New"/>
                <a:cs typeface="Courier New"/>
              </a:rPr>
              <a:t>ylim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1400" spc="-5" dirty="0" smtClean="0">
                <a:solidFill>
                  <a:srgbClr val="BE2F72"/>
                </a:solidFill>
                <a:latin typeface="Courier New"/>
                <a:cs typeface="Courier New"/>
              </a:rPr>
              <a:t>1.6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lang="en-US"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 smtClean="0">
                <a:solidFill>
                  <a:srgbClr val="BE2F72"/>
                </a:solidFill>
                <a:latin typeface="Courier New"/>
                <a:cs typeface="Courier New"/>
              </a:rPr>
              <a:t>5.1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11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858" y="2547133"/>
            <a:ext cx="6173135" cy="23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986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283380" y="1097674"/>
            <a:ext cx="109950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 smtClean="0"/>
              <a:t>E</a:t>
            </a:r>
            <a:r>
              <a:rPr lang="en-US" sz="1800" dirty="0" smtClean="0">
                <a:latin typeface="Lucida Sans Unicode"/>
                <a:cs typeface="Lucida Sans Unicode"/>
              </a:rPr>
              <a:t>X</a:t>
            </a:r>
            <a:r>
              <a:rPr lang="en-US" sz="1800" dirty="0" smtClean="0"/>
              <a:t>AMPLE</a:t>
            </a:r>
            <a:r>
              <a:rPr lang="en-US" sz="1800" dirty="0" smtClean="0">
                <a:latin typeface="Lucida Sans Unicode"/>
                <a:cs typeface="Lucida Sans Unicode"/>
              </a:rPr>
              <a:t>: </a:t>
            </a:r>
            <a:r>
              <a:rPr lang="en-US" sz="1800" dirty="0" smtClean="0"/>
              <a:t>A</a:t>
            </a:r>
            <a:r>
              <a:rPr lang="en-US" sz="1800" dirty="0" smtClean="0">
                <a:latin typeface="Lucida Sans Unicode"/>
                <a:cs typeface="Lucida Sans Unicode"/>
              </a:rPr>
              <a:t>U</a:t>
            </a:r>
            <a:r>
              <a:rPr lang="en-US" sz="1800" dirty="0" smtClean="0"/>
              <a:t>STRALIAN CAFE E</a:t>
            </a:r>
            <a:r>
              <a:rPr lang="en-US" sz="1800" dirty="0" smtClean="0">
                <a:latin typeface="Lucida Sans Unicode"/>
                <a:cs typeface="Lucida Sans Unicode"/>
              </a:rPr>
              <a:t>X</a:t>
            </a:r>
            <a:r>
              <a:rPr lang="en-US" sz="1800" dirty="0" smtClean="0"/>
              <a:t>PENDIT</a:t>
            </a:r>
            <a:r>
              <a:rPr lang="en-US" sz="1800" dirty="0" smtClean="0">
                <a:latin typeface="Lucida Sans Unicode"/>
                <a:cs typeface="Lucida Sans Unicode"/>
              </a:rPr>
              <a:t>U</a:t>
            </a:r>
            <a:r>
              <a:rPr lang="en-US" sz="1800" dirty="0" smtClean="0"/>
              <a:t>RE</a:t>
            </a:r>
            <a:endParaRPr lang="en-US" sz="1800" dirty="0"/>
          </a:p>
        </p:txBody>
      </p:sp>
      <p:grpSp>
        <p:nvGrpSpPr>
          <p:cNvPr id="18" name="object 3"/>
          <p:cNvGrpSpPr/>
          <p:nvPr/>
        </p:nvGrpSpPr>
        <p:grpSpPr>
          <a:xfrm>
            <a:off x="289038" y="1384565"/>
            <a:ext cx="6575460" cy="1092540"/>
            <a:chOff x="491289" y="1166812"/>
            <a:chExt cx="9887585" cy="1822450"/>
          </a:xfrm>
        </p:grpSpPr>
        <p:sp>
          <p:nvSpPr>
            <p:cNvPr id="19" name="object 4"/>
            <p:cNvSpPr/>
            <p:nvPr/>
          </p:nvSpPr>
          <p:spPr>
            <a:xfrm>
              <a:off x="491289" y="1166812"/>
              <a:ext cx="9887585" cy="1822450"/>
            </a:xfrm>
            <a:custGeom>
              <a:avLst/>
              <a:gdLst/>
              <a:ahLst/>
              <a:cxnLst/>
              <a:rect l="l" t="t" r="r" b="b"/>
              <a:pathLst>
                <a:path w="9887585" h="1822450">
                  <a:moveTo>
                    <a:pt x="9810694" y="1821864"/>
                  </a:moveTo>
                  <a:lnTo>
                    <a:pt x="76505" y="1821864"/>
                  </a:lnTo>
                  <a:lnTo>
                    <a:pt x="71180" y="1821340"/>
                  </a:lnTo>
                  <a:lnTo>
                    <a:pt x="31920" y="1805077"/>
                  </a:lnTo>
                  <a:lnTo>
                    <a:pt x="4175" y="1766350"/>
                  </a:lnTo>
                  <a:lnTo>
                    <a:pt x="0" y="1745359"/>
                  </a:lnTo>
                  <a:lnTo>
                    <a:pt x="0" y="1739983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1745359"/>
                  </a:lnTo>
                  <a:lnTo>
                    <a:pt x="9870412" y="1789944"/>
                  </a:lnTo>
                  <a:lnTo>
                    <a:pt x="9831684" y="1817689"/>
                  </a:lnTo>
                  <a:lnTo>
                    <a:pt x="9816018" y="1821340"/>
                  </a:lnTo>
                  <a:lnTo>
                    <a:pt x="9810694" y="1821864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5"/>
            <p:cNvSpPr/>
            <p:nvPr/>
          </p:nvSpPr>
          <p:spPr>
            <a:xfrm>
              <a:off x="4628571" y="1765291"/>
              <a:ext cx="657225" cy="182245"/>
            </a:xfrm>
            <a:custGeom>
              <a:avLst/>
              <a:gdLst/>
              <a:ahLst/>
              <a:cxnLst/>
              <a:rect l="l" t="t" r="r" b="b"/>
              <a:pathLst>
                <a:path w="657225" h="182244">
                  <a:moveTo>
                    <a:pt x="30169" y="179395"/>
                  </a:moveTo>
                  <a:lnTo>
                    <a:pt x="0" y="179395"/>
                  </a:lnTo>
                  <a:lnTo>
                    <a:pt x="0" y="2294"/>
                  </a:lnTo>
                  <a:lnTo>
                    <a:pt x="108085" y="2294"/>
                  </a:lnTo>
                  <a:lnTo>
                    <a:pt x="108085" y="30617"/>
                  </a:lnTo>
                  <a:lnTo>
                    <a:pt x="29721" y="30617"/>
                  </a:lnTo>
                  <a:lnTo>
                    <a:pt x="29721" y="77019"/>
                  </a:lnTo>
                  <a:lnTo>
                    <a:pt x="102151" y="77019"/>
                  </a:lnTo>
                  <a:lnTo>
                    <a:pt x="102151" y="105342"/>
                  </a:lnTo>
                  <a:lnTo>
                    <a:pt x="30169" y="105342"/>
                  </a:lnTo>
                  <a:lnTo>
                    <a:pt x="30169" y="179395"/>
                  </a:lnTo>
                  <a:close/>
                </a:path>
                <a:path w="657225" h="182244">
                  <a:moveTo>
                    <a:pt x="156719" y="179395"/>
                  </a:moveTo>
                  <a:lnTo>
                    <a:pt x="125709" y="179395"/>
                  </a:lnTo>
                  <a:lnTo>
                    <a:pt x="171719" y="2518"/>
                  </a:lnTo>
                  <a:lnTo>
                    <a:pt x="206871" y="2518"/>
                  </a:lnTo>
                  <a:lnTo>
                    <a:pt x="212377" y="23788"/>
                  </a:lnTo>
                  <a:lnTo>
                    <a:pt x="189184" y="23788"/>
                  </a:lnTo>
                  <a:lnTo>
                    <a:pt x="188445" y="31177"/>
                  </a:lnTo>
                  <a:lnTo>
                    <a:pt x="188802" y="40021"/>
                  </a:lnTo>
                  <a:lnTo>
                    <a:pt x="189168" y="42663"/>
                  </a:lnTo>
                  <a:lnTo>
                    <a:pt x="188069" y="50330"/>
                  </a:lnTo>
                  <a:lnTo>
                    <a:pt x="185448" y="62242"/>
                  </a:lnTo>
                  <a:lnTo>
                    <a:pt x="174182" y="107973"/>
                  </a:lnTo>
                  <a:lnTo>
                    <a:pt x="234169" y="107973"/>
                  </a:lnTo>
                  <a:lnTo>
                    <a:pt x="241139" y="134896"/>
                  </a:lnTo>
                  <a:lnTo>
                    <a:pt x="167689" y="134896"/>
                  </a:lnTo>
                  <a:lnTo>
                    <a:pt x="156719" y="179395"/>
                  </a:lnTo>
                  <a:close/>
                </a:path>
                <a:path w="657225" h="182244">
                  <a:moveTo>
                    <a:pt x="189168" y="42663"/>
                  </a:moveTo>
                  <a:lnTo>
                    <a:pt x="188792" y="39951"/>
                  </a:lnTo>
                  <a:lnTo>
                    <a:pt x="188442" y="31103"/>
                  </a:lnTo>
                  <a:lnTo>
                    <a:pt x="189184" y="23788"/>
                  </a:lnTo>
                  <a:lnTo>
                    <a:pt x="189918" y="31177"/>
                  </a:lnTo>
                  <a:lnTo>
                    <a:pt x="189547" y="40021"/>
                  </a:lnTo>
                  <a:lnTo>
                    <a:pt x="189168" y="42663"/>
                  </a:lnTo>
                  <a:close/>
                </a:path>
                <a:path w="657225" h="182244">
                  <a:moveTo>
                    <a:pt x="234169" y="107973"/>
                  </a:moveTo>
                  <a:lnTo>
                    <a:pt x="204184" y="107973"/>
                  </a:lnTo>
                  <a:lnTo>
                    <a:pt x="192730" y="62074"/>
                  </a:lnTo>
                  <a:lnTo>
                    <a:pt x="190232" y="50320"/>
                  </a:lnTo>
                  <a:lnTo>
                    <a:pt x="189168" y="42663"/>
                  </a:lnTo>
                  <a:lnTo>
                    <a:pt x="189550" y="39951"/>
                  </a:lnTo>
                  <a:lnTo>
                    <a:pt x="189911" y="31103"/>
                  </a:lnTo>
                  <a:lnTo>
                    <a:pt x="189184" y="23788"/>
                  </a:lnTo>
                  <a:lnTo>
                    <a:pt x="212377" y="23788"/>
                  </a:lnTo>
                  <a:lnTo>
                    <a:pt x="234169" y="107973"/>
                  </a:lnTo>
                  <a:close/>
                </a:path>
                <a:path w="657225" h="182244">
                  <a:moveTo>
                    <a:pt x="252658" y="179395"/>
                  </a:moveTo>
                  <a:lnTo>
                    <a:pt x="221872" y="179395"/>
                  </a:lnTo>
                  <a:lnTo>
                    <a:pt x="210845" y="134896"/>
                  </a:lnTo>
                  <a:lnTo>
                    <a:pt x="241139" y="134896"/>
                  </a:lnTo>
                  <a:lnTo>
                    <a:pt x="252658" y="179395"/>
                  </a:lnTo>
                  <a:close/>
                </a:path>
                <a:path w="657225" h="182244">
                  <a:moveTo>
                    <a:pt x="385196" y="179395"/>
                  </a:moveTo>
                  <a:lnTo>
                    <a:pt x="279406" y="179395"/>
                  </a:lnTo>
                  <a:lnTo>
                    <a:pt x="279406" y="2518"/>
                  </a:lnTo>
                  <a:lnTo>
                    <a:pt x="309576" y="2518"/>
                  </a:lnTo>
                  <a:lnTo>
                    <a:pt x="309576" y="151073"/>
                  </a:lnTo>
                  <a:lnTo>
                    <a:pt x="385196" y="151073"/>
                  </a:lnTo>
                  <a:lnTo>
                    <a:pt x="385196" y="179395"/>
                  </a:lnTo>
                  <a:close/>
                </a:path>
                <a:path w="657225" h="182244">
                  <a:moveTo>
                    <a:pt x="515804" y="153815"/>
                  </a:moveTo>
                  <a:lnTo>
                    <a:pt x="473329" y="153815"/>
                  </a:lnTo>
                  <a:lnTo>
                    <a:pt x="479766" y="151856"/>
                  </a:lnTo>
                  <a:lnTo>
                    <a:pt x="488647" y="143983"/>
                  </a:lnTo>
                  <a:lnTo>
                    <a:pt x="490868" y="138516"/>
                  </a:lnTo>
                  <a:lnTo>
                    <a:pt x="490868" y="125866"/>
                  </a:lnTo>
                  <a:lnTo>
                    <a:pt x="489338" y="120921"/>
                  </a:lnTo>
                  <a:lnTo>
                    <a:pt x="483218" y="112488"/>
                  </a:lnTo>
                  <a:lnTo>
                    <a:pt x="478908" y="109540"/>
                  </a:lnTo>
                  <a:lnTo>
                    <a:pt x="473348" y="107861"/>
                  </a:lnTo>
                  <a:lnTo>
                    <a:pt x="450678" y="100752"/>
                  </a:lnTo>
                  <a:lnTo>
                    <a:pt x="417314" y="74490"/>
                  </a:lnTo>
                  <a:lnTo>
                    <a:pt x="411553" y="49480"/>
                  </a:lnTo>
                  <a:lnTo>
                    <a:pt x="411976" y="42365"/>
                  </a:lnTo>
                  <a:lnTo>
                    <a:pt x="431539" y="9609"/>
                  </a:lnTo>
                  <a:lnTo>
                    <a:pt x="465344" y="0"/>
                  </a:lnTo>
                  <a:lnTo>
                    <a:pt x="476713" y="850"/>
                  </a:lnTo>
                  <a:lnTo>
                    <a:pt x="510283" y="21235"/>
                  </a:lnTo>
                  <a:lnTo>
                    <a:pt x="513606" y="27874"/>
                  </a:lnTo>
                  <a:lnTo>
                    <a:pt x="457470" y="27874"/>
                  </a:lnTo>
                  <a:lnTo>
                    <a:pt x="451648" y="29628"/>
                  </a:lnTo>
                  <a:lnTo>
                    <a:pt x="443663" y="36606"/>
                  </a:lnTo>
                  <a:lnTo>
                    <a:pt x="441667" y="41439"/>
                  </a:lnTo>
                  <a:lnTo>
                    <a:pt x="441667" y="53454"/>
                  </a:lnTo>
                  <a:lnTo>
                    <a:pt x="443196" y="58473"/>
                  </a:lnTo>
                  <a:lnTo>
                    <a:pt x="449316" y="66870"/>
                  </a:lnTo>
                  <a:lnTo>
                    <a:pt x="453794" y="69892"/>
                  </a:lnTo>
                  <a:lnTo>
                    <a:pt x="482639" y="79090"/>
                  </a:lnTo>
                  <a:lnTo>
                    <a:pt x="491228" y="82456"/>
                  </a:lnTo>
                  <a:lnTo>
                    <a:pt x="518505" y="113724"/>
                  </a:lnTo>
                  <a:lnTo>
                    <a:pt x="521038" y="131090"/>
                  </a:lnTo>
                  <a:lnTo>
                    <a:pt x="520590" y="138304"/>
                  </a:lnTo>
                  <a:lnTo>
                    <a:pt x="519246" y="145111"/>
                  </a:lnTo>
                  <a:lnTo>
                    <a:pt x="517007" y="151513"/>
                  </a:lnTo>
                  <a:lnTo>
                    <a:pt x="515804" y="153815"/>
                  </a:lnTo>
                  <a:close/>
                </a:path>
                <a:path w="657225" h="182244">
                  <a:moveTo>
                    <a:pt x="519078" y="54462"/>
                  </a:moveTo>
                  <a:lnTo>
                    <a:pt x="488796" y="54462"/>
                  </a:lnTo>
                  <a:lnTo>
                    <a:pt x="488796" y="44387"/>
                  </a:lnTo>
                  <a:lnTo>
                    <a:pt x="486781" y="37446"/>
                  </a:lnTo>
                  <a:lnTo>
                    <a:pt x="482751" y="33640"/>
                  </a:lnTo>
                  <a:lnTo>
                    <a:pt x="478759" y="29796"/>
                  </a:lnTo>
                  <a:lnTo>
                    <a:pt x="472881" y="27874"/>
                  </a:lnTo>
                  <a:lnTo>
                    <a:pt x="513606" y="27874"/>
                  </a:lnTo>
                  <a:lnTo>
                    <a:pt x="514964" y="30589"/>
                  </a:lnTo>
                  <a:lnTo>
                    <a:pt x="517836" y="41439"/>
                  </a:lnTo>
                  <a:lnTo>
                    <a:pt x="517960" y="42365"/>
                  </a:lnTo>
                  <a:lnTo>
                    <a:pt x="519078" y="54462"/>
                  </a:lnTo>
                  <a:close/>
                </a:path>
                <a:path w="657225" h="182244">
                  <a:moveTo>
                    <a:pt x="464896" y="181690"/>
                  </a:moveTo>
                  <a:lnTo>
                    <a:pt x="423027" y="168145"/>
                  </a:lnTo>
                  <a:lnTo>
                    <a:pt x="406851" y="126332"/>
                  </a:lnTo>
                  <a:lnTo>
                    <a:pt x="437133" y="126332"/>
                  </a:lnTo>
                  <a:lnTo>
                    <a:pt x="437133" y="136594"/>
                  </a:lnTo>
                  <a:lnTo>
                    <a:pt x="439483" y="143740"/>
                  </a:lnTo>
                  <a:lnTo>
                    <a:pt x="448924" y="151800"/>
                  </a:lnTo>
                  <a:lnTo>
                    <a:pt x="455828" y="153815"/>
                  </a:lnTo>
                  <a:lnTo>
                    <a:pt x="515804" y="153815"/>
                  </a:lnTo>
                  <a:lnTo>
                    <a:pt x="513873" y="157510"/>
                  </a:lnTo>
                  <a:lnTo>
                    <a:pt x="480302" y="180123"/>
                  </a:lnTo>
                  <a:lnTo>
                    <a:pt x="472819" y="181298"/>
                  </a:lnTo>
                  <a:lnTo>
                    <a:pt x="464896" y="181690"/>
                  </a:lnTo>
                  <a:close/>
                </a:path>
                <a:path w="657225" h="182244">
                  <a:moveTo>
                    <a:pt x="656599" y="179395"/>
                  </a:moveTo>
                  <a:lnTo>
                    <a:pt x="550808" y="179395"/>
                  </a:lnTo>
                  <a:lnTo>
                    <a:pt x="550808" y="2518"/>
                  </a:lnTo>
                  <a:lnTo>
                    <a:pt x="656599" y="2518"/>
                  </a:lnTo>
                  <a:lnTo>
                    <a:pt x="656599" y="30617"/>
                  </a:lnTo>
                  <a:lnTo>
                    <a:pt x="580698" y="30617"/>
                  </a:lnTo>
                  <a:lnTo>
                    <a:pt x="580698" y="73101"/>
                  </a:lnTo>
                  <a:lnTo>
                    <a:pt x="648594" y="73101"/>
                  </a:lnTo>
                  <a:lnTo>
                    <a:pt x="648594" y="101200"/>
                  </a:lnTo>
                  <a:lnTo>
                    <a:pt x="580698" y="101200"/>
                  </a:lnTo>
                  <a:lnTo>
                    <a:pt x="580698" y="151296"/>
                  </a:lnTo>
                  <a:lnTo>
                    <a:pt x="656599" y="151296"/>
                  </a:lnTo>
                  <a:lnTo>
                    <a:pt x="656599" y="179395"/>
                  </a:lnTo>
                  <a:close/>
                </a:path>
              </a:pathLst>
            </a:custGeom>
            <a:solidFill>
              <a:srgbClr val="BE2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6"/>
          <p:cNvSpPr txBox="1"/>
          <p:nvPr/>
        </p:nvSpPr>
        <p:spPr>
          <a:xfrm>
            <a:off x="374814" y="1247930"/>
            <a:ext cx="6108179" cy="1299202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&lt;-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auto.arima(cafe,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xreg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fourier(cafe,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K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),</a:t>
            </a:r>
            <a:endParaRPr lang="en-US"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lang="en-US"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              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seasonal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FALSE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lambda </a:t>
            </a:r>
            <a:r>
              <a:rPr sz="1400" dirty="0" smtClean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-10" dirty="0" smtClean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BE2F72"/>
                </a:solidFill>
                <a:latin typeface="Courier New"/>
                <a:cs typeface="Courier New"/>
              </a:rPr>
              <a:t>0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  <a:p>
            <a:pPr marL="424815" marR="5080" indent="-412750">
              <a:lnSpc>
                <a:spcPct val="141800"/>
              </a:lnSpc>
              <a:tabLst>
                <a:tab pos="3584575" algn="l"/>
              </a:tabLst>
            </a:pP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fit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%&gt;%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forecast(xreg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fourier(cafe,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K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dirty="0">
                <a:solidFill>
                  <a:srgbClr val="BE2F72"/>
                </a:solidFill>
                <a:latin typeface="Courier New"/>
                <a:cs typeface="Courier New"/>
              </a:rPr>
              <a:t>1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h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400" spc="-5" dirty="0">
                <a:solidFill>
                  <a:srgbClr val="BE2F72"/>
                </a:solidFill>
                <a:latin typeface="Courier New"/>
                <a:cs typeface="Courier New"/>
              </a:rPr>
              <a:t>24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))</a:t>
            </a:r>
            <a:r>
              <a:rPr sz="1400" spc="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%&gt;% </a:t>
            </a:r>
            <a:r>
              <a:rPr sz="1400" spc="-106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endParaRPr lang="en-US" sz="1400" spc="-1065" dirty="0" smtClean="0">
              <a:solidFill>
                <a:srgbClr val="04182D"/>
              </a:solidFill>
              <a:latin typeface="Courier New"/>
              <a:cs typeface="Courier New"/>
            </a:endParaRPr>
          </a:p>
          <a:p>
            <a:pPr marL="424815" marR="5080" indent="-412750">
              <a:lnSpc>
                <a:spcPct val="141800"/>
              </a:lnSpc>
              <a:tabLst>
                <a:tab pos="3584575" algn="l"/>
              </a:tabLst>
            </a:pPr>
            <a:r>
              <a:rPr sz="1400" spc="-5" dirty="0" err="1" smtClean="0">
                <a:solidFill>
                  <a:srgbClr val="04182D"/>
                </a:solidFill>
                <a:latin typeface="Courier New"/>
                <a:cs typeface="Courier New"/>
              </a:rPr>
              <a:t>autoplot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()</a:t>
            </a:r>
            <a:r>
              <a:rPr sz="1400" spc="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400" spc="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 err="1" smtClean="0">
                <a:solidFill>
                  <a:srgbClr val="04182D"/>
                </a:solidFill>
                <a:latin typeface="Courier New"/>
                <a:cs typeface="Courier New"/>
              </a:rPr>
              <a:t>ylim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(</a:t>
            </a:r>
            <a:r>
              <a:rPr sz="1400" spc="-5" dirty="0" smtClean="0">
                <a:solidFill>
                  <a:srgbClr val="BE2F72"/>
                </a:solidFill>
                <a:latin typeface="Courier New"/>
                <a:cs typeface="Courier New"/>
              </a:rPr>
              <a:t>1.6</a:t>
            </a:r>
            <a:r>
              <a:rPr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,</a:t>
            </a:r>
            <a:r>
              <a:rPr lang="en-US" sz="1400" spc="-5" dirty="0" smtClean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-5" dirty="0" smtClean="0">
                <a:solidFill>
                  <a:srgbClr val="BE2F72"/>
                </a:solidFill>
                <a:latin typeface="Courier New"/>
                <a:cs typeface="Courier New"/>
              </a:rPr>
              <a:t>5.1</a:t>
            </a:r>
            <a:r>
              <a:rPr sz="1400" spc="-5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12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038" y="2522703"/>
            <a:ext cx="6481111" cy="232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298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FEB5C5-97E6-6B45-BBE4-F2449473BB96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283380" y="1097674"/>
            <a:ext cx="109950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 smtClean="0"/>
              <a:t>D</a:t>
            </a:r>
            <a:r>
              <a:rPr lang="en-US" sz="1800" dirty="0" smtClean="0">
                <a:latin typeface="Lucida Sans Unicode"/>
                <a:cs typeface="Lucida Sans Unicode"/>
              </a:rPr>
              <a:t>Y</a:t>
            </a:r>
            <a:r>
              <a:rPr lang="en-US" sz="1800" dirty="0" smtClean="0"/>
              <a:t>NAMIC HARMONIC REGRESSION</a:t>
            </a:r>
            <a:endParaRPr lang="en-US" sz="1800" dirty="0"/>
          </a:p>
        </p:txBody>
      </p:sp>
      <p:pic>
        <p:nvPicPr>
          <p:cNvPr id="10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380" y="1387497"/>
            <a:ext cx="6080840" cy="75730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83380" y="2379672"/>
            <a:ext cx="7036904" cy="2186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3850" indent="-285750">
              <a:lnSpc>
                <a:spcPct val="100000"/>
              </a:lnSpc>
              <a:spcBef>
                <a:spcPts val="1530"/>
              </a:spcBef>
              <a:buFont typeface="Arial" panose="020B0604020202020204" pitchFamily="34" charset="0"/>
              <a:buChar char="•"/>
            </a:pPr>
            <a:r>
              <a:rPr lang="en-US" spc="190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lang="en-US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t</a:t>
            </a:r>
            <a:r>
              <a:rPr lang="en-US"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h</a:t>
            </a:r>
            <a:r>
              <a:rPr lang="en-US" spc="6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lang="en-US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lang="en-US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p</a:t>
            </a:r>
            <a:r>
              <a:rPr lang="en-US" spc="-145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lang="en-US"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lang="en-US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lang="en-US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lang="en-US" spc="145" dirty="0">
                <a:solidFill>
                  <a:srgbClr val="04182D"/>
                </a:solidFill>
                <a:latin typeface="Lucida Sans Unicode"/>
                <a:cs typeface="Lucida Sans Unicode"/>
              </a:rPr>
              <a:t>c</a:t>
            </a:r>
            <a:r>
              <a:rPr lang="en-US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t</a:t>
            </a:r>
            <a:r>
              <a:rPr lang="en-US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lang="en-US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lang="en-US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-80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lang="en-US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lang="en-US" spc="-80" dirty="0">
                <a:solidFill>
                  <a:srgbClr val="04182D"/>
                </a:solidFill>
                <a:latin typeface="Lucida Sans Unicode"/>
                <a:cs typeface="Lucida Sans Unicode"/>
              </a:rPr>
              <a:t>r</a:t>
            </a:r>
            <a:r>
              <a:rPr lang="en-US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i</a:t>
            </a:r>
            <a:r>
              <a:rPr lang="en-US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lang="en-US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b</a:t>
            </a:r>
            <a:r>
              <a:rPr lang="en-US" spc="-120" dirty="0">
                <a:solidFill>
                  <a:srgbClr val="04182D"/>
                </a:solidFill>
                <a:latin typeface="Lucida Sans Unicode"/>
                <a:cs typeface="Lucida Sans Unicode"/>
              </a:rPr>
              <a:t>l</a:t>
            </a:r>
            <a:r>
              <a:rPr lang="en-US"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lang="en-US"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lang="en-US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145" dirty="0">
                <a:solidFill>
                  <a:srgbClr val="04182D"/>
                </a:solidFill>
                <a:latin typeface="Lucida Sans Unicode"/>
                <a:cs typeface="Lucida Sans Unicode"/>
              </a:rPr>
              <a:t>c</a:t>
            </a:r>
            <a:r>
              <a:rPr lang="en-US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lang="en-US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n</a:t>
            </a:r>
            <a:r>
              <a:rPr lang="en-US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b</a:t>
            </a:r>
            <a:r>
              <a:rPr lang="en-US"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lang="en-US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lang="en-US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dd</a:t>
            </a:r>
            <a:r>
              <a:rPr lang="en-US"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lang="en-US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lang="en-US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19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lang="en-US" spc="-114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lang="en-US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-30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lang="en-US" spc="65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lang="en-US" spc="-95" dirty="0">
                <a:solidFill>
                  <a:srgbClr val="04182D"/>
                </a:solidFill>
                <a:latin typeface="Lucida Sans Unicode"/>
                <a:cs typeface="Lucida Sans Unicode"/>
              </a:rPr>
              <a:t>ll</a:t>
            </a:r>
            <a:r>
              <a:rPr lang="en-US" spc="-140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: </a:t>
            </a:r>
            <a:r>
              <a:rPr lang="en-US" spc="5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lang="en-US" sz="2000" i="1" spc="-55" dirty="0">
                <a:solidFill>
                  <a:srgbClr val="04182D"/>
                </a:solidFill>
                <a:latin typeface="Verdana"/>
                <a:cs typeface="Verdana"/>
              </a:rPr>
              <a:t>x</a:t>
            </a:r>
            <a:r>
              <a:rPr lang="en-US" sz="2400" i="1" spc="-97" baseline="-12919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lang="en-US" sz="2400" spc="-75" baseline="-12919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lang="en-US" sz="2400" spc="104" baseline="-12919" dirty="0">
                <a:solidFill>
                  <a:srgbClr val="04182D"/>
                </a:solidFill>
                <a:latin typeface="Tahoma"/>
                <a:cs typeface="Tahoma"/>
              </a:rPr>
              <a:t>1</a:t>
            </a:r>
            <a:r>
              <a:rPr lang="en-US" sz="2000"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lang="en-US" sz="2000"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lang="en-US" sz="2000" spc="-80" dirty="0">
                <a:solidFill>
                  <a:srgbClr val="04182D"/>
                </a:solidFill>
                <a:latin typeface="Tahoma"/>
                <a:cs typeface="Tahoma"/>
              </a:rPr>
              <a:t>...</a:t>
            </a:r>
            <a:r>
              <a:rPr lang="en-US" sz="2000" spc="-75" dirty="0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lang="en-US" sz="2000" spc="-4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lang="en-US" sz="2000" i="1" spc="-55" dirty="0" err="1">
                <a:solidFill>
                  <a:srgbClr val="04182D"/>
                </a:solidFill>
                <a:latin typeface="Verdana"/>
                <a:cs typeface="Verdana"/>
              </a:rPr>
              <a:t>x</a:t>
            </a:r>
            <a:r>
              <a:rPr lang="en-US" sz="2400" i="1" spc="-97" baseline="-12919" dirty="0" err="1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lang="en-US" sz="2400" spc="-75" baseline="-12919" dirty="0" err="1">
                <a:solidFill>
                  <a:srgbClr val="04182D"/>
                </a:solidFill>
                <a:latin typeface="Tahoma"/>
                <a:cs typeface="Tahoma"/>
              </a:rPr>
              <a:t>,</a:t>
            </a:r>
            <a:r>
              <a:rPr lang="en-US" sz="2400" i="1" spc="97" baseline="-12919" dirty="0" err="1">
                <a:solidFill>
                  <a:srgbClr val="04182D"/>
                </a:solidFill>
                <a:latin typeface="Verdana"/>
                <a:cs typeface="Verdana"/>
              </a:rPr>
              <a:t>r</a:t>
            </a:r>
            <a:endParaRPr lang="en-US" sz="2400" baseline="-12919" dirty="0">
              <a:latin typeface="Verdana"/>
              <a:cs typeface="Verdana"/>
            </a:endParaRPr>
          </a:p>
          <a:p>
            <a:pPr marL="323850" indent="-285750">
              <a:lnSpc>
                <a:spcPct val="100000"/>
              </a:lnSpc>
              <a:spcBef>
                <a:spcPts val="1440"/>
              </a:spcBef>
              <a:buFont typeface="Arial" panose="020B0604020202020204" pitchFamily="34" charset="0"/>
              <a:buChar char="•"/>
            </a:pPr>
            <a:r>
              <a:rPr lang="en-US" spc="20" dirty="0">
                <a:solidFill>
                  <a:srgbClr val="04182D"/>
                </a:solidFill>
                <a:latin typeface="Lucida Sans Unicode"/>
                <a:cs typeface="Lucida Sans Unicode"/>
              </a:rPr>
              <a:t>Choose</a:t>
            </a:r>
            <a:r>
              <a:rPr lang="en-US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65" dirty="0">
                <a:solidFill>
                  <a:srgbClr val="04182D"/>
                </a:solidFill>
                <a:latin typeface="Lucida Sans Unicode"/>
                <a:cs typeface="Lucida Sans Unicode"/>
              </a:rPr>
              <a:t>K</a:t>
            </a:r>
            <a:r>
              <a:rPr lang="en-US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to</a:t>
            </a:r>
            <a:r>
              <a:rPr lang="en-US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minimi</a:t>
            </a:r>
            <a:r>
              <a:rPr lang="en-US" spc="-50" dirty="0">
                <a:solidFill>
                  <a:srgbClr val="04182D"/>
                </a:solidFill>
                <a:latin typeface="Microsoft Sans Serif"/>
                <a:cs typeface="Microsoft Sans Serif"/>
              </a:rPr>
              <a:t>z</a:t>
            </a:r>
            <a:r>
              <a:rPr lang="en-US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e</a:t>
            </a:r>
            <a:r>
              <a:rPr lang="en-US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15" dirty="0">
                <a:solidFill>
                  <a:srgbClr val="04182D"/>
                </a:solidFill>
                <a:latin typeface="Lucida Sans Unicode"/>
                <a:cs typeface="Lucida Sans Unicode"/>
              </a:rPr>
              <a:t>the</a:t>
            </a:r>
            <a:r>
              <a:rPr lang="en-US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z="2000" i="1" spc="100" dirty="0" err="1">
                <a:solidFill>
                  <a:srgbClr val="04182D"/>
                </a:solidFill>
                <a:latin typeface="Verdana"/>
                <a:cs typeface="Verdana"/>
              </a:rPr>
              <a:t>AIC</a:t>
            </a:r>
            <a:r>
              <a:rPr lang="en-US" sz="2400" i="1" spc="150" baseline="-12919" dirty="0" err="1">
                <a:solidFill>
                  <a:srgbClr val="04182D"/>
                </a:solidFill>
                <a:latin typeface="Verdana"/>
                <a:cs typeface="Verdana"/>
              </a:rPr>
              <a:t>c</a:t>
            </a:r>
            <a:endParaRPr lang="en-US" sz="2400" baseline="-12919" dirty="0">
              <a:latin typeface="Verdana"/>
              <a:cs typeface="Verdana"/>
            </a:endParaRPr>
          </a:p>
          <a:p>
            <a:pPr marL="323850" indent="-285750">
              <a:lnSpc>
                <a:spcPct val="100000"/>
              </a:lnSpc>
              <a:spcBef>
                <a:spcPts val="1740"/>
              </a:spcBef>
              <a:buFont typeface="Arial" panose="020B0604020202020204" pitchFamily="34" charset="0"/>
              <a:buChar char="•"/>
            </a:pPr>
            <a:r>
              <a:rPr lang="en-US" spc="65" dirty="0">
                <a:solidFill>
                  <a:srgbClr val="04182D"/>
                </a:solidFill>
                <a:latin typeface="Lucida Sans Unicode"/>
                <a:cs typeface="Lucida Sans Unicode"/>
              </a:rPr>
              <a:t>K</a:t>
            </a:r>
            <a:r>
              <a:rPr lang="en-US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95" dirty="0">
                <a:solidFill>
                  <a:srgbClr val="04182D"/>
                </a:solidFill>
                <a:latin typeface="Lucida Sans Unicode"/>
                <a:cs typeface="Lucida Sans Unicode"/>
              </a:rPr>
              <a:t>can</a:t>
            </a:r>
            <a:r>
              <a:rPr lang="en-US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not</a:t>
            </a:r>
            <a:r>
              <a:rPr lang="en-US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be</a:t>
            </a:r>
            <a:r>
              <a:rPr lang="en-US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more</a:t>
            </a:r>
            <a:r>
              <a:rPr lang="en-US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than</a:t>
            </a:r>
            <a:r>
              <a:rPr lang="en-US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lang="en-US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lang="en-US" spc="45" dirty="0">
                <a:solidFill>
                  <a:srgbClr val="04182D"/>
                </a:solidFill>
                <a:latin typeface="Microsoft Sans Serif"/>
                <a:cs typeface="Microsoft Sans Serif"/>
              </a:rPr>
              <a:t>/2</a:t>
            </a:r>
            <a:endParaRPr lang="en-US" dirty="0">
              <a:latin typeface="Microsoft Sans Serif"/>
              <a:cs typeface="Microsoft Sans Serif"/>
            </a:endParaRPr>
          </a:p>
          <a:p>
            <a:pPr marL="323850" marR="30480" indent="-285750">
              <a:lnSpc>
                <a:spcPct val="115100"/>
              </a:lnSpc>
              <a:spcBef>
                <a:spcPts val="1290"/>
              </a:spcBef>
              <a:buFont typeface="Arial" panose="020B0604020202020204" pitchFamily="34" charset="0"/>
              <a:buChar char="•"/>
            </a:pPr>
            <a:r>
              <a:rPr lang="en-US" spc="-100" dirty="0">
                <a:solidFill>
                  <a:srgbClr val="04182D"/>
                </a:solidFill>
                <a:latin typeface="Lucida Sans Unicode"/>
                <a:cs typeface="Lucida Sans Unicode"/>
              </a:rPr>
              <a:t>This </a:t>
            </a:r>
            <a:r>
              <a:rPr lang="en-US" spc="-90" dirty="0">
                <a:solidFill>
                  <a:srgbClr val="04182D"/>
                </a:solidFill>
                <a:latin typeface="Lucida Sans Unicode"/>
                <a:cs typeface="Lucida Sans Unicode"/>
              </a:rPr>
              <a:t>is </a:t>
            </a:r>
            <a:r>
              <a:rPr lang="en-US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partic</a:t>
            </a:r>
            <a:r>
              <a:rPr lang="en-US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lang="en-US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larl</a:t>
            </a:r>
            <a:r>
              <a:rPr lang="en-US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y </a:t>
            </a:r>
            <a:r>
              <a:rPr lang="en-US"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lang="en-US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sef</a:t>
            </a:r>
            <a:r>
              <a:rPr lang="en-US" spc="-5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lang="en-US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l </a:t>
            </a:r>
            <a:r>
              <a:rPr lang="en-US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for </a:t>
            </a:r>
            <a:r>
              <a:rPr lang="en-US" spc="-5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lang="en-US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eekl</a:t>
            </a:r>
            <a:r>
              <a:rPr lang="en-US" spc="-5" dirty="0">
                <a:solidFill>
                  <a:srgbClr val="04182D"/>
                </a:solidFill>
                <a:latin typeface="Microsoft Sans Serif"/>
                <a:cs typeface="Microsoft Sans Serif"/>
              </a:rPr>
              <a:t>y </a:t>
            </a:r>
            <a:r>
              <a:rPr lang="en-US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data</a:t>
            </a:r>
            <a:r>
              <a:rPr lang="en-US" spc="45" dirty="0">
                <a:solidFill>
                  <a:srgbClr val="04182D"/>
                </a:solidFill>
                <a:latin typeface="Microsoft Sans Serif"/>
                <a:cs typeface="Microsoft Sans Serif"/>
              </a:rPr>
              <a:t>, </a:t>
            </a:r>
            <a:r>
              <a:rPr lang="en-US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dail</a:t>
            </a:r>
            <a:r>
              <a:rPr lang="en-US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y </a:t>
            </a:r>
            <a:r>
              <a:rPr lang="en-US"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data </a:t>
            </a:r>
            <a:r>
              <a:rPr lang="en-US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and </a:t>
            </a:r>
            <a:r>
              <a:rPr lang="en-US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s</a:t>
            </a:r>
            <a:r>
              <a:rPr lang="en-US" spc="-2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lang="en-US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b</a:t>
            </a:r>
            <a:r>
              <a:rPr lang="en-US" spc="-25" dirty="0">
                <a:solidFill>
                  <a:srgbClr val="04182D"/>
                </a:solidFill>
                <a:latin typeface="Microsoft Sans Serif"/>
                <a:cs typeface="Microsoft Sans Serif"/>
              </a:rPr>
              <a:t>- </a:t>
            </a:r>
            <a:r>
              <a:rPr lang="en-US" spc="-73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lang="en-US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dail</a:t>
            </a:r>
            <a:r>
              <a:rPr lang="en-US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lang="en-US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lang="en-US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data</a:t>
            </a:r>
            <a:r>
              <a:rPr lang="en-US" spc="45" dirty="0">
                <a:solidFill>
                  <a:srgbClr val="04182D"/>
                </a:solidFill>
                <a:latin typeface="Microsoft Sans Serif"/>
                <a:cs typeface="Microsoft Sans Serif"/>
              </a:rPr>
              <a:t>.</a:t>
            </a:r>
            <a:endParaRPr lang="en-US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300661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0" name="object 2"/>
          <p:cNvSpPr txBox="1">
            <a:spLocks noGrp="1"/>
          </p:cNvSpPr>
          <p:nvPr>
            <p:ph idx="1"/>
          </p:nvPr>
        </p:nvSpPr>
        <p:spPr>
          <a:xfrm>
            <a:off x="457200" y="1850510"/>
            <a:ext cx="7772400" cy="1143000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sz="6400" spc="-440" dirty="0"/>
              <a:t>L</a:t>
            </a:r>
            <a:r>
              <a:rPr sz="6400" spc="-365" dirty="0"/>
              <a:t>e</a:t>
            </a:r>
            <a:r>
              <a:rPr sz="6400" spc="-225" dirty="0"/>
              <a:t>t</a:t>
            </a:r>
            <a:r>
              <a:rPr sz="7000" spc="-150" dirty="0">
                <a:latin typeface="Microsoft Sans Serif"/>
                <a:cs typeface="Microsoft Sans Serif"/>
              </a:rPr>
              <a:t>'</a:t>
            </a:r>
            <a:r>
              <a:rPr sz="6400" spc="-360" dirty="0"/>
              <a:t>s</a:t>
            </a:r>
            <a:r>
              <a:rPr sz="6400" spc="-685" dirty="0"/>
              <a:t> </a:t>
            </a:r>
            <a:r>
              <a:rPr sz="6400" spc="-265" dirty="0"/>
              <a:t>p</a:t>
            </a:r>
            <a:r>
              <a:rPr sz="6400" spc="-484" dirty="0"/>
              <a:t>r</a:t>
            </a:r>
            <a:r>
              <a:rPr sz="6400" spc="-55" dirty="0"/>
              <a:t>a</a:t>
            </a:r>
            <a:r>
              <a:rPr sz="6400" spc="160" dirty="0"/>
              <a:t>c</a:t>
            </a:r>
            <a:r>
              <a:rPr sz="6400" spc="-225" dirty="0"/>
              <a:t>t</a:t>
            </a:r>
            <a:r>
              <a:rPr sz="6400" spc="-120" dirty="0"/>
              <a:t>i</a:t>
            </a:r>
            <a:r>
              <a:rPr sz="6400" spc="160" dirty="0"/>
              <a:t>c</a:t>
            </a:r>
            <a:r>
              <a:rPr sz="6400" spc="-300" dirty="0"/>
              <a:t>e</a:t>
            </a:r>
            <a:r>
              <a:rPr sz="7000" spc="-140" dirty="0">
                <a:latin typeface="Microsoft Sans Serif"/>
                <a:cs typeface="Microsoft Sans Serif"/>
              </a:rPr>
              <a:t>!</a:t>
            </a:r>
            <a:endParaRPr sz="7000" dirty="0">
              <a:latin typeface="Microsoft Sans Serif"/>
              <a:cs typeface="Microsoft Sans Serif"/>
            </a:endParaRPr>
          </a:p>
          <a:p>
            <a:pPr marR="53975" algn="ctr">
              <a:lnSpc>
                <a:spcPct val="100000"/>
              </a:lnSpc>
              <a:spcBef>
                <a:spcPts val="865"/>
              </a:spcBef>
              <a:tabLst>
                <a:tab pos="2611755" algn="l"/>
                <a:tab pos="3120390" algn="l"/>
              </a:tabLst>
            </a:pPr>
            <a:r>
              <a:rPr sz="2250" spc="65" dirty="0"/>
              <a:t>F</a:t>
            </a:r>
            <a:r>
              <a:rPr sz="2250" spc="-470" dirty="0"/>
              <a:t> </a:t>
            </a:r>
            <a:r>
              <a:rPr sz="2250" spc="55" dirty="0"/>
              <a:t>O</a:t>
            </a:r>
            <a:r>
              <a:rPr sz="2250" spc="-475" dirty="0"/>
              <a:t> </a:t>
            </a:r>
            <a:r>
              <a:rPr sz="2250" spc="-150" dirty="0"/>
              <a:t>R</a:t>
            </a:r>
            <a:r>
              <a:rPr sz="2250" spc="-465" dirty="0"/>
              <a:t> </a:t>
            </a:r>
            <a:r>
              <a:rPr sz="2250" spc="190" dirty="0"/>
              <a:t>EC</a:t>
            </a:r>
            <a:r>
              <a:rPr sz="2250" spc="-470" dirty="0"/>
              <a:t> </a:t>
            </a:r>
            <a:r>
              <a:rPr sz="2250" spc="95" dirty="0"/>
              <a:t>A</a:t>
            </a:r>
            <a:r>
              <a:rPr sz="2250" spc="-490" dirty="0"/>
              <a:t> </a:t>
            </a:r>
            <a:r>
              <a:rPr sz="2250" spc="-229" dirty="0"/>
              <a:t>S</a:t>
            </a:r>
            <a:r>
              <a:rPr sz="2250" spc="-470" dirty="0"/>
              <a:t> </a:t>
            </a:r>
            <a:r>
              <a:rPr sz="2250" spc="-65" dirty="0"/>
              <a:t>T</a:t>
            </a:r>
            <a:r>
              <a:rPr sz="2250" spc="-465" dirty="0"/>
              <a:t> </a:t>
            </a:r>
            <a:r>
              <a:rPr sz="2250" spc="-295" dirty="0"/>
              <a:t>I</a:t>
            </a:r>
            <a:r>
              <a:rPr sz="2250" spc="-470" dirty="0"/>
              <a:t> </a:t>
            </a:r>
            <a:r>
              <a:rPr sz="2250" spc="35" dirty="0"/>
              <a:t>N</a:t>
            </a:r>
            <a:r>
              <a:rPr sz="2250" spc="-475" dirty="0"/>
              <a:t> </a:t>
            </a:r>
            <a:r>
              <a:rPr sz="2250" spc="5" dirty="0"/>
              <a:t>G	</a:t>
            </a:r>
            <a:r>
              <a:rPr sz="2250" spc="-295" dirty="0"/>
              <a:t>I</a:t>
            </a:r>
            <a:r>
              <a:rPr sz="2250" spc="-465" dirty="0"/>
              <a:t> </a:t>
            </a:r>
            <a:r>
              <a:rPr sz="2250" spc="35" dirty="0"/>
              <a:t>N	</a:t>
            </a:r>
            <a:r>
              <a:rPr sz="2250" spc="-150" dirty="0"/>
              <a:t>R</a:t>
            </a: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1067652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Date Placeholder 1"/>
          <p:cNvSpPr txBox="1">
            <a:spLocks/>
          </p:cNvSpPr>
          <p:nvPr/>
        </p:nvSpPr>
        <p:spPr>
          <a:xfrm>
            <a:off x="101885" y="4695073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600" b="0" i="0" kern="1200">
                <a:solidFill>
                  <a:srgbClr val="FFFFFF"/>
                </a:solidFill>
                <a:latin typeface="Gill Sans MT"/>
                <a:ea typeface="+mn-ea"/>
                <a:cs typeface="Gill Sans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8" name="object 6"/>
          <p:cNvSpPr/>
          <p:nvPr/>
        </p:nvSpPr>
        <p:spPr>
          <a:xfrm>
            <a:off x="226755" y="3935034"/>
            <a:ext cx="4017460" cy="943031"/>
          </a:xfrm>
          <a:custGeom>
            <a:avLst/>
            <a:gdLst/>
            <a:ahLst/>
            <a:cxnLst/>
            <a:rect l="l" t="t" r="r" b="b"/>
            <a:pathLst>
              <a:path w="6141720" h="1699259">
                <a:moveTo>
                  <a:pt x="6064612" y="1699042"/>
                </a:moveTo>
                <a:lnTo>
                  <a:pt x="0" y="1699042"/>
                </a:lnTo>
                <a:lnTo>
                  <a:pt x="0" y="0"/>
                </a:lnTo>
                <a:lnTo>
                  <a:pt x="6064612" y="0"/>
                </a:lnTo>
                <a:lnTo>
                  <a:pt x="6069936" y="524"/>
                </a:lnTo>
                <a:lnTo>
                  <a:pt x="6109196" y="16786"/>
                </a:lnTo>
                <a:lnTo>
                  <a:pt x="6136941" y="55514"/>
                </a:lnTo>
                <a:lnTo>
                  <a:pt x="6141117" y="76505"/>
                </a:lnTo>
                <a:lnTo>
                  <a:pt x="6141117" y="1622537"/>
                </a:lnTo>
                <a:lnTo>
                  <a:pt x="6124330" y="1667122"/>
                </a:lnTo>
                <a:lnTo>
                  <a:pt x="6085602" y="1694867"/>
                </a:lnTo>
                <a:lnTo>
                  <a:pt x="6064612" y="1699042"/>
                </a:lnTo>
                <a:close/>
              </a:path>
            </a:pathLst>
          </a:custGeom>
          <a:solidFill>
            <a:srgbClr val="7833FF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ct val="100000"/>
              </a:lnSpc>
              <a:spcBef>
                <a:spcPts val="690"/>
              </a:spcBef>
            </a:pPr>
            <a:r>
              <a:rPr lang="en-US" sz="1600" spc="-21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a hid  A sg ha 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78100"/>
              </a:lnSpc>
              <a:spcBef>
                <a:spcPts val="1040"/>
              </a:spcBef>
            </a:pPr>
            <a:r>
              <a:rPr lang="en-US"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 School of Economics, QAU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795337" y="-2756328"/>
            <a:ext cx="6897756" cy="5561779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lang="en-US" sz="4400" spc="-440" dirty="0" smtClean="0">
                <a:cs typeface="Microsoft Sans Serif"/>
              </a:rPr>
              <a:t>T</a:t>
            </a:r>
            <a:br>
              <a:rPr lang="en-US" sz="4400" spc="-440" dirty="0" smtClean="0">
                <a:cs typeface="Microsoft Sans Serif"/>
              </a:rPr>
            </a:br>
            <a:r>
              <a:rPr lang="en-US" sz="4400" spc="-440" dirty="0">
                <a:cs typeface="Microsoft Sans Serif"/>
              </a:rPr>
              <a:t/>
            </a:r>
            <a:br>
              <a:rPr lang="en-US" sz="4400" spc="-440" dirty="0">
                <a:cs typeface="Microsoft Sans Serif"/>
              </a:rPr>
            </a:br>
            <a:r>
              <a:rPr lang="en-US" sz="4400" spc="-440" dirty="0" smtClean="0">
                <a:cs typeface="Microsoft Sans Serif"/>
              </a:rPr>
              <a:t/>
            </a:r>
            <a:br>
              <a:rPr lang="en-US" sz="4400" spc="-440" dirty="0" smtClean="0">
                <a:cs typeface="Microsoft Sans Serif"/>
              </a:rPr>
            </a:br>
            <a:r>
              <a:rPr lang="en-US" sz="4400" spc="-440" dirty="0">
                <a:cs typeface="Microsoft Sans Serif"/>
              </a:rPr>
              <a:t/>
            </a:r>
            <a:br>
              <a:rPr lang="en-US" sz="4400" spc="-440" dirty="0">
                <a:cs typeface="Microsoft Sans Serif"/>
              </a:rPr>
            </a:br>
            <a:r>
              <a:rPr lang="en-US" sz="4400" spc="-440" dirty="0" smtClean="0">
                <a:cs typeface="Microsoft Sans Serif"/>
              </a:rPr>
              <a:t/>
            </a:r>
            <a:br>
              <a:rPr lang="en-US" sz="4400" spc="-440" dirty="0" smtClean="0">
                <a:cs typeface="Microsoft Sans Serif"/>
              </a:rPr>
            </a:br>
            <a:r>
              <a:rPr lang="en-US" sz="4400" spc="-440" dirty="0">
                <a:cs typeface="Microsoft Sans Serif"/>
              </a:rPr>
              <a:t/>
            </a:r>
            <a:br>
              <a:rPr lang="en-US" sz="4400" spc="-440" dirty="0">
                <a:cs typeface="Microsoft Sans Serif"/>
              </a:rPr>
            </a:br>
            <a:r>
              <a:rPr lang="en-US" sz="4400" dirty="0" smtClean="0">
                <a:cs typeface="Microsoft Sans Serif"/>
              </a:rPr>
              <a:t>TBATS MODEL</a:t>
            </a:r>
            <a:endParaRPr sz="4400" dirty="0">
              <a:latin typeface="Microsoft Sans Serif"/>
              <a:cs typeface="Microsoft Sans Serif"/>
            </a:endParaRPr>
          </a:p>
          <a:p>
            <a:pPr marR="53975" algn="ctr">
              <a:lnSpc>
                <a:spcPct val="100000"/>
              </a:lnSpc>
              <a:spcBef>
                <a:spcPts val="865"/>
              </a:spcBef>
              <a:tabLst>
                <a:tab pos="2611755" algn="l"/>
                <a:tab pos="3120390" algn="l"/>
              </a:tabLst>
            </a:pPr>
            <a:r>
              <a:rPr sz="2250" spc="65" dirty="0"/>
              <a:t>F</a:t>
            </a:r>
            <a:r>
              <a:rPr sz="2250" spc="-470" dirty="0"/>
              <a:t> </a:t>
            </a:r>
            <a:r>
              <a:rPr sz="2250" spc="55" dirty="0"/>
              <a:t>O</a:t>
            </a:r>
            <a:r>
              <a:rPr sz="2250" spc="-475" dirty="0"/>
              <a:t> </a:t>
            </a:r>
            <a:r>
              <a:rPr sz="2250" spc="-150" dirty="0"/>
              <a:t>R</a:t>
            </a:r>
            <a:r>
              <a:rPr sz="2250" spc="-465" dirty="0"/>
              <a:t> </a:t>
            </a:r>
            <a:r>
              <a:rPr sz="2250" spc="190" dirty="0"/>
              <a:t>EC</a:t>
            </a:r>
            <a:r>
              <a:rPr sz="2250" spc="-470" dirty="0"/>
              <a:t> </a:t>
            </a:r>
            <a:r>
              <a:rPr sz="2250" spc="95" dirty="0"/>
              <a:t>A</a:t>
            </a:r>
            <a:r>
              <a:rPr sz="2250" spc="-490" dirty="0"/>
              <a:t> </a:t>
            </a:r>
            <a:r>
              <a:rPr sz="2250" spc="-229" dirty="0"/>
              <a:t>S</a:t>
            </a:r>
            <a:r>
              <a:rPr sz="2250" spc="-470" dirty="0"/>
              <a:t> </a:t>
            </a:r>
            <a:r>
              <a:rPr sz="2250" spc="-65" dirty="0"/>
              <a:t>T</a:t>
            </a:r>
            <a:r>
              <a:rPr sz="2250" spc="-465" dirty="0"/>
              <a:t> </a:t>
            </a:r>
            <a:r>
              <a:rPr sz="2250" spc="-295" dirty="0"/>
              <a:t>I</a:t>
            </a:r>
            <a:r>
              <a:rPr sz="2250" spc="-470" dirty="0"/>
              <a:t> </a:t>
            </a:r>
            <a:r>
              <a:rPr sz="2250" spc="35" dirty="0"/>
              <a:t>N</a:t>
            </a:r>
            <a:r>
              <a:rPr sz="2250" spc="-475" dirty="0"/>
              <a:t> </a:t>
            </a:r>
            <a:r>
              <a:rPr sz="2250" spc="5" dirty="0"/>
              <a:t>G	</a:t>
            </a:r>
            <a:r>
              <a:rPr sz="2250" spc="-295" dirty="0"/>
              <a:t>I</a:t>
            </a:r>
            <a:r>
              <a:rPr sz="2250" spc="-465" dirty="0"/>
              <a:t> </a:t>
            </a:r>
            <a:r>
              <a:rPr sz="2250" spc="35" dirty="0"/>
              <a:t>N	</a:t>
            </a:r>
            <a:r>
              <a:rPr sz="2250" spc="-150" dirty="0"/>
              <a:t>R</a:t>
            </a:r>
            <a:endParaRPr sz="2250" dirty="0"/>
          </a:p>
        </p:txBody>
      </p:sp>
      <p:grpSp>
        <p:nvGrpSpPr>
          <p:cNvPr id="11" name="object 3"/>
          <p:cNvGrpSpPr/>
          <p:nvPr/>
        </p:nvGrpSpPr>
        <p:grpSpPr>
          <a:xfrm>
            <a:off x="3841953" y="2921278"/>
            <a:ext cx="804524" cy="861034"/>
            <a:chOff x="7287459" y="4974305"/>
            <a:chExt cx="982980" cy="982980"/>
          </a:xfrm>
        </p:grpSpPr>
        <p:sp>
          <p:nvSpPr>
            <p:cNvPr id="12" name="object 4"/>
            <p:cNvSpPr/>
            <p:nvPr/>
          </p:nvSpPr>
          <p:spPr>
            <a:xfrm>
              <a:off x="7287459" y="4974305"/>
              <a:ext cx="982980" cy="982980"/>
            </a:xfrm>
            <a:custGeom>
              <a:avLst/>
              <a:gdLst/>
              <a:ahLst/>
              <a:cxnLst/>
              <a:rect l="l" t="t" r="r" b="b"/>
              <a:pathLst>
                <a:path w="982979" h="982979">
                  <a:moveTo>
                    <a:pt x="491289" y="982578"/>
                  </a:moveTo>
                  <a:lnTo>
                    <a:pt x="443134" y="980213"/>
                  </a:lnTo>
                  <a:lnTo>
                    <a:pt x="395443" y="973138"/>
                  </a:lnTo>
                  <a:lnTo>
                    <a:pt x="348675" y="961423"/>
                  </a:lnTo>
                  <a:lnTo>
                    <a:pt x="303281" y="945181"/>
                  </a:lnTo>
                  <a:lnTo>
                    <a:pt x="259697" y="924568"/>
                  </a:lnTo>
                  <a:lnTo>
                    <a:pt x="218343" y="899781"/>
                  </a:lnTo>
                  <a:lnTo>
                    <a:pt x="179618" y="871061"/>
                  </a:lnTo>
                  <a:lnTo>
                    <a:pt x="143895" y="838683"/>
                  </a:lnTo>
                  <a:lnTo>
                    <a:pt x="111517" y="802960"/>
                  </a:lnTo>
                  <a:lnTo>
                    <a:pt x="82797" y="764235"/>
                  </a:lnTo>
                  <a:lnTo>
                    <a:pt x="58010" y="722881"/>
                  </a:lnTo>
                  <a:lnTo>
                    <a:pt x="37397" y="679297"/>
                  </a:lnTo>
                  <a:lnTo>
                    <a:pt x="21154" y="633903"/>
                  </a:lnTo>
                  <a:lnTo>
                    <a:pt x="9439" y="587135"/>
                  </a:lnTo>
                  <a:lnTo>
                    <a:pt x="2365" y="539444"/>
                  </a:lnTo>
                  <a:lnTo>
                    <a:pt x="0" y="491289"/>
                  </a:lnTo>
                  <a:lnTo>
                    <a:pt x="591" y="467182"/>
                  </a:lnTo>
                  <a:lnTo>
                    <a:pt x="5317" y="419202"/>
                  </a:lnTo>
                  <a:lnTo>
                    <a:pt x="14722" y="371915"/>
                  </a:lnTo>
                  <a:lnTo>
                    <a:pt x="28718" y="325778"/>
                  </a:lnTo>
                  <a:lnTo>
                    <a:pt x="47168" y="281235"/>
                  </a:lnTo>
                  <a:lnTo>
                    <a:pt x="69896" y="238716"/>
                  </a:lnTo>
                  <a:lnTo>
                    <a:pt x="96681" y="198628"/>
                  </a:lnTo>
                  <a:lnTo>
                    <a:pt x="127267" y="161359"/>
                  </a:lnTo>
                  <a:lnTo>
                    <a:pt x="161359" y="127267"/>
                  </a:lnTo>
                  <a:lnTo>
                    <a:pt x="198628" y="96681"/>
                  </a:lnTo>
                  <a:lnTo>
                    <a:pt x="238716" y="69896"/>
                  </a:lnTo>
                  <a:lnTo>
                    <a:pt x="281235" y="47168"/>
                  </a:lnTo>
                  <a:lnTo>
                    <a:pt x="325778" y="28718"/>
                  </a:lnTo>
                  <a:lnTo>
                    <a:pt x="371915" y="14722"/>
                  </a:lnTo>
                  <a:lnTo>
                    <a:pt x="419202" y="5317"/>
                  </a:lnTo>
                  <a:lnTo>
                    <a:pt x="467182" y="591"/>
                  </a:lnTo>
                  <a:lnTo>
                    <a:pt x="491289" y="0"/>
                  </a:lnTo>
                  <a:lnTo>
                    <a:pt x="515395" y="591"/>
                  </a:lnTo>
                  <a:lnTo>
                    <a:pt x="563376" y="5317"/>
                  </a:lnTo>
                  <a:lnTo>
                    <a:pt x="610663" y="14722"/>
                  </a:lnTo>
                  <a:lnTo>
                    <a:pt x="656799" y="28718"/>
                  </a:lnTo>
                  <a:lnTo>
                    <a:pt x="701342" y="47168"/>
                  </a:lnTo>
                  <a:lnTo>
                    <a:pt x="743862" y="69896"/>
                  </a:lnTo>
                  <a:lnTo>
                    <a:pt x="783950" y="96681"/>
                  </a:lnTo>
                  <a:lnTo>
                    <a:pt x="821219" y="127267"/>
                  </a:lnTo>
                  <a:lnTo>
                    <a:pt x="855311" y="161359"/>
                  </a:lnTo>
                  <a:lnTo>
                    <a:pt x="885896" y="198628"/>
                  </a:lnTo>
                  <a:lnTo>
                    <a:pt x="912682" y="238716"/>
                  </a:lnTo>
                  <a:lnTo>
                    <a:pt x="935410" y="281235"/>
                  </a:lnTo>
                  <a:lnTo>
                    <a:pt x="953860" y="325778"/>
                  </a:lnTo>
                  <a:lnTo>
                    <a:pt x="967855" y="371915"/>
                  </a:lnTo>
                  <a:lnTo>
                    <a:pt x="977261" y="419202"/>
                  </a:lnTo>
                  <a:lnTo>
                    <a:pt x="981987" y="467182"/>
                  </a:lnTo>
                  <a:lnTo>
                    <a:pt x="982578" y="491289"/>
                  </a:lnTo>
                  <a:lnTo>
                    <a:pt x="981987" y="515395"/>
                  </a:lnTo>
                  <a:lnTo>
                    <a:pt x="977261" y="563376"/>
                  </a:lnTo>
                  <a:lnTo>
                    <a:pt x="967855" y="610663"/>
                  </a:lnTo>
                  <a:lnTo>
                    <a:pt x="953860" y="656799"/>
                  </a:lnTo>
                  <a:lnTo>
                    <a:pt x="935410" y="701342"/>
                  </a:lnTo>
                  <a:lnTo>
                    <a:pt x="912682" y="743862"/>
                  </a:lnTo>
                  <a:lnTo>
                    <a:pt x="885897" y="783950"/>
                  </a:lnTo>
                  <a:lnTo>
                    <a:pt x="855311" y="821219"/>
                  </a:lnTo>
                  <a:lnTo>
                    <a:pt x="821219" y="855311"/>
                  </a:lnTo>
                  <a:lnTo>
                    <a:pt x="783950" y="885896"/>
                  </a:lnTo>
                  <a:lnTo>
                    <a:pt x="743862" y="912682"/>
                  </a:lnTo>
                  <a:lnTo>
                    <a:pt x="701342" y="935410"/>
                  </a:lnTo>
                  <a:lnTo>
                    <a:pt x="656799" y="953860"/>
                  </a:lnTo>
                  <a:lnTo>
                    <a:pt x="610663" y="967855"/>
                  </a:lnTo>
                  <a:lnTo>
                    <a:pt x="563376" y="977261"/>
                  </a:lnTo>
                  <a:lnTo>
                    <a:pt x="515395" y="981987"/>
                  </a:lnTo>
                  <a:lnTo>
                    <a:pt x="491289" y="982578"/>
                  </a:lnTo>
                  <a:close/>
                </a:path>
              </a:pathLst>
            </a:custGeom>
            <a:solidFill>
              <a:srgbClr val="0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5"/>
            <p:cNvSpPr/>
            <p:nvPr/>
          </p:nvSpPr>
          <p:spPr>
            <a:xfrm>
              <a:off x="7464603" y="5201056"/>
              <a:ext cx="627380" cy="483870"/>
            </a:xfrm>
            <a:custGeom>
              <a:avLst/>
              <a:gdLst/>
              <a:ahLst/>
              <a:cxnLst/>
              <a:rect l="l" t="t" r="r" b="b"/>
              <a:pathLst>
                <a:path w="627379" h="483870">
                  <a:moveTo>
                    <a:pt x="626770" y="209892"/>
                  </a:moveTo>
                  <a:lnTo>
                    <a:pt x="621728" y="172161"/>
                  </a:lnTo>
                  <a:lnTo>
                    <a:pt x="607174" y="136652"/>
                  </a:lnTo>
                  <a:lnTo>
                    <a:pt x="590003" y="112458"/>
                  </a:lnTo>
                  <a:lnTo>
                    <a:pt x="590003" y="225552"/>
                  </a:lnTo>
                  <a:lnTo>
                    <a:pt x="584238" y="264845"/>
                  </a:lnTo>
                  <a:lnTo>
                    <a:pt x="567677" y="297535"/>
                  </a:lnTo>
                  <a:lnTo>
                    <a:pt x="541426" y="323824"/>
                  </a:lnTo>
                  <a:lnTo>
                    <a:pt x="513664" y="339826"/>
                  </a:lnTo>
                  <a:lnTo>
                    <a:pt x="511086" y="338315"/>
                  </a:lnTo>
                  <a:lnTo>
                    <a:pt x="507263" y="336384"/>
                  </a:lnTo>
                  <a:lnTo>
                    <a:pt x="497928" y="332270"/>
                  </a:lnTo>
                  <a:lnTo>
                    <a:pt x="488137" y="328650"/>
                  </a:lnTo>
                  <a:lnTo>
                    <a:pt x="480415" y="326072"/>
                  </a:lnTo>
                  <a:lnTo>
                    <a:pt x="477278" y="325081"/>
                  </a:lnTo>
                  <a:lnTo>
                    <a:pt x="491871" y="322554"/>
                  </a:lnTo>
                  <a:lnTo>
                    <a:pt x="523989" y="309994"/>
                  </a:lnTo>
                  <a:lnTo>
                    <a:pt x="556107" y="279996"/>
                  </a:lnTo>
                  <a:lnTo>
                    <a:pt x="559600" y="266877"/>
                  </a:lnTo>
                  <a:lnTo>
                    <a:pt x="570712" y="225132"/>
                  </a:lnTo>
                  <a:lnTo>
                    <a:pt x="565543" y="206857"/>
                  </a:lnTo>
                  <a:lnTo>
                    <a:pt x="555434" y="171069"/>
                  </a:lnTo>
                  <a:lnTo>
                    <a:pt x="521817" y="142836"/>
                  </a:lnTo>
                  <a:lnTo>
                    <a:pt x="488200" y="132054"/>
                  </a:lnTo>
                  <a:lnTo>
                    <a:pt x="472922" y="130327"/>
                  </a:lnTo>
                  <a:lnTo>
                    <a:pt x="460756" y="130327"/>
                  </a:lnTo>
                  <a:lnTo>
                    <a:pt x="460756" y="236321"/>
                  </a:lnTo>
                  <a:lnTo>
                    <a:pt x="456069" y="253936"/>
                  </a:lnTo>
                  <a:lnTo>
                    <a:pt x="445770" y="263004"/>
                  </a:lnTo>
                  <a:lnTo>
                    <a:pt x="435457" y="266357"/>
                  </a:lnTo>
                  <a:lnTo>
                    <a:pt x="430771" y="266852"/>
                  </a:lnTo>
                  <a:lnTo>
                    <a:pt x="419481" y="266865"/>
                  </a:lnTo>
                  <a:lnTo>
                    <a:pt x="419481" y="365620"/>
                  </a:lnTo>
                  <a:lnTo>
                    <a:pt x="415442" y="366306"/>
                  </a:lnTo>
                  <a:lnTo>
                    <a:pt x="365125" y="368846"/>
                  </a:lnTo>
                  <a:lnTo>
                    <a:pt x="365125" y="345084"/>
                  </a:lnTo>
                  <a:lnTo>
                    <a:pt x="399707" y="345084"/>
                  </a:lnTo>
                  <a:lnTo>
                    <a:pt x="402234" y="346786"/>
                  </a:lnTo>
                  <a:lnTo>
                    <a:pt x="408178" y="351599"/>
                  </a:lnTo>
                  <a:lnTo>
                    <a:pt x="414096" y="358038"/>
                  </a:lnTo>
                  <a:lnTo>
                    <a:pt x="419481" y="365620"/>
                  </a:lnTo>
                  <a:lnTo>
                    <a:pt x="419481" y="266865"/>
                  </a:lnTo>
                  <a:lnTo>
                    <a:pt x="366014" y="266877"/>
                  </a:lnTo>
                  <a:lnTo>
                    <a:pt x="366052" y="206857"/>
                  </a:lnTo>
                  <a:lnTo>
                    <a:pt x="430771" y="206895"/>
                  </a:lnTo>
                  <a:lnTo>
                    <a:pt x="435457" y="207124"/>
                  </a:lnTo>
                  <a:lnTo>
                    <a:pt x="445770" y="209969"/>
                  </a:lnTo>
                  <a:lnTo>
                    <a:pt x="456069" y="218617"/>
                  </a:lnTo>
                  <a:lnTo>
                    <a:pt x="460756" y="236321"/>
                  </a:lnTo>
                  <a:lnTo>
                    <a:pt x="460756" y="130327"/>
                  </a:lnTo>
                  <a:lnTo>
                    <a:pt x="258229" y="130327"/>
                  </a:lnTo>
                  <a:lnTo>
                    <a:pt x="258229" y="354812"/>
                  </a:lnTo>
                  <a:lnTo>
                    <a:pt x="256603" y="354457"/>
                  </a:lnTo>
                  <a:lnTo>
                    <a:pt x="212369" y="337515"/>
                  </a:lnTo>
                  <a:lnTo>
                    <a:pt x="175488" y="315290"/>
                  </a:lnTo>
                  <a:lnTo>
                    <a:pt x="147370" y="288645"/>
                  </a:lnTo>
                  <a:lnTo>
                    <a:pt x="123151" y="225552"/>
                  </a:lnTo>
                  <a:lnTo>
                    <a:pt x="129451" y="192646"/>
                  </a:lnTo>
                  <a:lnTo>
                    <a:pt x="175488" y="135801"/>
                  </a:lnTo>
                  <a:lnTo>
                    <a:pt x="212369" y="113588"/>
                  </a:lnTo>
                  <a:lnTo>
                    <a:pt x="256603" y="96647"/>
                  </a:lnTo>
                  <a:lnTo>
                    <a:pt x="306743" y="85852"/>
                  </a:lnTo>
                  <a:lnTo>
                    <a:pt x="361353" y="82067"/>
                  </a:lnTo>
                  <a:lnTo>
                    <a:pt x="415442" y="84785"/>
                  </a:lnTo>
                  <a:lnTo>
                    <a:pt x="464210" y="93091"/>
                  </a:lnTo>
                  <a:lnTo>
                    <a:pt x="506577" y="107200"/>
                  </a:lnTo>
                  <a:lnTo>
                    <a:pt x="541426" y="127292"/>
                  </a:lnTo>
                  <a:lnTo>
                    <a:pt x="584238" y="186258"/>
                  </a:lnTo>
                  <a:lnTo>
                    <a:pt x="590003" y="225552"/>
                  </a:lnTo>
                  <a:lnTo>
                    <a:pt x="590003" y="112458"/>
                  </a:lnTo>
                  <a:lnTo>
                    <a:pt x="583984" y="103962"/>
                  </a:lnTo>
                  <a:lnTo>
                    <a:pt x="560882" y="82067"/>
                  </a:lnTo>
                  <a:lnTo>
                    <a:pt x="553072" y="74663"/>
                  </a:lnTo>
                  <a:lnTo>
                    <a:pt x="515302" y="49364"/>
                  </a:lnTo>
                  <a:lnTo>
                    <a:pt x="471563" y="28663"/>
                  </a:lnTo>
                  <a:lnTo>
                    <a:pt x="422744" y="13131"/>
                  </a:lnTo>
                  <a:lnTo>
                    <a:pt x="369722" y="3390"/>
                  </a:lnTo>
                  <a:lnTo>
                    <a:pt x="313385" y="0"/>
                  </a:lnTo>
                  <a:lnTo>
                    <a:pt x="257060" y="3390"/>
                  </a:lnTo>
                  <a:lnTo>
                    <a:pt x="204038" y="13131"/>
                  </a:lnTo>
                  <a:lnTo>
                    <a:pt x="155219" y="28663"/>
                  </a:lnTo>
                  <a:lnTo>
                    <a:pt x="111480" y="49364"/>
                  </a:lnTo>
                  <a:lnTo>
                    <a:pt x="73698" y="74663"/>
                  </a:lnTo>
                  <a:lnTo>
                    <a:pt x="42786" y="103962"/>
                  </a:lnTo>
                  <a:lnTo>
                    <a:pt x="19608" y="136652"/>
                  </a:lnTo>
                  <a:lnTo>
                    <a:pt x="5041" y="172161"/>
                  </a:lnTo>
                  <a:lnTo>
                    <a:pt x="0" y="209892"/>
                  </a:lnTo>
                  <a:lnTo>
                    <a:pt x="5041" y="247611"/>
                  </a:lnTo>
                  <a:lnTo>
                    <a:pt x="19608" y="283121"/>
                  </a:lnTo>
                  <a:lnTo>
                    <a:pt x="42786" y="315823"/>
                  </a:lnTo>
                  <a:lnTo>
                    <a:pt x="73698" y="345122"/>
                  </a:lnTo>
                  <a:lnTo>
                    <a:pt x="111480" y="370408"/>
                  </a:lnTo>
                  <a:lnTo>
                    <a:pt x="155219" y="391121"/>
                  </a:lnTo>
                  <a:lnTo>
                    <a:pt x="204038" y="406641"/>
                  </a:lnTo>
                  <a:lnTo>
                    <a:pt x="257060" y="416394"/>
                  </a:lnTo>
                  <a:lnTo>
                    <a:pt x="258229" y="416471"/>
                  </a:lnTo>
                  <a:lnTo>
                    <a:pt x="258229" y="483298"/>
                  </a:lnTo>
                  <a:lnTo>
                    <a:pt x="365150" y="483260"/>
                  </a:lnTo>
                  <a:lnTo>
                    <a:pt x="365137" y="416674"/>
                  </a:lnTo>
                  <a:lnTo>
                    <a:pt x="369722" y="416394"/>
                  </a:lnTo>
                  <a:lnTo>
                    <a:pt x="422744" y="406641"/>
                  </a:lnTo>
                  <a:lnTo>
                    <a:pt x="439648" y="401269"/>
                  </a:lnTo>
                  <a:lnTo>
                    <a:pt x="483362" y="483336"/>
                  </a:lnTo>
                  <a:lnTo>
                    <a:pt x="604177" y="483285"/>
                  </a:lnTo>
                  <a:lnTo>
                    <a:pt x="530987" y="359905"/>
                  </a:lnTo>
                  <a:lnTo>
                    <a:pt x="553072" y="345122"/>
                  </a:lnTo>
                  <a:lnTo>
                    <a:pt x="583984" y="315823"/>
                  </a:lnTo>
                  <a:lnTo>
                    <a:pt x="607174" y="283121"/>
                  </a:lnTo>
                  <a:lnTo>
                    <a:pt x="621728" y="247611"/>
                  </a:lnTo>
                  <a:lnTo>
                    <a:pt x="626770" y="209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61700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52400" y="1017020"/>
            <a:ext cx="7772400" cy="461665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TBATS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450215" y="1482808"/>
            <a:ext cx="8243570" cy="2918748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895"/>
              </a:spcBef>
              <a:buFont typeface="Arial" panose="020B0604020202020204" pitchFamily="34" charset="0"/>
              <a:buChar char="•"/>
            </a:pPr>
            <a:r>
              <a:rPr sz="2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Trigonometric</a:t>
            </a:r>
            <a:r>
              <a:rPr sz="24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terms</a:t>
            </a:r>
            <a:r>
              <a:rPr sz="2400"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for</a:t>
            </a:r>
            <a:r>
              <a:rPr sz="24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seasonalit</a:t>
            </a:r>
            <a:r>
              <a:rPr sz="2400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endParaRPr sz="2400" dirty="0">
              <a:latin typeface="Microsoft Sans Serif"/>
              <a:cs typeface="Microsoft Sans Serif"/>
            </a:endParaRPr>
          </a:p>
          <a:p>
            <a:pPr marL="355600" marR="1676400" indent="-342900">
              <a:lnSpc>
                <a:spcPct val="153500"/>
              </a:lnSpc>
              <a:buFont typeface="Arial" panose="020B0604020202020204" pitchFamily="34" charset="0"/>
              <a:buChar char="•"/>
            </a:pPr>
            <a:r>
              <a:rPr sz="2400" spc="30" dirty="0">
                <a:solidFill>
                  <a:srgbClr val="04182D"/>
                </a:solidFill>
                <a:latin typeface="Lucida Sans Unicode"/>
                <a:cs typeface="Lucida Sans Unicode"/>
              </a:rPr>
              <a:t>Bo</a:t>
            </a:r>
            <a:r>
              <a:rPr sz="2400" spc="30" dirty="0">
                <a:solidFill>
                  <a:srgbClr val="04182D"/>
                </a:solidFill>
                <a:latin typeface="Microsoft Sans Serif"/>
                <a:cs typeface="Microsoft Sans Serif"/>
              </a:rPr>
              <a:t>x-</a:t>
            </a:r>
            <a:r>
              <a:rPr sz="2400" spc="30" dirty="0">
                <a:solidFill>
                  <a:srgbClr val="04182D"/>
                </a:solidFill>
                <a:latin typeface="Lucida Sans Unicode"/>
                <a:cs typeface="Lucida Sans Unicode"/>
              </a:rPr>
              <a:t>Co</a:t>
            </a:r>
            <a:r>
              <a:rPr sz="2400" spc="30" dirty="0">
                <a:solidFill>
                  <a:srgbClr val="04182D"/>
                </a:solidFill>
                <a:latin typeface="Microsoft Sans Serif"/>
                <a:cs typeface="Microsoft Sans Serif"/>
              </a:rPr>
              <a:t>x </a:t>
            </a:r>
            <a:r>
              <a:rPr sz="24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transformations </a:t>
            </a:r>
            <a:r>
              <a:rPr sz="24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for </a:t>
            </a:r>
            <a:r>
              <a:rPr sz="2400" dirty="0">
                <a:solidFill>
                  <a:srgbClr val="04182D"/>
                </a:solidFill>
                <a:latin typeface="Lucida Sans Unicode"/>
                <a:cs typeface="Lucida Sans Unicode"/>
              </a:rPr>
              <a:t>heterogeneit</a:t>
            </a:r>
            <a:r>
              <a:rPr sz="2400" dirty="0">
                <a:solidFill>
                  <a:srgbClr val="04182D"/>
                </a:solidFill>
                <a:latin typeface="Microsoft Sans Serif"/>
                <a:cs typeface="Microsoft Sans Serif"/>
              </a:rPr>
              <a:t>y </a:t>
            </a:r>
            <a:r>
              <a:rPr sz="2400" spc="-73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endParaRPr lang="en-US" sz="2400" spc="-730" dirty="0" smtClean="0">
              <a:solidFill>
                <a:srgbClr val="04182D"/>
              </a:solidFill>
              <a:latin typeface="Microsoft Sans Serif"/>
              <a:cs typeface="Microsoft Sans Serif"/>
            </a:endParaRPr>
          </a:p>
          <a:p>
            <a:pPr marL="355600" marR="1676400" indent="-342900">
              <a:lnSpc>
                <a:spcPct val="153500"/>
              </a:lnSpc>
              <a:buFont typeface="Arial" panose="020B0604020202020204" pitchFamily="34" charset="0"/>
              <a:buChar char="•"/>
            </a:pPr>
            <a:r>
              <a:rPr sz="2400" spc="8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ARMA </a:t>
            </a:r>
            <a:r>
              <a:rPr sz="2400" spc="-70" dirty="0">
                <a:solidFill>
                  <a:srgbClr val="04182D"/>
                </a:solidFill>
                <a:latin typeface="Lucida Sans Unicode"/>
                <a:cs typeface="Lucida Sans Unicode"/>
              </a:rPr>
              <a:t>errors </a:t>
            </a:r>
            <a:r>
              <a:rPr sz="24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for </a:t>
            </a:r>
            <a:r>
              <a:rPr sz="24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short</a:t>
            </a:r>
            <a:r>
              <a:rPr sz="2400" spc="-25" dirty="0">
                <a:solidFill>
                  <a:srgbClr val="04182D"/>
                </a:solidFill>
                <a:latin typeface="Microsoft Sans Serif"/>
                <a:cs typeface="Microsoft Sans Serif"/>
              </a:rPr>
              <a:t>-</a:t>
            </a:r>
            <a:r>
              <a:rPr sz="24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term </a:t>
            </a:r>
            <a:r>
              <a:rPr sz="2400" spc="10" dirty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z="2400" spc="10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2400" spc="10" dirty="0">
                <a:solidFill>
                  <a:srgbClr val="04182D"/>
                </a:solidFill>
                <a:latin typeface="Lucida Sans Unicode"/>
                <a:cs typeface="Lucida Sans Unicode"/>
              </a:rPr>
              <a:t>namics </a:t>
            </a:r>
            <a:r>
              <a:rPr sz="2400" spc="1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endParaRPr lang="en-US" sz="2400" spc="15" dirty="0" smtClean="0">
              <a:solidFill>
                <a:srgbClr val="04182D"/>
              </a:solidFill>
              <a:latin typeface="Lucida Sans Unicode"/>
              <a:cs typeface="Lucida Sans Unicode"/>
            </a:endParaRPr>
          </a:p>
          <a:p>
            <a:pPr marL="355600" marR="1676400" indent="-342900">
              <a:lnSpc>
                <a:spcPct val="153500"/>
              </a:lnSpc>
              <a:buFont typeface="Arial" panose="020B0604020202020204" pitchFamily="34" charset="0"/>
              <a:buChar char="•"/>
            </a:pPr>
            <a:r>
              <a:rPr sz="2400" spc="-8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Trend</a:t>
            </a:r>
            <a:r>
              <a:rPr sz="2400" spc="-5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50" dirty="0">
                <a:solidFill>
                  <a:srgbClr val="04182D"/>
                </a:solidFill>
                <a:latin typeface="Microsoft Sans Serif"/>
                <a:cs typeface="Microsoft Sans Serif"/>
              </a:rPr>
              <a:t>(</a:t>
            </a:r>
            <a:r>
              <a:rPr sz="24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possibl</a:t>
            </a:r>
            <a:r>
              <a:rPr sz="2400" spc="-50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2400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24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damped</a:t>
            </a:r>
            <a:r>
              <a:rPr sz="24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)</a:t>
            </a:r>
            <a:endParaRPr sz="2400" dirty="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1795"/>
              </a:spcBef>
              <a:buFont typeface="Arial" panose="020B0604020202020204" pitchFamily="34" charset="0"/>
              <a:buChar char="•"/>
            </a:pPr>
            <a:r>
              <a:rPr sz="2400" spc="30" dirty="0">
                <a:solidFill>
                  <a:srgbClr val="04182D"/>
                </a:solidFill>
                <a:latin typeface="Lucida Sans Unicode"/>
                <a:cs typeface="Lucida Sans Unicode"/>
              </a:rPr>
              <a:t>Seasonal</a:t>
            </a:r>
            <a:r>
              <a:rPr sz="2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30" dirty="0">
                <a:solidFill>
                  <a:srgbClr val="04182D"/>
                </a:solidFill>
                <a:latin typeface="Microsoft Sans Serif"/>
                <a:cs typeface="Microsoft Sans Serif"/>
              </a:rPr>
              <a:t>(</a:t>
            </a:r>
            <a:r>
              <a:rPr sz="24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incl</a:t>
            </a:r>
            <a:r>
              <a:rPr sz="2400" spc="-3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4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ding</a:t>
            </a:r>
            <a:r>
              <a:rPr sz="24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z="2400" spc="-4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ltiple </a:t>
            </a:r>
            <a:r>
              <a:rPr sz="2400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and</a:t>
            </a:r>
            <a:r>
              <a:rPr sz="24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non</a:t>
            </a:r>
            <a:r>
              <a:rPr sz="2400" spc="-10" dirty="0">
                <a:solidFill>
                  <a:srgbClr val="04182D"/>
                </a:solidFill>
                <a:latin typeface="Microsoft Sans Serif"/>
                <a:cs typeface="Microsoft Sans Serif"/>
              </a:rPr>
              <a:t>-</a:t>
            </a:r>
            <a:r>
              <a:rPr sz="24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integer</a:t>
            </a:r>
            <a:r>
              <a:rPr sz="24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4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periods</a:t>
            </a:r>
            <a:r>
              <a:rPr sz="2400" spc="-35" dirty="0">
                <a:solidFill>
                  <a:srgbClr val="04182D"/>
                </a:solidFill>
                <a:latin typeface="Microsoft Sans Serif"/>
                <a:cs typeface="Microsoft Sans Serif"/>
              </a:rPr>
              <a:t>)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622168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52400" y="1064974"/>
            <a:ext cx="7772400" cy="461665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US GASOLINE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object 3"/>
          <p:cNvSpPr/>
          <p:nvPr/>
        </p:nvSpPr>
        <p:spPr>
          <a:xfrm>
            <a:off x="286834" y="1441127"/>
            <a:ext cx="6237256" cy="1076042"/>
          </a:xfrm>
          <a:custGeom>
            <a:avLst/>
            <a:gdLst/>
            <a:ahLst/>
            <a:cxnLst/>
            <a:rect l="l" t="t" r="r" b="b"/>
            <a:pathLst>
              <a:path w="9887585" h="1576705">
                <a:moveTo>
                  <a:pt x="9810694" y="1576220"/>
                </a:moveTo>
                <a:lnTo>
                  <a:pt x="76505" y="1576220"/>
                </a:lnTo>
                <a:lnTo>
                  <a:pt x="71180" y="1575695"/>
                </a:lnTo>
                <a:lnTo>
                  <a:pt x="31920" y="1559433"/>
                </a:lnTo>
                <a:lnTo>
                  <a:pt x="4175" y="1520705"/>
                </a:lnTo>
                <a:lnTo>
                  <a:pt x="0" y="1499715"/>
                </a:lnTo>
                <a:lnTo>
                  <a:pt x="0" y="1494338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499715"/>
                </a:lnTo>
                <a:lnTo>
                  <a:pt x="9870412" y="1544299"/>
                </a:lnTo>
                <a:lnTo>
                  <a:pt x="9831684" y="1572044"/>
                </a:lnTo>
                <a:lnTo>
                  <a:pt x="9816018" y="1575695"/>
                </a:lnTo>
                <a:lnTo>
                  <a:pt x="9810694" y="1576220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32" name="object 4"/>
          <p:cNvSpPr txBox="1"/>
          <p:nvPr/>
        </p:nvSpPr>
        <p:spPr>
          <a:xfrm>
            <a:off x="421264" y="1455176"/>
            <a:ext cx="6552142" cy="9634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945" marR="1551940" indent="-309880">
              <a:lnSpc>
                <a:spcPct val="141000"/>
              </a:lnSpc>
              <a:spcBef>
                <a:spcPts val="95"/>
              </a:spcBef>
            </a:pP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gasoline </a:t>
            </a:r>
            <a:r>
              <a:rPr sz="1400" spc="15" dirty="0">
                <a:solidFill>
                  <a:srgbClr val="04182D"/>
                </a:solidFill>
                <a:latin typeface="Courier New"/>
                <a:cs typeface="Courier New"/>
              </a:rPr>
              <a:t>%&gt;% 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tbats()</a:t>
            </a:r>
            <a:r>
              <a:rPr sz="1400" spc="15" dirty="0">
                <a:solidFill>
                  <a:srgbClr val="04182D"/>
                </a:solidFill>
                <a:latin typeface="Courier New"/>
                <a:cs typeface="Courier New"/>
              </a:rPr>
              <a:t> %&gt;% 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forecast()</a:t>
            </a:r>
            <a:r>
              <a:rPr sz="1400" spc="15" dirty="0">
                <a:solidFill>
                  <a:srgbClr val="04182D"/>
                </a:solidFill>
                <a:latin typeface="Courier New"/>
                <a:cs typeface="Courier New"/>
              </a:rPr>
              <a:t> %&gt;% </a:t>
            </a:r>
            <a:r>
              <a:rPr sz="1400" spc="-118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autoplot() </a:t>
            </a:r>
            <a:r>
              <a:rPr sz="1400" spc="15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endParaRPr sz="1400" dirty="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985"/>
              </a:spcBef>
            </a:pP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xlab(</a:t>
            </a:r>
            <a:r>
              <a:rPr sz="1400" spc="10" dirty="0">
                <a:solidFill>
                  <a:srgbClr val="BE2F72"/>
                </a:solidFill>
                <a:latin typeface="Courier New"/>
                <a:cs typeface="Courier New"/>
              </a:rPr>
              <a:t>"Year"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r>
              <a:rPr sz="1400" spc="2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15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400" spc="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ylab(</a:t>
            </a:r>
            <a:r>
              <a:rPr sz="1400" spc="10" dirty="0">
                <a:solidFill>
                  <a:srgbClr val="BE2F72"/>
                </a:solidFill>
                <a:latin typeface="Courier New"/>
                <a:cs typeface="Courier New"/>
              </a:rPr>
              <a:t>"thousand</a:t>
            </a:r>
            <a:r>
              <a:rPr sz="1400" spc="2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10" dirty="0">
                <a:solidFill>
                  <a:srgbClr val="BE2F72"/>
                </a:solidFill>
                <a:latin typeface="Courier New"/>
                <a:cs typeface="Courier New"/>
              </a:rPr>
              <a:t>barrels</a:t>
            </a:r>
            <a:r>
              <a:rPr sz="1400" spc="2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15" dirty="0">
                <a:solidFill>
                  <a:srgbClr val="BE2F72"/>
                </a:solidFill>
                <a:latin typeface="Courier New"/>
                <a:cs typeface="Courier New"/>
              </a:rPr>
              <a:t>per</a:t>
            </a:r>
            <a:r>
              <a:rPr sz="1400" spc="25" dirty="0">
                <a:solidFill>
                  <a:srgbClr val="BE2F72"/>
                </a:solidFill>
                <a:latin typeface="Courier New"/>
                <a:cs typeface="Courier New"/>
              </a:rPr>
              <a:t> </a:t>
            </a:r>
            <a:r>
              <a:rPr sz="1400" spc="10" dirty="0">
                <a:solidFill>
                  <a:srgbClr val="BE2F72"/>
                </a:solidFill>
                <a:latin typeface="Courier New"/>
                <a:cs typeface="Courier New"/>
              </a:rPr>
              <a:t>day"</a:t>
            </a:r>
            <a:r>
              <a:rPr sz="1400" spc="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33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70" y="2619911"/>
            <a:ext cx="6579730" cy="226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98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52400" y="1017020"/>
            <a:ext cx="7772400" cy="461665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CALL CENTER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object 3"/>
          <p:cNvSpPr/>
          <p:nvPr/>
        </p:nvSpPr>
        <p:spPr>
          <a:xfrm>
            <a:off x="254095" y="1427727"/>
            <a:ext cx="6237256" cy="1076042"/>
          </a:xfrm>
          <a:custGeom>
            <a:avLst/>
            <a:gdLst/>
            <a:ahLst/>
            <a:cxnLst/>
            <a:rect l="l" t="t" r="r" b="b"/>
            <a:pathLst>
              <a:path w="9887585" h="1576705">
                <a:moveTo>
                  <a:pt x="9810694" y="1576220"/>
                </a:moveTo>
                <a:lnTo>
                  <a:pt x="76505" y="1576220"/>
                </a:lnTo>
                <a:lnTo>
                  <a:pt x="71180" y="1575695"/>
                </a:lnTo>
                <a:lnTo>
                  <a:pt x="31920" y="1559433"/>
                </a:lnTo>
                <a:lnTo>
                  <a:pt x="4175" y="1520705"/>
                </a:lnTo>
                <a:lnTo>
                  <a:pt x="0" y="1499715"/>
                </a:lnTo>
                <a:lnTo>
                  <a:pt x="0" y="1494338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499715"/>
                </a:lnTo>
                <a:lnTo>
                  <a:pt x="9870412" y="1544299"/>
                </a:lnTo>
                <a:lnTo>
                  <a:pt x="9831684" y="1572044"/>
                </a:lnTo>
                <a:lnTo>
                  <a:pt x="9816018" y="1575695"/>
                </a:lnTo>
                <a:lnTo>
                  <a:pt x="9810694" y="1576220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9" name="object 4"/>
          <p:cNvSpPr txBox="1"/>
          <p:nvPr/>
        </p:nvSpPr>
        <p:spPr>
          <a:xfrm>
            <a:off x="393115" y="1441127"/>
            <a:ext cx="6831330" cy="8458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945" marR="1860550" indent="-309880">
              <a:lnSpc>
                <a:spcPct val="141000"/>
              </a:lnSpc>
              <a:spcBef>
                <a:spcPts val="95"/>
              </a:spcBef>
            </a:pP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calls </a:t>
            </a:r>
            <a:r>
              <a:rPr sz="1200" spc="15" dirty="0">
                <a:solidFill>
                  <a:srgbClr val="04182D"/>
                </a:solidFill>
                <a:latin typeface="Courier New"/>
                <a:cs typeface="Courier New"/>
              </a:rPr>
              <a:t>%&gt;% </a:t>
            </a: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window(start </a:t>
            </a:r>
            <a:r>
              <a:rPr sz="1200" spc="15" dirty="0">
                <a:solidFill>
                  <a:srgbClr val="04182D"/>
                </a:solidFill>
                <a:latin typeface="Courier New"/>
                <a:cs typeface="Courier New"/>
              </a:rPr>
              <a:t>= </a:t>
            </a:r>
            <a:r>
              <a:rPr sz="1200" spc="15" dirty="0">
                <a:solidFill>
                  <a:srgbClr val="BE2F72"/>
                </a:solidFill>
                <a:latin typeface="Courier New"/>
                <a:cs typeface="Courier New"/>
              </a:rPr>
              <a:t>20</a:t>
            </a:r>
            <a:r>
              <a:rPr sz="1200" spc="15" dirty="0">
                <a:solidFill>
                  <a:srgbClr val="04182D"/>
                </a:solidFill>
                <a:latin typeface="Courier New"/>
                <a:cs typeface="Courier New"/>
              </a:rPr>
              <a:t>) %&gt;% </a:t>
            </a:r>
            <a:r>
              <a:rPr sz="1200" spc="-1190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tbats() </a:t>
            </a:r>
            <a:r>
              <a:rPr sz="1200" spc="15" dirty="0">
                <a:solidFill>
                  <a:srgbClr val="04182D"/>
                </a:solidFill>
                <a:latin typeface="Courier New"/>
                <a:cs typeface="Courier New"/>
              </a:rPr>
              <a:t>%&gt;%</a:t>
            </a: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 forecast() </a:t>
            </a:r>
            <a:r>
              <a:rPr sz="1200" spc="15" dirty="0">
                <a:solidFill>
                  <a:srgbClr val="04182D"/>
                </a:solidFill>
                <a:latin typeface="Courier New"/>
                <a:cs typeface="Courier New"/>
              </a:rPr>
              <a:t>%&gt;%</a:t>
            </a:r>
            <a:endParaRPr sz="1200" dirty="0">
              <a:latin typeface="Courier New"/>
              <a:cs typeface="Courier New"/>
            </a:endParaRPr>
          </a:p>
          <a:p>
            <a:pPr marL="321945">
              <a:lnSpc>
                <a:spcPct val="100000"/>
              </a:lnSpc>
              <a:spcBef>
                <a:spcPts val="985"/>
              </a:spcBef>
            </a:pP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autoplot()</a:t>
            </a:r>
            <a:r>
              <a:rPr sz="1200" spc="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15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200" spc="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xlab(</a:t>
            </a:r>
            <a:r>
              <a:rPr sz="1200" spc="10" dirty="0">
                <a:solidFill>
                  <a:srgbClr val="BE2F72"/>
                </a:solidFill>
                <a:latin typeface="Courier New"/>
                <a:cs typeface="Courier New"/>
              </a:rPr>
              <a:t>"Weeks"</a:t>
            </a: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r>
              <a:rPr sz="1200" spc="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15" dirty="0">
                <a:solidFill>
                  <a:srgbClr val="04182D"/>
                </a:solidFill>
                <a:latin typeface="Courier New"/>
                <a:cs typeface="Courier New"/>
              </a:rPr>
              <a:t>+</a:t>
            </a:r>
            <a:r>
              <a:rPr sz="1200" spc="25" dirty="0">
                <a:solidFill>
                  <a:srgbClr val="04182D"/>
                </a:solidFill>
                <a:latin typeface="Courier New"/>
                <a:cs typeface="Courier New"/>
              </a:rPr>
              <a:t> </a:t>
            </a: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ylab(</a:t>
            </a:r>
            <a:r>
              <a:rPr sz="1200" spc="10" dirty="0">
                <a:solidFill>
                  <a:srgbClr val="BE2F72"/>
                </a:solidFill>
                <a:latin typeface="Courier New"/>
                <a:cs typeface="Courier New"/>
              </a:rPr>
              <a:t>"Calls"</a:t>
            </a:r>
            <a:r>
              <a:rPr sz="1200" spc="10" dirty="0">
                <a:solidFill>
                  <a:srgbClr val="04182D"/>
                </a:solidFill>
                <a:latin typeface="Courier New"/>
                <a:cs typeface="Courier New"/>
              </a:rPr>
              <a:t>)</a:t>
            </a:r>
            <a:endParaRPr sz="1200" dirty="0">
              <a:latin typeface="Courier New"/>
              <a:cs typeface="Courier New"/>
            </a:endParaRPr>
          </a:p>
        </p:txBody>
      </p:sp>
      <p:pic>
        <p:nvPicPr>
          <p:cNvPr id="10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095" y="2541898"/>
            <a:ext cx="5765705" cy="230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616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52400" y="1017020"/>
            <a:ext cx="7772400" cy="461665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TBATS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bject 4"/>
          <p:cNvSpPr txBox="1"/>
          <p:nvPr/>
        </p:nvSpPr>
        <p:spPr>
          <a:xfrm>
            <a:off x="419674" y="1247852"/>
            <a:ext cx="9047480" cy="3522887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895"/>
              </a:spcBef>
              <a:buFont typeface="Arial" panose="020B0604020202020204" pitchFamily="34" charset="0"/>
              <a:buChar char="•"/>
            </a:pPr>
            <a:r>
              <a:rPr sz="1600" spc="-25" dirty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16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rigonometric</a:t>
            </a:r>
            <a:r>
              <a:rPr sz="16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04182D"/>
                </a:solidFill>
                <a:latin typeface="Lucida Sans Unicode"/>
                <a:cs typeface="Lucida Sans Unicode"/>
              </a:rPr>
              <a:t>terms</a:t>
            </a:r>
            <a:r>
              <a:rPr sz="16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for</a:t>
            </a:r>
            <a:r>
              <a:rPr sz="16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seasonalit</a:t>
            </a:r>
            <a:r>
              <a:rPr sz="1600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endParaRPr sz="1600" dirty="0">
              <a:latin typeface="Microsoft Sans Serif"/>
              <a:cs typeface="Microsoft Sans Serif"/>
            </a:endParaRPr>
          </a:p>
          <a:p>
            <a:pPr marL="469900" marR="2476500" indent="-457200">
              <a:lnSpc>
                <a:spcPct val="153500"/>
              </a:lnSpc>
              <a:buFont typeface="Arial" panose="020B0604020202020204" pitchFamily="34" charset="0"/>
              <a:buChar char="•"/>
            </a:pPr>
            <a:r>
              <a:rPr sz="1600" spc="-10" dirty="0">
                <a:solidFill>
                  <a:srgbClr val="04182D"/>
                </a:solidFill>
                <a:latin typeface="Verdana"/>
                <a:cs typeface="Verdana"/>
              </a:rPr>
              <a:t>B</a:t>
            </a:r>
            <a:r>
              <a:rPr sz="16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1600" spc="-10" dirty="0">
                <a:solidFill>
                  <a:srgbClr val="04182D"/>
                </a:solidFill>
                <a:latin typeface="Microsoft Sans Serif"/>
                <a:cs typeface="Microsoft Sans Serif"/>
              </a:rPr>
              <a:t>x-</a:t>
            </a:r>
            <a:r>
              <a:rPr sz="16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Co</a:t>
            </a:r>
            <a:r>
              <a:rPr sz="1600" spc="-10" dirty="0">
                <a:solidFill>
                  <a:srgbClr val="04182D"/>
                </a:solidFill>
                <a:latin typeface="Microsoft Sans Serif"/>
                <a:cs typeface="Microsoft Sans Serif"/>
              </a:rPr>
              <a:t>x</a:t>
            </a:r>
            <a:r>
              <a:rPr sz="160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6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transformations</a:t>
            </a:r>
            <a:r>
              <a:rPr sz="16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7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for</a:t>
            </a:r>
            <a:r>
              <a:rPr lang="en-US" sz="16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heterogeneit</a:t>
            </a:r>
            <a:r>
              <a:rPr sz="1600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y </a:t>
            </a:r>
            <a:endParaRPr lang="en-US" sz="1600" dirty="0" smtClean="0">
              <a:solidFill>
                <a:srgbClr val="04182D"/>
              </a:solidFill>
              <a:latin typeface="Microsoft Sans Serif"/>
              <a:cs typeface="Microsoft Sans Serif"/>
            </a:endParaRPr>
          </a:p>
          <a:p>
            <a:pPr marL="469900" marR="2476500" indent="-457200">
              <a:lnSpc>
                <a:spcPct val="153500"/>
              </a:lnSpc>
              <a:buFont typeface="Arial" panose="020B0604020202020204" pitchFamily="34" charset="0"/>
              <a:buChar char="•"/>
            </a:pPr>
            <a:r>
              <a:rPr sz="1600" spc="-730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600" spc="90" dirty="0">
                <a:solidFill>
                  <a:srgbClr val="04182D"/>
                </a:solidFill>
                <a:latin typeface="Verdana"/>
                <a:cs typeface="Verdana"/>
              </a:rPr>
              <a:t>A</a:t>
            </a:r>
            <a:r>
              <a:rPr sz="1600" spc="90" dirty="0">
                <a:solidFill>
                  <a:srgbClr val="04182D"/>
                </a:solidFill>
                <a:latin typeface="Lucida Sans Unicode"/>
                <a:cs typeface="Lucida Sans Unicode"/>
              </a:rPr>
              <a:t>RMA </a:t>
            </a:r>
            <a:r>
              <a:rPr sz="1600" spc="-70" dirty="0">
                <a:solidFill>
                  <a:srgbClr val="04182D"/>
                </a:solidFill>
                <a:latin typeface="Lucida Sans Unicode"/>
                <a:cs typeface="Lucida Sans Unicode"/>
              </a:rPr>
              <a:t>errors </a:t>
            </a:r>
            <a:r>
              <a:rPr sz="1600" spc="-75" dirty="0">
                <a:solidFill>
                  <a:srgbClr val="04182D"/>
                </a:solidFill>
                <a:latin typeface="Lucida Sans Unicode"/>
                <a:cs typeface="Lucida Sans Unicode"/>
              </a:rPr>
              <a:t>for </a:t>
            </a:r>
            <a:r>
              <a:rPr sz="16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short</a:t>
            </a:r>
            <a:r>
              <a:rPr sz="1600" spc="-25" dirty="0">
                <a:solidFill>
                  <a:srgbClr val="04182D"/>
                </a:solidFill>
                <a:latin typeface="Microsoft Sans Serif"/>
                <a:cs typeface="Microsoft Sans Serif"/>
              </a:rPr>
              <a:t>-</a:t>
            </a:r>
            <a:r>
              <a:rPr sz="1600" spc="-25" dirty="0">
                <a:solidFill>
                  <a:srgbClr val="04182D"/>
                </a:solidFill>
                <a:latin typeface="Lucida Sans Unicode"/>
                <a:cs typeface="Lucida Sans Unicode"/>
              </a:rPr>
              <a:t>term </a:t>
            </a:r>
            <a:r>
              <a:rPr sz="1600" spc="1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d</a:t>
            </a:r>
            <a:r>
              <a:rPr sz="1600" spc="10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1600" spc="1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namics</a:t>
            </a:r>
            <a:endParaRPr lang="en-US" sz="1600" spc="10" dirty="0" smtClean="0">
              <a:solidFill>
                <a:srgbClr val="04182D"/>
              </a:solidFill>
              <a:latin typeface="Lucida Sans Unicode"/>
              <a:cs typeface="Lucida Sans Unicode"/>
            </a:endParaRPr>
          </a:p>
          <a:p>
            <a:pPr marL="469900" marR="2476500" indent="-457200">
              <a:lnSpc>
                <a:spcPct val="153500"/>
              </a:lnSpc>
              <a:buFont typeface="Arial" panose="020B0604020202020204" pitchFamily="34" charset="0"/>
              <a:buChar char="•"/>
            </a:pPr>
            <a:r>
              <a:rPr sz="1600" spc="-40" dirty="0" smtClean="0">
                <a:solidFill>
                  <a:srgbClr val="04182D"/>
                </a:solidFill>
                <a:latin typeface="Verdana"/>
                <a:cs typeface="Verdana"/>
              </a:rPr>
              <a:t>T</a:t>
            </a:r>
            <a:r>
              <a:rPr sz="1600" spc="-4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rend</a:t>
            </a:r>
            <a:r>
              <a:rPr sz="1600" spc="-5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04182D"/>
                </a:solidFill>
                <a:latin typeface="Microsoft Sans Serif"/>
                <a:cs typeface="Microsoft Sans Serif"/>
              </a:rPr>
              <a:t>(</a:t>
            </a:r>
            <a:r>
              <a:rPr sz="16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possibl</a:t>
            </a:r>
            <a:r>
              <a:rPr sz="1600" spc="-50" dirty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1600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6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damped</a:t>
            </a:r>
            <a:r>
              <a:rPr sz="1600" spc="25" dirty="0">
                <a:solidFill>
                  <a:srgbClr val="04182D"/>
                </a:solidFill>
                <a:latin typeface="Microsoft Sans Serif"/>
                <a:cs typeface="Microsoft Sans Serif"/>
              </a:rPr>
              <a:t>)</a:t>
            </a:r>
            <a:endParaRPr sz="1600" dirty="0">
              <a:latin typeface="Microsoft Sans Serif"/>
              <a:cs typeface="Microsoft Sans Serif"/>
            </a:endParaRPr>
          </a:p>
          <a:p>
            <a:pPr marL="469900" marR="5080" indent="-457200">
              <a:lnSpc>
                <a:spcPct val="153500"/>
              </a:lnSpc>
              <a:buFont typeface="Arial" panose="020B0604020202020204" pitchFamily="34" charset="0"/>
              <a:buChar char="•"/>
            </a:pPr>
            <a:r>
              <a:rPr sz="1600" spc="-10" dirty="0">
                <a:solidFill>
                  <a:srgbClr val="04182D"/>
                </a:solidFill>
                <a:latin typeface="Verdana"/>
                <a:cs typeface="Verdana"/>
              </a:rPr>
              <a:t>S</a:t>
            </a:r>
            <a:r>
              <a:rPr sz="16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easonal </a:t>
            </a:r>
            <a:r>
              <a:rPr sz="1600" spc="-30" dirty="0">
                <a:solidFill>
                  <a:srgbClr val="04182D"/>
                </a:solidFill>
                <a:latin typeface="Microsoft Sans Serif"/>
                <a:cs typeface="Microsoft Sans Serif"/>
              </a:rPr>
              <a:t>(</a:t>
            </a:r>
            <a:r>
              <a:rPr sz="16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incl</a:t>
            </a:r>
            <a:r>
              <a:rPr sz="1600" spc="-3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6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ding </a:t>
            </a:r>
            <a:r>
              <a:rPr sz="16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z="1600" spc="-4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6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ltiple </a:t>
            </a:r>
            <a:r>
              <a:rPr sz="1600" spc="45" dirty="0">
                <a:solidFill>
                  <a:srgbClr val="04182D"/>
                </a:solidFill>
                <a:latin typeface="Lucida Sans Unicode"/>
                <a:cs typeface="Lucida Sans Unicode"/>
              </a:rPr>
              <a:t>and </a:t>
            </a:r>
            <a:r>
              <a:rPr sz="16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non</a:t>
            </a:r>
            <a:r>
              <a:rPr sz="1600" spc="-10" dirty="0">
                <a:solidFill>
                  <a:srgbClr val="04182D"/>
                </a:solidFill>
                <a:latin typeface="Microsoft Sans Serif"/>
                <a:cs typeface="Microsoft Sans Serif"/>
              </a:rPr>
              <a:t>-</a:t>
            </a:r>
            <a:r>
              <a:rPr sz="16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integer </a:t>
            </a:r>
            <a:r>
              <a:rPr sz="1600" spc="-3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periods</a:t>
            </a:r>
            <a:r>
              <a:rPr sz="1600" spc="-35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)</a:t>
            </a:r>
            <a:endParaRPr lang="en-US" sz="1600" spc="-35" dirty="0" smtClean="0">
              <a:solidFill>
                <a:srgbClr val="04182D"/>
              </a:solidFill>
              <a:latin typeface="Microsoft Sans Serif"/>
              <a:cs typeface="Microsoft Sans Serif"/>
            </a:endParaRPr>
          </a:p>
          <a:p>
            <a:pPr marL="469900" marR="5080" indent="-457200">
              <a:lnSpc>
                <a:spcPct val="153500"/>
              </a:lnSpc>
              <a:buFont typeface="Arial" panose="020B0604020202020204" pitchFamily="34" charset="0"/>
              <a:buChar char="•"/>
            </a:pPr>
            <a:r>
              <a:rPr sz="1600" spc="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Handles</a:t>
            </a:r>
            <a:r>
              <a:rPr sz="1600" spc="-5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non</a:t>
            </a:r>
            <a:r>
              <a:rPr sz="1600" spc="-10" dirty="0">
                <a:solidFill>
                  <a:srgbClr val="04182D"/>
                </a:solidFill>
                <a:latin typeface="Microsoft Sans Serif"/>
                <a:cs typeface="Microsoft Sans Serif"/>
              </a:rPr>
              <a:t>-</a:t>
            </a:r>
            <a:r>
              <a:rPr sz="1600" spc="-10" dirty="0">
                <a:solidFill>
                  <a:srgbClr val="04182D"/>
                </a:solidFill>
                <a:latin typeface="Lucida Sans Unicode"/>
                <a:cs typeface="Lucida Sans Unicode"/>
              </a:rPr>
              <a:t>integer</a:t>
            </a:r>
            <a:r>
              <a:rPr sz="16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5" dirty="0">
                <a:solidFill>
                  <a:srgbClr val="04182D"/>
                </a:solidFill>
                <a:latin typeface="Lucida Sans Unicode"/>
                <a:cs typeface="Lucida Sans Unicode"/>
              </a:rPr>
              <a:t>seasonalit</a:t>
            </a:r>
            <a:r>
              <a:rPr sz="1600" spc="-5" dirty="0">
                <a:solidFill>
                  <a:srgbClr val="04182D"/>
                </a:solidFill>
                <a:latin typeface="Microsoft Sans Serif"/>
                <a:cs typeface="Microsoft Sans Serif"/>
              </a:rPr>
              <a:t>y,</a:t>
            </a:r>
            <a:r>
              <a:rPr sz="1600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6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m</a:t>
            </a:r>
            <a:r>
              <a:rPr sz="1600" spc="-4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6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ltiple</a:t>
            </a:r>
            <a:r>
              <a:rPr sz="1600" spc="-5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seasonal</a:t>
            </a:r>
            <a:r>
              <a:rPr sz="16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periods </a:t>
            </a:r>
            <a:r>
              <a:rPr sz="1600" spc="-78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endParaRPr lang="en-US" sz="1600" spc="-780" dirty="0" smtClean="0">
              <a:solidFill>
                <a:srgbClr val="04182D"/>
              </a:solidFill>
              <a:latin typeface="Lucida Sans Unicode"/>
              <a:cs typeface="Lucida Sans Unicode"/>
            </a:endParaRPr>
          </a:p>
          <a:p>
            <a:pPr marL="469900" marR="5080" indent="-457200">
              <a:lnSpc>
                <a:spcPct val="153500"/>
              </a:lnSpc>
              <a:buFont typeface="Arial" panose="020B0604020202020204" pitchFamily="34" charset="0"/>
              <a:buChar char="•"/>
            </a:pPr>
            <a:r>
              <a:rPr sz="1600" spc="-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Entirel</a:t>
            </a:r>
            <a:r>
              <a:rPr sz="1600" spc="-5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1600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600" spc="35" dirty="0">
                <a:solidFill>
                  <a:srgbClr val="04182D"/>
                </a:solidFill>
                <a:latin typeface="Lucida Sans Unicode"/>
                <a:cs typeface="Lucida Sans Unicode"/>
              </a:rPr>
              <a:t>a</a:t>
            </a:r>
            <a:r>
              <a:rPr sz="1600" spc="35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1600" spc="35" dirty="0">
                <a:solidFill>
                  <a:srgbClr val="04182D"/>
                </a:solidFill>
                <a:latin typeface="Lucida Sans Unicode"/>
                <a:cs typeface="Lucida Sans Unicode"/>
              </a:rPr>
              <a:t>tomated</a:t>
            </a:r>
            <a:endParaRPr sz="1600" dirty="0">
              <a:latin typeface="Lucida Sans Unicode"/>
              <a:cs typeface="Lucida Sans Unicode"/>
            </a:endParaRPr>
          </a:p>
          <a:p>
            <a:pPr marL="355600" marR="3789679" indent="-342900">
              <a:lnSpc>
                <a:spcPct val="153500"/>
              </a:lnSpc>
              <a:buFont typeface="Arial" panose="020B0604020202020204" pitchFamily="34" charset="0"/>
              <a:buChar char="•"/>
            </a:pPr>
            <a:r>
              <a:rPr sz="1600" spc="5" dirty="0">
                <a:solidFill>
                  <a:srgbClr val="04182D"/>
                </a:solidFill>
                <a:latin typeface="Lucida Sans Unicode"/>
                <a:cs typeface="Lucida Sans Unicode"/>
              </a:rPr>
              <a:t>Prediction</a:t>
            </a:r>
            <a:r>
              <a:rPr sz="16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inter</a:t>
            </a:r>
            <a:r>
              <a:rPr sz="1600" spc="-30" dirty="0">
                <a:solidFill>
                  <a:srgbClr val="04182D"/>
                </a:solidFill>
                <a:latin typeface="Microsoft Sans Serif"/>
                <a:cs typeface="Microsoft Sans Serif"/>
              </a:rPr>
              <a:t>v</a:t>
            </a:r>
            <a:r>
              <a:rPr sz="1600" spc="-30" dirty="0">
                <a:solidFill>
                  <a:srgbClr val="04182D"/>
                </a:solidFill>
                <a:latin typeface="Lucida Sans Unicode"/>
                <a:cs typeface="Lucida Sans Unicode"/>
              </a:rPr>
              <a:t>als</a:t>
            </a:r>
            <a:r>
              <a:rPr sz="16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04182D"/>
                </a:solidFill>
                <a:latin typeface="Lucida Sans Unicode"/>
                <a:cs typeface="Lucida Sans Unicode"/>
              </a:rPr>
              <a:t>o</a:t>
            </a:r>
            <a:r>
              <a:rPr sz="1600" spc="16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dirty="0" err="1">
                <a:solidFill>
                  <a:srgbClr val="04182D"/>
                </a:solidFill>
                <a:latin typeface="Lucida Sans Unicode"/>
                <a:cs typeface="Lucida Sans Unicode"/>
              </a:rPr>
              <a:t>en</a:t>
            </a:r>
            <a:r>
              <a:rPr sz="16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too</a:t>
            </a:r>
            <a:r>
              <a:rPr sz="1600" spc="-5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z="1600" spc="-1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ide </a:t>
            </a:r>
            <a:r>
              <a:rPr sz="1600" spc="-780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endParaRPr lang="en-US" sz="1600" spc="-780" dirty="0" smtClean="0">
              <a:solidFill>
                <a:srgbClr val="04182D"/>
              </a:solidFill>
              <a:latin typeface="Lucida Sans Unicode"/>
              <a:cs typeface="Lucida Sans Unicode"/>
            </a:endParaRPr>
          </a:p>
          <a:p>
            <a:pPr marL="355600" marR="3789679" indent="-342900">
              <a:lnSpc>
                <a:spcPct val="153500"/>
              </a:lnSpc>
              <a:buFont typeface="Arial" panose="020B0604020202020204" pitchFamily="34" charset="0"/>
              <a:buChar char="•"/>
            </a:pPr>
            <a:r>
              <a:rPr sz="1600" spc="-25" dirty="0" smtClean="0">
                <a:solidFill>
                  <a:srgbClr val="04182D"/>
                </a:solidFill>
                <a:latin typeface="Lucida Sans Unicode"/>
                <a:cs typeface="Lucida Sans Unicode"/>
              </a:rPr>
              <a:t>Ver</a:t>
            </a:r>
            <a:r>
              <a:rPr sz="1600" spc="-25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y</a:t>
            </a:r>
            <a:r>
              <a:rPr sz="1600" dirty="0" smtClean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600" spc="-70" dirty="0">
                <a:solidFill>
                  <a:srgbClr val="04182D"/>
                </a:solidFill>
                <a:latin typeface="Lucida Sans Unicode"/>
                <a:cs typeface="Lucida Sans Unicode"/>
              </a:rPr>
              <a:t>slo</a:t>
            </a:r>
            <a:r>
              <a:rPr sz="1600" spc="-70" dirty="0">
                <a:solidFill>
                  <a:srgbClr val="04182D"/>
                </a:solidFill>
                <a:latin typeface="Microsoft Sans Serif"/>
                <a:cs typeface="Microsoft Sans Serif"/>
              </a:rPr>
              <a:t>w</a:t>
            </a:r>
            <a:r>
              <a:rPr sz="1600" spc="5" dirty="0">
                <a:solidFill>
                  <a:srgbClr val="04182D"/>
                </a:solidFill>
                <a:latin typeface="Microsoft Sans Serif"/>
                <a:cs typeface="Microsoft Sans Serif"/>
              </a:rPr>
              <a:t> </a:t>
            </a:r>
            <a:r>
              <a:rPr sz="1600" spc="-50" dirty="0">
                <a:solidFill>
                  <a:srgbClr val="04182D"/>
                </a:solidFill>
                <a:latin typeface="Lucida Sans Unicode"/>
                <a:cs typeface="Lucida Sans Unicode"/>
              </a:rPr>
              <a:t>on </a:t>
            </a:r>
            <a:r>
              <a:rPr sz="1600" spc="-45" dirty="0">
                <a:solidFill>
                  <a:srgbClr val="04182D"/>
                </a:solidFill>
                <a:latin typeface="Lucida Sans Unicode"/>
                <a:cs typeface="Lucida Sans Unicode"/>
              </a:rPr>
              <a:t>long </a:t>
            </a:r>
            <a:r>
              <a:rPr sz="16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series</a:t>
            </a:r>
            <a:endParaRPr sz="1600" dirty="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15669454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0" name="object 2"/>
          <p:cNvSpPr txBox="1">
            <a:spLocks noGrp="1"/>
          </p:cNvSpPr>
          <p:nvPr>
            <p:ph idx="1"/>
          </p:nvPr>
        </p:nvSpPr>
        <p:spPr>
          <a:xfrm>
            <a:off x="457200" y="1850510"/>
            <a:ext cx="7772400" cy="1143000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sz="6400" spc="-440" dirty="0"/>
              <a:t>L</a:t>
            </a:r>
            <a:r>
              <a:rPr sz="6400" spc="-365" dirty="0"/>
              <a:t>e</a:t>
            </a:r>
            <a:r>
              <a:rPr sz="6400" spc="-225" dirty="0"/>
              <a:t>t</a:t>
            </a:r>
            <a:r>
              <a:rPr sz="7000" spc="-150" dirty="0">
                <a:latin typeface="Microsoft Sans Serif"/>
                <a:cs typeface="Microsoft Sans Serif"/>
              </a:rPr>
              <a:t>'</a:t>
            </a:r>
            <a:r>
              <a:rPr sz="6400" spc="-360" dirty="0"/>
              <a:t>s</a:t>
            </a:r>
            <a:r>
              <a:rPr sz="6400" spc="-685" dirty="0"/>
              <a:t> </a:t>
            </a:r>
            <a:r>
              <a:rPr sz="6400" spc="-265" dirty="0"/>
              <a:t>p</a:t>
            </a:r>
            <a:r>
              <a:rPr sz="6400" spc="-484" dirty="0"/>
              <a:t>r</a:t>
            </a:r>
            <a:r>
              <a:rPr sz="6400" spc="-55" dirty="0"/>
              <a:t>a</a:t>
            </a:r>
            <a:r>
              <a:rPr sz="6400" spc="160" dirty="0"/>
              <a:t>c</a:t>
            </a:r>
            <a:r>
              <a:rPr sz="6400" spc="-225" dirty="0"/>
              <a:t>t</a:t>
            </a:r>
            <a:r>
              <a:rPr sz="6400" spc="-120" dirty="0"/>
              <a:t>i</a:t>
            </a:r>
            <a:r>
              <a:rPr sz="6400" spc="160" dirty="0"/>
              <a:t>c</a:t>
            </a:r>
            <a:r>
              <a:rPr sz="6400" spc="-300" dirty="0"/>
              <a:t>e</a:t>
            </a:r>
            <a:r>
              <a:rPr sz="7000" spc="-140" dirty="0">
                <a:latin typeface="Microsoft Sans Serif"/>
                <a:cs typeface="Microsoft Sans Serif"/>
              </a:rPr>
              <a:t>!</a:t>
            </a:r>
            <a:endParaRPr sz="7000" dirty="0">
              <a:latin typeface="Microsoft Sans Serif"/>
              <a:cs typeface="Microsoft Sans Serif"/>
            </a:endParaRPr>
          </a:p>
          <a:p>
            <a:pPr marR="53975" algn="ctr">
              <a:lnSpc>
                <a:spcPct val="100000"/>
              </a:lnSpc>
              <a:spcBef>
                <a:spcPts val="865"/>
              </a:spcBef>
              <a:tabLst>
                <a:tab pos="2611755" algn="l"/>
                <a:tab pos="3120390" algn="l"/>
              </a:tabLst>
            </a:pPr>
            <a:r>
              <a:rPr sz="2250" spc="65" dirty="0"/>
              <a:t>F</a:t>
            </a:r>
            <a:r>
              <a:rPr sz="2250" spc="-470" dirty="0"/>
              <a:t> </a:t>
            </a:r>
            <a:r>
              <a:rPr sz="2250" spc="55" dirty="0"/>
              <a:t>O</a:t>
            </a:r>
            <a:r>
              <a:rPr sz="2250" spc="-475" dirty="0"/>
              <a:t> </a:t>
            </a:r>
            <a:r>
              <a:rPr sz="2250" spc="-150" dirty="0"/>
              <a:t>R</a:t>
            </a:r>
            <a:r>
              <a:rPr sz="2250" spc="-465" dirty="0"/>
              <a:t> </a:t>
            </a:r>
            <a:r>
              <a:rPr sz="2250" spc="190" dirty="0"/>
              <a:t>EC</a:t>
            </a:r>
            <a:r>
              <a:rPr sz="2250" spc="-470" dirty="0"/>
              <a:t> </a:t>
            </a:r>
            <a:r>
              <a:rPr sz="2250" spc="95" dirty="0"/>
              <a:t>A</a:t>
            </a:r>
            <a:r>
              <a:rPr sz="2250" spc="-490" dirty="0"/>
              <a:t> </a:t>
            </a:r>
            <a:r>
              <a:rPr sz="2250" spc="-229" dirty="0"/>
              <a:t>S</a:t>
            </a:r>
            <a:r>
              <a:rPr sz="2250" spc="-470" dirty="0"/>
              <a:t> </a:t>
            </a:r>
            <a:r>
              <a:rPr sz="2250" spc="-65" dirty="0"/>
              <a:t>T</a:t>
            </a:r>
            <a:r>
              <a:rPr sz="2250" spc="-465" dirty="0"/>
              <a:t> </a:t>
            </a:r>
            <a:r>
              <a:rPr sz="2250" spc="-295" dirty="0"/>
              <a:t>I</a:t>
            </a:r>
            <a:r>
              <a:rPr sz="2250" spc="-470" dirty="0"/>
              <a:t> </a:t>
            </a:r>
            <a:r>
              <a:rPr sz="2250" spc="35" dirty="0"/>
              <a:t>N</a:t>
            </a:r>
            <a:r>
              <a:rPr sz="2250" spc="-475" dirty="0"/>
              <a:t> </a:t>
            </a:r>
            <a:r>
              <a:rPr sz="2250" spc="5" dirty="0"/>
              <a:t>G	</a:t>
            </a:r>
            <a:r>
              <a:rPr sz="2250" spc="-295" dirty="0"/>
              <a:t>I</a:t>
            </a:r>
            <a:r>
              <a:rPr sz="2250" spc="-465" dirty="0"/>
              <a:t> </a:t>
            </a:r>
            <a:r>
              <a:rPr sz="2250" spc="35" dirty="0"/>
              <a:t>N	</a:t>
            </a:r>
            <a:r>
              <a:rPr sz="2250" spc="-150" dirty="0"/>
              <a:t>R</a:t>
            </a: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1701483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Date Placeholder 1"/>
          <p:cNvSpPr txBox="1">
            <a:spLocks/>
          </p:cNvSpPr>
          <p:nvPr/>
        </p:nvSpPr>
        <p:spPr>
          <a:xfrm>
            <a:off x="101885" y="4695073"/>
            <a:ext cx="2133600" cy="186148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600" b="0" i="0" kern="1200">
                <a:solidFill>
                  <a:srgbClr val="FFFFFF"/>
                </a:solidFill>
                <a:latin typeface="Gill Sans MT"/>
                <a:ea typeface="+mn-ea"/>
                <a:cs typeface="Gill Sans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8" name="object 6"/>
          <p:cNvSpPr/>
          <p:nvPr/>
        </p:nvSpPr>
        <p:spPr>
          <a:xfrm>
            <a:off x="226755" y="3935034"/>
            <a:ext cx="4017460" cy="943031"/>
          </a:xfrm>
          <a:custGeom>
            <a:avLst/>
            <a:gdLst/>
            <a:ahLst/>
            <a:cxnLst/>
            <a:rect l="l" t="t" r="r" b="b"/>
            <a:pathLst>
              <a:path w="6141720" h="1699259">
                <a:moveTo>
                  <a:pt x="6064612" y="1699042"/>
                </a:moveTo>
                <a:lnTo>
                  <a:pt x="0" y="1699042"/>
                </a:lnTo>
                <a:lnTo>
                  <a:pt x="0" y="0"/>
                </a:lnTo>
                <a:lnTo>
                  <a:pt x="6064612" y="0"/>
                </a:lnTo>
                <a:lnTo>
                  <a:pt x="6069936" y="524"/>
                </a:lnTo>
                <a:lnTo>
                  <a:pt x="6109196" y="16786"/>
                </a:lnTo>
                <a:lnTo>
                  <a:pt x="6136941" y="55514"/>
                </a:lnTo>
                <a:lnTo>
                  <a:pt x="6141117" y="76505"/>
                </a:lnTo>
                <a:lnTo>
                  <a:pt x="6141117" y="1622537"/>
                </a:lnTo>
                <a:lnTo>
                  <a:pt x="6124330" y="1667122"/>
                </a:lnTo>
                <a:lnTo>
                  <a:pt x="6085602" y="1694867"/>
                </a:lnTo>
                <a:lnTo>
                  <a:pt x="6064612" y="1699042"/>
                </a:lnTo>
                <a:close/>
              </a:path>
            </a:pathLst>
          </a:custGeom>
          <a:solidFill>
            <a:srgbClr val="7833FF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ct val="100000"/>
              </a:lnSpc>
              <a:spcBef>
                <a:spcPts val="690"/>
              </a:spcBef>
            </a:pPr>
            <a:r>
              <a:rPr lang="en-US" sz="1600" spc="-21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a hid  A sg ha 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78100"/>
              </a:lnSpc>
              <a:spcBef>
                <a:spcPts val="1040"/>
              </a:spcBef>
            </a:pPr>
            <a:r>
              <a:rPr lang="en-US"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Professor, School of Economics, QAU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795337" y="-3249466"/>
            <a:ext cx="6897756" cy="6123471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lang="en-US" sz="4400" spc="-440" dirty="0" smtClean="0">
                <a:cs typeface="Microsoft Sans Serif"/>
              </a:rPr>
              <a:t>T</a:t>
            </a:r>
            <a:br>
              <a:rPr lang="en-US" sz="4400" spc="-440" dirty="0" smtClean="0">
                <a:cs typeface="Microsoft Sans Serif"/>
              </a:rPr>
            </a:br>
            <a:r>
              <a:rPr lang="en-US" sz="4400" spc="-440" dirty="0">
                <a:cs typeface="Microsoft Sans Serif"/>
              </a:rPr>
              <a:t/>
            </a:r>
            <a:br>
              <a:rPr lang="en-US" sz="4400" spc="-440" dirty="0">
                <a:cs typeface="Microsoft Sans Serif"/>
              </a:rPr>
            </a:br>
            <a:r>
              <a:rPr lang="en-US" sz="4400" spc="-440" dirty="0" smtClean="0">
                <a:cs typeface="Microsoft Sans Serif"/>
              </a:rPr>
              <a:t/>
            </a:r>
            <a:br>
              <a:rPr lang="en-US" sz="4400" spc="-440" dirty="0" smtClean="0">
                <a:cs typeface="Microsoft Sans Serif"/>
              </a:rPr>
            </a:br>
            <a:r>
              <a:rPr lang="en-US" sz="4400" spc="-440" dirty="0">
                <a:cs typeface="Microsoft Sans Serif"/>
              </a:rPr>
              <a:t/>
            </a:r>
            <a:br>
              <a:rPr lang="en-US" sz="4400" spc="-440" dirty="0">
                <a:cs typeface="Microsoft Sans Serif"/>
              </a:rPr>
            </a:br>
            <a:r>
              <a:rPr lang="en-US" sz="4400" spc="-440" dirty="0" smtClean="0">
                <a:cs typeface="Microsoft Sans Serif"/>
              </a:rPr>
              <a:t/>
            </a:r>
            <a:br>
              <a:rPr lang="en-US" sz="4400" spc="-440" dirty="0" smtClean="0">
                <a:cs typeface="Microsoft Sans Serif"/>
              </a:rPr>
            </a:br>
            <a:r>
              <a:rPr lang="en-US" sz="4400" spc="-440" dirty="0">
                <a:cs typeface="Microsoft Sans Serif"/>
              </a:rPr>
              <a:t/>
            </a:r>
            <a:br>
              <a:rPr lang="en-US" sz="4400" spc="-440" dirty="0">
                <a:cs typeface="Microsoft Sans Serif"/>
              </a:rPr>
            </a:br>
            <a:r>
              <a:rPr lang="en-US" sz="4400" dirty="0" smtClean="0"/>
              <a:t>YO</a:t>
            </a:r>
            <a:r>
              <a:rPr lang="en-US" sz="4400" dirty="0" smtClean="0">
                <a:latin typeface="Lucida Sans Unicode"/>
                <a:cs typeface="Lucida Sans Unicode"/>
              </a:rPr>
              <a:t>U</a:t>
            </a:r>
            <a:r>
              <a:rPr lang="en-US" sz="4400" dirty="0" smtClean="0"/>
              <a:t>R F</a:t>
            </a:r>
            <a:r>
              <a:rPr lang="en-US" sz="4400" dirty="0" smtClean="0">
                <a:latin typeface="Lucida Sans Unicode"/>
                <a:cs typeface="Lucida Sans Unicode"/>
              </a:rPr>
              <a:t>U</a:t>
            </a:r>
            <a:r>
              <a:rPr lang="en-US" sz="4400" dirty="0" smtClean="0"/>
              <a:t>T</a:t>
            </a:r>
            <a:r>
              <a:rPr lang="en-US" sz="4400" dirty="0" smtClean="0">
                <a:latin typeface="Lucida Sans Unicode"/>
                <a:cs typeface="Lucida Sans Unicode"/>
              </a:rPr>
              <a:t>U</a:t>
            </a:r>
            <a:r>
              <a:rPr lang="en-US" sz="4400" dirty="0" smtClean="0"/>
              <a:t>RE IN  FORECASTING</a:t>
            </a:r>
            <a:r>
              <a:rPr lang="en-US" sz="4400" dirty="0" smtClean="0">
                <a:latin typeface="Lucida Sans Unicode"/>
                <a:cs typeface="Lucida Sans Unicode"/>
              </a:rPr>
              <a:t>!</a:t>
            </a:r>
            <a:r>
              <a:rPr lang="en-US" sz="4400" dirty="0" smtClean="0">
                <a:latin typeface="Microsoft Sans Serif"/>
                <a:cs typeface="Microsoft Sans Serif"/>
              </a:rPr>
              <a:t/>
            </a:r>
            <a:br>
              <a:rPr lang="en-US" sz="4400" dirty="0" smtClean="0">
                <a:latin typeface="Microsoft Sans Serif"/>
                <a:cs typeface="Microsoft Sans Serif"/>
              </a:rPr>
            </a:br>
            <a:r>
              <a:rPr sz="2250" spc="65" dirty="0" smtClean="0"/>
              <a:t>F</a:t>
            </a:r>
            <a:r>
              <a:rPr sz="2250" spc="-470" dirty="0" smtClean="0"/>
              <a:t> </a:t>
            </a:r>
            <a:r>
              <a:rPr sz="2250" spc="55" dirty="0"/>
              <a:t>O</a:t>
            </a:r>
            <a:r>
              <a:rPr sz="2250" spc="-475" dirty="0"/>
              <a:t> </a:t>
            </a:r>
            <a:r>
              <a:rPr sz="2250" spc="-150" dirty="0"/>
              <a:t>R</a:t>
            </a:r>
            <a:r>
              <a:rPr sz="2250" spc="-465" dirty="0"/>
              <a:t> </a:t>
            </a:r>
            <a:r>
              <a:rPr sz="2250" spc="190" dirty="0"/>
              <a:t>EC</a:t>
            </a:r>
            <a:r>
              <a:rPr sz="2250" spc="-470" dirty="0"/>
              <a:t> </a:t>
            </a:r>
            <a:r>
              <a:rPr sz="2250" spc="95" dirty="0"/>
              <a:t>A</a:t>
            </a:r>
            <a:r>
              <a:rPr sz="2250" spc="-490" dirty="0"/>
              <a:t> </a:t>
            </a:r>
            <a:r>
              <a:rPr sz="2250" spc="-229" dirty="0"/>
              <a:t>S</a:t>
            </a:r>
            <a:r>
              <a:rPr sz="2250" spc="-470" dirty="0"/>
              <a:t> </a:t>
            </a:r>
            <a:r>
              <a:rPr sz="2250" spc="-65" dirty="0"/>
              <a:t>T</a:t>
            </a:r>
            <a:r>
              <a:rPr sz="2250" spc="-465" dirty="0"/>
              <a:t> </a:t>
            </a:r>
            <a:r>
              <a:rPr sz="2250" spc="-295" dirty="0"/>
              <a:t>I</a:t>
            </a:r>
            <a:r>
              <a:rPr sz="2250" spc="-470" dirty="0"/>
              <a:t> </a:t>
            </a:r>
            <a:r>
              <a:rPr sz="2250" spc="35" dirty="0"/>
              <a:t>N</a:t>
            </a:r>
            <a:r>
              <a:rPr sz="2250" spc="-475" dirty="0"/>
              <a:t> </a:t>
            </a:r>
            <a:r>
              <a:rPr sz="2250" spc="5" dirty="0"/>
              <a:t>G	</a:t>
            </a:r>
            <a:r>
              <a:rPr sz="2250" spc="-295" dirty="0"/>
              <a:t>I</a:t>
            </a:r>
            <a:r>
              <a:rPr sz="2250" spc="-465" dirty="0"/>
              <a:t> </a:t>
            </a:r>
            <a:r>
              <a:rPr sz="2250" spc="35" dirty="0"/>
              <a:t>N	</a:t>
            </a:r>
            <a:r>
              <a:rPr sz="2250" spc="-150" dirty="0"/>
              <a:t>R</a:t>
            </a:r>
            <a:endParaRPr sz="2250" dirty="0"/>
          </a:p>
        </p:txBody>
      </p:sp>
      <p:grpSp>
        <p:nvGrpSpPr>
          <p:cNvPr id="11" name="object 3"/>
          <p:cNvGrpSpPr/>
          <p:nvPr/>
        </p:nvGrpSpPr>
        <p:grpSpPr>
          <a:xfrm>
            <a:off x="4098157" y="2998288"/>
            <a:ext cx="804524" cy="861034"/>
            <a:chOff x="7287459" y="4974305"/>
            <a:chExt cx="982980" cy="982980"/>
          </a:xfrm>
        </p:grpSpPr>
        <p:sp>
          <p:nvSpPr>
            <p:cNvPr id="12" name="object 4"/>
            <p:cNvSpPr/>
            <p:nvPr/>
          </p:nvSpPr>
          <p:spPr>
            <a:xfrm>
              <a:off x="7287459" y="4974305"/>
              <a:ext cx="982980" cy="982980"/>
            </a:xfrm>
            <a:custGeom>
              <a:avLst/>
              <a:gdLst/>
              <a:ahLst/>
              <a:cxnLst/>
              <a:rect l="l" t="t" r="r" b="b"/>
              <a:pathLst>
                <a:path w="982979" h="982979">
                  <a:moveTo>
                    <a:pt x="491289" y="982578"/>
                  </a:moveTo>
                  <a:lnTo>
                    <a:pt x="443134" y="980213"/>
                  </a:lnTo>
                  <a:lnTo>
                    <a:pt x="395443" y="973138"/>
                  </a:lnTo>
                  <a:lnTo>
                    <a:pt x="348675" y="961423"/>
                  </a:lnTo>
                  <a:lnTo>
                    <a:pt x="303281" y="945181"/>
                  </a:lnTo>
                  <a:lnTo>
                    <a:pt x="259697" y="924568"/>
                  </a:lnTo>
                  <a:lnTo>
                    <a:pt x="218343" y="899781"/>
                  </a:lnTo>
                  <a:lnTo>
                    <a:pt x="179618" y="871061"/>
                  </a:lnTo>
                  <a:lnTo>
                    <a:pt x="143895" y="838683"/>
                  </a:lnTo>
                  <a:lnTo>
                    <a:pt x="111517" y="802960"/>
                  </a:lnTo>
                  <a:lnTo>
                    <a:pt x="82797" y="764235"/>
                  </a:lnTo>
                  <a:lnTo>
                    <a:pt x="58010" y="722881"/>
                  </a:lnTo>
                  <a:lnTo>
                    <a:pt x="37397" y="679297"/>
                  </a:lnTo>
                  <a:lnTo>
                    <a:pt x="21154" y="633903"/>
                  </a:lnTo>
                  <a:lnTo>
                    <a:pt x="9439" y="587135"/>
                  </a:lnTo>
                  <a:lnTo>
                    <a:pt x="2365" y="539444"/>
                  </a:lnTo>
                  <a:lnTo>
                    <a:pt x="0" y="491289"/>
                  </a:lnTo>
                  <a:lnTo>
                    <a:pt x="591" y="467182"/>
                  </a:lnTo>
                  <a:lnTo>
                    <a:pt x="5317" y="419202"/>
                  </a:lnTo>
                  <a:lnTo>
                    <a:pt x="14722" y="371915"/>
                  </a:lnTo>
                  <a:lnTo>
                    <a:pt x="28718" y="325778"/>
                  </a:lnTo>
                  <a:lnTo>
                    <a:pt x="47168" y="281235"/>
                  </a:lnTo>
                  <a:lnTo>
                    <a:pt x="69896" y="238716"/>
                  </a:lnTo>
                  <a:lnTo>
                    <a:pt x="96681" y="198628"/>
                  </a:lnTo>
                  <a:lnTo>
                    <a:pt x="127267" y="161359"/>
                  </a:lnTo>
                  <a:lnTo>
                    <a:pt x="161359" y="127267"/>
                  </a:lnTo>
                  <a:lnTo>
                    <a:pt x="198628" y="96681"/>
                  </a:lnTo>
                  <a:lnTo>
                    <a:pt x="238716" y="69896"/>
                  </a:lnTo>
                  <a:lnTo>
                    <a:pt x="281235" y="47168"/>
                  </a:lnTo>
                  <a:lnTo>
                    <a:pt x="325778" y="28718"/>
                  </a:lnTo>
                  <a:lnTo>
                    <a:pt x="371915" y="14722"/>
                  </a:lnTo>
                  <a:lnTo>
                    <a:pt x="419202" y="5317"/>
                  </a:lnTo>
                  <a:lnTo>
                    <a:pt x="467182" y="591"/>
                  </a:lnTo>
                  <a:lnTo>
                    <a:pt x="491289" y="0"/>
                  </a:lnTo>
                  <a:lnTo>
                    <a:pt x="515395" y="591"/>
                  </a:lnTo>
                  <a:lnTo>
                    <a:pt x="563376" y="5317"/>
                  </a:lnTo>
                  <a:lnTo>
                    <a:pt x="610663" y="14722"/>
                  </a:lnTo>
                  <a:lnTo>
                    <a:pt x="656799" y="28718"/>
                  </a:lnTo>
                  <a:lnTo>
                    <a:pt x="701342" y="47168"/>
                  </a:lnTo>
                  <a:lnTo>
                    <a:pt x="743862" y="69896"/>
                  </a:lnTo>
                  <a:lnTo>
                    <a:pt x="783950" y="96681"/>
                  </a:lnTo>
                  <a:lnTo>
                    <a:pt x="821219" y="127267"/>
                  </a:lnTo>
                  <a:lnTo>
                    <a:pt x="855311" y="161359"/>
                  </a:lnTo>
                  <a:lnTo>
                    <a:pt x="885896" y="198628"/>
                  </a:lnTo>
                  <a:lnTo>
                    <a:pt x="912682" y="238716"/>
                  </a:lnTo>
                  <a:lnTo>
                    <a:pt x="935410" y="281235"/>
                  </a:lnTo>
                  <a:lnTo>
                    <a:pt x="953860" y="325778"/>
                  </a:lnTo>
                  <a:lnTo>
                    <a:pt x="967855" y="371915"/>
                  </a:lnTo>
                  <a:lnTo>
                    <a:pt x="977261" y="419202"/>
                  </a:lnTo>
                  <a:lnTo>
                    <a:pt x="981987" y="467182"/>
                  </a:lnTo>
                  <a:lnTo>
                    <a:pt x="982578" y="491289"/>
                  </a:lnTo>
                  <a:lnTo>
                    <a:pt x="981987" y="515395"/>
                  </a:lnTo>
                  <a:lnTo>
                    <a:pt x="977261" y="563376"/>
                  </a:lnTo>
                  <a:lnTo>
                    <a:pt x="967855" y="610663"/>
                  </a:lnTo>
                  <a:lnTo>
                    <a:pt x="953860" y="656799"/>
                  </a:lnTo>
                  <a:lnTo>
                    <a:pt x="935410" y="701342"/>
                  </a:lnTo>
                  <a:lnTo>
                    <a:pt x="912682" y="743862"/>
                  </a:lnTo>
                  <a:lnTo>
                    <a:pt x="885897" y="783950"/>
                  </a:lnTo>
                  <a:lnTo>
                    <a:pt x="855311" y="821219"/>
                  </a:lnTo>
                  <a:lnTo>
                    <a:pt x="821219" y="855311"/>
                  </a:lnTo>
                  <a:lnTo>
                    <a:pt x="783950" y="885896"/>
                  </a:lnTo>
                  <a:lnTo>
                    <a:pt x="743862" y="912682"/>
                  </a:lnTo>
                  <a:lnTo>
                    <a:pt x="701342" y="935410"/>
                  </a:lnTo>
                  <a:lnTo>
                    <a:pt x="656799" y="953860"/>
                  </a:lnTo>
                  <a:lnTo>
                    <a:pt x="610663" y="967855"/>
                  </a:lnTo>
                  <a:lnTo>
                    <a:pt x="563376" y="977261"/>
                  </a:lnTo>
                  <a:lnTo>
                    <a:pt x="515395" y="981987"/>
                  </a:lnTo>
                  <a:lnTo>
                    <a:pt x="491289" y="982578"/>
                  </a:lnTo>
                  <a:close/>
                </a:path>
              </a:pathLst>
            </a:custGeom>
            <a:solidFill>
              <a:srgbClr val="0418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5"/>
            <p:cNvSpPr/>
            <p:nvPr/>
          </p:nvSpPr>
          <p:spPr>
            <a:xfrm>
              <a:off x="7464603" y="5201056"/>
              <a:ext cx="627380" cy="483870"/>
            </a:xfrm>
            <a:custGeom>
              <a:avLst/>
              <a:gdLst/>
              <a:ahLst/>
              <a:cxnLst/>
              <a:rect l="l" t="t" r="r" b="b"/>
              <a:pathLst>
                <a:path w="627379" h="483870">
                  <a:moveTo>
                    <a:pt x="626770" y="209892"/>
                  </a:moveTo>
                  <a:lnTo>
                    <a:pt x="621728" y="172161"/>
                  </a:lnTo>
                  <a:lnTo>
                    <a:pt x="607174" y="136652"/>
                  </a:lnTo>
                  <a:lnTo>
                    <a:pt x="590003" y="112458"/>
                  </a:lnTo>
                  <a:lnTo>
                    <a:pt x="590003" y="225552"/>
                  </a:lnTo>
                  <a:lnTo>
                    <a:pt x="584238" y="264845"/>
                  </a:lnTo>
                  <a:lnTo>
                    <a:pt x="567677" y="297535"/>
                  </a:lnTo>
                  <a:lnTo>
                    <a:pt x="541426" y="323824"/>
                  </a:lnTo>
                  <a:lnTo>
                    <a:pt x="513664" y="339826"/>
                  </a:lnTo>
                  <a:lnTo>
                    <a:pt x="511086" y="338315"/>
                  </a:lnTo>
                  <a:lnTo>
                    <a:pt x="507263" y="336384"/>
                  </a:lnTo>
                  <a:lnTo>
                    <a:pt x="497928" y="332270"/>
                  </a:lnTo>
                  <a:lnTo>
                    <a:pt x="488137" y="328650"/>
                  </a:lnTo>
                  <a:lnTo>
                    <a:pt x="480415" y="326072"/>
                  </a:lnTo>
                  <a:lnTo>
                    <a:pt x="477278" y="325081"/>
                  </a:lnTo>
                  <a:lnTo>
                    <a:pt x="491871" y="322554"/>
                  </a:lnTo>
                  <a:lnTo>
                    <a:pt x="523989" y="309994"/>
                  </a:lnTo>
                  <a:lnTo>
                    <a:pt x="556107" y="279996"/>
                  </a:lnTo>
                  <a:lnTo>
                    <a:pt x="559600" y="266877"/>
                  </a:lnTo>
                  <a:lnTo>
                    <a:pt x="570712" y="225132"/>
                  </a:lnTo>
                  <a:lnTo>
                    <a:pt x="565543" y="206857"/>
                  </a:lnTo>
                  <a:lnTo>
                    <a:pt x="555434" y="171069"/>
                  </a:lnTo>
                  <a:lnTo>
                    <a:pt x="521817" y="142836"/>
                  </a:lnTo>
                  <a:lnTo>
                    <a:pt x="488200" y="132054"/>
                  </a:lnTo>
                  <a:lnTo>
                    <a:pt x="472922" y="130327"/>
                  </a:lnTo>
                  <a:lnTo>
                    <a:pt x="460756" y="130327"/>
                  </a:lnTo>
                  <a:lnTo>
                    <a:pt x="460756" y="236321"/>
                  </a:lnTo>
                  <a:lnTo>
                    <a:pt x="456069" y="253936"/>
                  </a:lnTo>
                  <a:lnTo>
                    <a:pt x="445770" y="263004"/>
                  </a:lnTo>
                  <a:lnTo>
                    <a:pt x="435457" y="266357"/>
                  </a:lnTo>
                  <a:lnTo>
                    <a:pt x="430771" y="266852"/>
                  </a:lnTo>
                  <a:lnTo>
                    <a:pt x="419481" y="266865"/>
                  </a:lnTo>
                  <a:lnTo>
                    <a:pt x="419481" y="365620"/>
                  </a:lnTo>
                  <a:lnTo>
                    <a:pt x="415442" y="366306"/>
                  </a:lnTo>
                  <a:lnTo>
                    <a:pt x="365125" y="368846"/>
                  </a:lnTo>
                  <a:lnTo>
                    <a:pt x="365125" y="345084"/>
                  </a:lnTo>
                  <a:lnTo>
                    <a:pt x="399707" y="345084"/>
                  </a:lnTo>
                  <a:lnTo>
                    <a:pt x="402234" y="346786"/>
                  </a:lnTo>
                  <a:lnTo>
                    <a:pt x="408178" y="351599"/>
                  </a:lnTo>
                  <a:lnTo>
                    <a:pt x="414096" y="358038"/>
                  </a:lnTo>
                  <a:lnTo>
                    <a:pt x="419481" y="365620"/>
                  </a:lnTo>
                  <a:lnTo>
                    <a:pt x="419481" y="266865"/>
                  </a:lnTo>
                  <a:lnTo>
                    <a:pt x="366014" y="266877"/>
                  </a:lnTo>
                  <a:lnTo>
                    <a:pt x="366052" y="206857"/>
                  </a:lnTo>
                  <a:lnTo>
                    <a:pt x="430771" y="206895"/>
                  </a:lnTo>
                  <a:lnTo>
                    <a:pt x="435457" y="207124"/>
                  </a:lnTo>
                  <a:lnTo>
                    <a:pt x="445770" y="209969"/>
                  </a:lnTo>
                  <a:lnTo>
                    <a:pt x="456069" y="218617"/>
                  </a:lnTo>
                  <a:lnTo>
                    <a:pt x="460756" y="236321"/>
                  </a:lnTo>
                  <a:lnTo>
                    <a:pt x="460756" y="130327"/>
                  </a:lnTo>
                  <a:lnTo>
                    <a:pt x="258229" y="130327"/>
                  </a:lnTo>
                  <a:lnTo>
                    <a:pt x="258229" y="354812"/>
                  </a:lnTo>
                  <a:lnTo>
                    <a:pt x="256603" y="354457"/>
                  </a:lnTo>
                  <a:lnTo>
                    <a:pt x="212369" y="337515"/>
                  </a:lnTo>
                  <a:lnTo>
                    <a:pt x="175488" y="315290"/>
                  </a:lnTo>
                  <a:lnTo>
                    <a:pt x="147370" y="288645"/>
                  </a:lnTo>
                  <a:lnTo>
                    <a:pt x="123151" y="225552"/>
                  </a:lnTo>
                  <a:lnTo>
                    <a:pt x="129451" y="192646"/>
                  </a:lnTo>
                  <a:lnTo>
                    <a:pt x="175488" y="135801"/>
                  </a:lnTo>
                  <a:lnTo>
                    <a:pt x="212369" y="113588"/>
                  </a:lnTo>
                  <a:lnTo>
                    <a:pt x="256603" y="96647"/>
                  </a:lnTo>
                  <a:lnTo>
                    <a:pt x="306743" y="85852"/>
                  </a:lnTo>
                  <a:lnTo>
                    <a:pt x="361353" y="82067"/>
                  </a:lnTo>
                  <a:lnTo>
                    <a:pt x="415442" y="84785"/>
                  </a:lnTo>
                  <a:lnTo>
                    <a:pt x="464210" y="93091"/>
                  </a:lnTo>
                  <a:lnTo>
                    <a:pt x="506577" y="107200"/>
                  </a:lnTo>
                  <a:lnTo>
                    <a:pt x="541426" y="127292"/>
                  </a:lnTo>
                  <a:lnTo>
                    <a:pt x="584238" y="186258"/>
                  </a:lnTo>
                  <a:lnTo>
                    <a:pt x="590003" y="225552"/>
                  </a:lnTo>
                  <a:lnTo>
                    <a:pt x="590003" y="112458"/>
                  </a:lnTo>
                  <a:lnTo>
                    <a:pt x="583984" y="103962"/>
                  </a:lnTo>
                  <a:lnTo>
                    <a:pt x="560882" y="82067"/>
                  </a:lnTo>
                  <a:lnTo>
                    <a:pt x="553072" y="74663"/>
                  </a:lnTo>
                  <a:lnTo>
                    <a:pt x="515302" y="49364"/>
                  </a:lnTo>
                  <a:lnTo>
                    <a:pt x="471563" y="28663"/>
                  </a:lnTo>
                  <a:lnTo>
                    <a:pt x="422744" y="13131"/>
                  </a:lnTo>
                  <a:lnTo>
                    <a:pt x="369722" y="3390"/>
                  </a:lnTo>
                  <a:lnTo>
                    <a:pt x="313385" y="0"/>
                  </a:lnTo>
                  <a:lnTo>
                    <a:pt x="257060" y="3390"/>
                  </a:lnTo>
                  <a:lnTo>
                    <a:pt x="204038" y="13131"/>
                  </a:lnTo>
                  <a:lnTo>
                    <a:pt x="155219" y="28663"/>
                  </a:lnTo>
                  <a:lnTo>
                    <a:pt x="111480" y="49364"/>
                  </a:lnTo>
                  <a:lnTo>
                    <a:pt x="73698" y="74663"/>
                  </a:lnTo>
                  <a:lnTo>
                    <a:pt x="42786" y="103962"/>
                  </a:lnTo>
                  <a:lnTo>
                    <a:pt x="19608" y="136652"/>
                  </a:lnTo>
                  <a:lnTo>
                    <a:pt x="5041" y="172161"/>
                  </a:lnTo>
                  <a:lnTo>
                    <a:pt x="0" y="209892"/>
                  </a:lnTo>
                  <a:lnTo>
                    <a:pt x="5041" y="247611"/>
                  </a:lnTo>
                  <a:lnTo>
                    <a:pt x="19608" y="283121"/>
                  </a:lnTo>
                  <a:lnTo>
                    <a:pt x="42786" y="315823"/>
                  </a:lnTo>
                  <a:lnTo>
                    <a:pt x="73698" y="345122"/>
                  </a:lnTo>
                  <a:lnTo>
                    <a:pt x="111480" y="370408"/>
                  </a:lnTo>
                  <a:lnTo>
                    <a:pt x="155219" y="391121"/>
                  </a:lnTo>
                  <a:lnTo>
                    <a:pt x="204038" y="406641"/>
                  </a:lnTo>
                  <a:lnTo>
                    <a:pt x="257060" y="416394"/>
                  </a:lnTo>
                  <a:lnTo>
                    <a:pt x="258229" y="416471"/>
                  </a:lnTo>
                  <a:lnTo>
                    <a:pt x="258229" y="483298"/>
                  </a:lnTo>
                  <a:lnTo>
                    <a:pt x="365150" y="483260"/>
                  </a:lnTo>
                  <a:lnTo>
                    <a:pt x="365137" y="416674"/>
                  </a:lnTo>
                  <a:lnTo>
                    <a:pt x="369722" y="416394"/>
                  </a:lnTo>
                  <a:lnTo>
                    <a:pt x="422744" y="406641"/>
                  </a:lnTo>
                  <a:lnTo>
                    <a:pt x="439648" y="401269"/>
                  </a:lnTo>
                  <a:lnTo>
                    <a:pt x="483362" y="483336"/>
                  </a:lnTo>
                  <a:lnTo>
                    <a:pt x="604177" y="483285"/>
                  </a:lnTo>
                  <a:lnTo>
                    <a:pt x="530987" y="359905"/>
                  </a:lnTo>
                  <a:lnTo>
                    <a:pt x="553072" y="345122"/>
                  </a:lnTo>
                  <a:lnTo>
                    <a:pt x="583984" y="315823"/>
                  </a:lnTo>
                  <a:lnTo>
                    <a:pt x="607174" y="283121"/>
                  </a:lnTo>
                  <a:lnTo>
                    <a:pt x="621728" y="247611"/>
                  </a:lnTo>
                  <a:lnTo>
                    <a:pt x="626770" y="209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71528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152400" y="1017020"/>
            <a:ext cx="7772400" cy="461665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THESE SLIDES FROM DATACAMP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283527" y="1490401"/>
            <a:ext cx="8576945" cy="2577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spc="25" dirty="0">
                <a:solidFill>
                  <a:srgbClr val="04182D"/>
                </a:solidFill>
                <a:latin typeface="Lucida Sans Unicode"/>
                <a:cs typeface="Lucida Sans Unicode"/>
              </a:rPr>
              <a:t>Other</a:t>
            </a:r>
            <a:r>
              <a:rPr sz="2500" spc="-65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500" spc="100" dirty="0">
                <a:solidFill>
                  <a:srgbClr val="04182D"/>
                </a:solidFill>
                <a:latin typeface="Lucida Sans Unicode"/>
                <a:cs typeface="Lucida Sans Unicode"/>
              </a:rPr>
              <a:t>DataCamp</a:t>
            </a:r>
            <a:r>
              <a:rPr sz="2500" spc="-60" dirty="0">
                <a:solidFill>
                  <a:srgbClr val="04182D"/>
                </a:solidFill>
                <a:latin typeface="Lucida Sans Unicode"/>
                <a:cs typeface="Lucida Sans Unicode"/>
              </a:rPr>
              <a:t> </a:t>
            </a:r>
            <a:r>
              <a:rPr sz="25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co</a:t>
            </a:r>
            <a:r>
              <a:rPr sz="2800" spc="-40" dirty="0">
                <a:solidFill>
                  <a:srgbClr val="04182D"/>
                </a:solidFill>
                <a:latin typeface="Microsoft Sans Serif"/>
                <a:cs typeface="Microsoft Sans Serif"/>
              </a:rPr>
              <a:t>u</a:t>
            </a:r>
            <a:r>
              <a:rPr sz="2500" spc="-40" dirty="0">
                <a:solidFill>
                  <a:srgbClr val="04182D"/>
                </a:solidFill>
                <a:latin typeface="Lucida Sans Unicode"/>
                <a:cs typeface="Lucida Sans Unicode"/>
              </a:rPr>
              <a:t>rses</a:t>
            </a:r>
            <a:r>
              <a:rPr sz="2800" spc="-40" dirty="0">
                <a:solidFill>
                  <a:srgbClr val="04182D"/>
                </a:solidFill>
                <a:latin typeface="Microsoft Sans Serif"/>
                <a:cs typeface="Microsoft Sans Serif"/>
              </a:rPr>
              <a:t>:</a:t>
            </a:r>
            <a:endParaRPr sz="2800" dirty="0">
              <a:latin typeface="Microsoft Sans Serif"/>
              <a:cs typeface="Microsoft Sans Serif"/>
            </a:endParaRPr>
          </a:p>
          <a:p>
            <a:pPr marL="381000" marR="2573655">
              <a:lnSpc>
                <a:spcPct val="168600"/>
              </a:lnSpc>
              <a:spcBef>
                <a:spcPts val="1240"/>
              </a:spcBef>
            </a:pPr>
            <a:r>
              <a:rPr sz="2550" spc="5" dirty="0">
                <a:solidFill>
                  <a:srgbClr val="007BB5"/>
                </a:solidFill>
                <a:latin typeface="Verdana"/>
                <a:cs typeface="Verdana"/>
                <a:hlinkClick r:id="rId2"/>
              </a:rPr>
              <a:t>ARIMA </a:t>
            </a:r>
            <a:r>
              <a:rPr sz="2550" spc="-40" dirty="0">
                <a:solidFill>
                  <a:srgbClr val="007BB5"/>
                </a:solidFill>
                <a:latin typeface="Verdana"/>
                <a:cs typeface="Verdana"/>
                <a:hlinkClick r:id="rId2"/>
              </a:rPr>
              <a:t>modeling </a:t>
            </a:r>
            <a:r>
              <a:rPr sz="2550" spc="5" dirty="0">
                <a:solidFill>
                  <a:srgbClr val="007BB5"/>
                </a:solidFill>
                <a:latin typeface="Lucida Sans Unicode"/>
                <a:cs typeface="Lucida Sans Unicode"/>
                <a:hlinkClick r:id="rId2"/>
              </a:rPr>
              <a:t>w</a:t>
            </a:r>
            <a:r>
              <a:rPr sz="2550" spc="5" dirty="0">
                <a:solidFill>
                  <a:srgbClr val="007BB5"/>
                </a:solidFill>
                <a:latin typeface="Verdana"/>
                <a:cs typeface="Verdana"/>
                <a:hlinkClick r:id="rId2"/>
              </a:rPr>
              <a:t>ith </a:t>
            </a:r>
            <a:r>
              <a:rPr sz="2550" spc="-155" dirty="0">
                <a:solidFill>
                  <a:srgbClr val="007BB5"/>
                </a:solidFill>
                <a:latin typeface="Verdana"/>
                <a:cs typeface="Verdana"/>
                <a:hlinkClick r:id="rId2"/>
              </a:rPr>
              <a:t>R </a:t>
            </a:r>
            <a:r>
              <a:rPr sz="2550" spc="-150" dirty="0">
                <a:solidFill>
                  <a:srgbClr val="007BB5"/>
                </a:solidFill>
                <a:latin typeface="Verdana"/>
                <a:cs typeface="Verdana"/>
              </a:rPr>
              <a:t> </a:t>
            </a:r>
            <a:r>
              <a:rPr sz="2550" spc="-33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I</a:t>
            </a:r>
            <a:r>
              <a:rPr sz="2550" spc="-125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n</a:t>
            </a:r>
            <a:r>
              <a:rPr sz="2550" spc="-2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t</a:t>
            </a:r>
            <a:r>
              <a:rPr sz="2550" spc="-13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r</a:t>
            </a:r>
            <a:r>
              <a:rPr sz="2550" spc="-2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o</a:t>
            </a:r>
            <a:r>
              <a:rPr sz="2550" spc="-3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d</a:t>
            </a:r>
            <a:r>
              <a:rPr sz="2550" spc="-70" dirty="0">
                <a:solidFill>
                  <a:srgbClr val="007BB5"/>
                </a:solidFill>
                <a:latin typeface="Lucida Sans Unicode"/>
                <a:cs typeface="Lucida Sans Unicode"/>
                <a:hlinkClick r:id="rId3"/>
              </a:rPr>
              <a:t>u</a:t>
            </a:r>
            <a:r>
              <a:rPr sz="2550" spc="135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c</a:t>
            </a:r>
            <a:r>
              <a:rPr sz="2550" spc="-2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t</a:t>
            </a:r>
            <a:r>
              <a:rPr sz="2550" spc="15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i</a:t>
            </a:r>
            <a:r>
              <a:rPr sz="2550" spc="-5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o</a:t>
            </a:r>
            <a:r>
              <a:rPr sz="2550" spc="-95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n</a:t>
            </a:r>
            <a:r>
              <a:rPr sz="2550" spc="-145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 </a:t>
            </a:r>
            <a:r>
              <a:rPr sz="2550" spc="-45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t</a:t>
            </a:r>
            <a:r>
              <a:rPr sz="2550" spc="-2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o</a:t>
            </a:r>
            <a:r>
              <a:rPr sz="2550" spc="-145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 </a:t>
            </a:r>
            <a:r>
              <a:rPr sz="2550" spc="-114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T</a:t>
            </a:r>
            <a:r>
              <a:rPr sz="2550" spc="4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i</a:t>
            </a:r>
            <a:r>
              <a:rPr sz="2550" spc="-14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m</a:t>
            </a:r>
            <a:r>
              <a:rPr sz="2550" spc="-5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e</a:t>
            </a:r>
            <a:r>
              <a:rPr sz="2550" spc="-145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 </a:t>
            </a:r>
            <a:r>
              <a:rPr sz="2550" spc="-25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S</a:t>
            </a:r>
            <a:r>
              <a:rPr sz="2550" spc="-8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e</a:t>
            </a:r>
            <a:r>
              <a:rPr sz="2550" spc="-3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r</a:t>
            </a:r>
            <a:r>
              <a:rPr sz="2550" spc="15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i</a:t>
            </a:r>
            <a:r>
              <a:rPr sz="2550" spc="-5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e</a:t>
            </a:r>
            <a:r>
              <a:rPr sz="2550" spc="-14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s</a:t>
            </a:r>
            <a:r>
              <a:rPr sz="2550" spc="-145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 </a:t>
            </a:r>
            <a:r>
              <a:rPr sz="2550" spc="12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A</a:t>
            </a:r>
            <a:r>
              <a:rPr sz="2550" spc="-10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n</a:t>
            </a:r>
            <a:r>
              <a:rPr sz="2550" spc="5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a</a:t>
            </a:r>
            <a:r>
              <a:rPr sz="2550" spc="-45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l</a:t>
            </a:r>
            <a:r>
              <a:rPr sz="2550" spc="195" dirty="0">
                <a:solidFill>
                  <a:srgbClr val="007BB5"/>
                </a:solidFill>
                <a:latin typeface="Lucida Sans Unicode"/>
                <a:cs typeface="Lucida Sans Unicode"/>
                <a:hlinkClick r:id="rId3"/>
              </a:rPr>
              <a:t>y</a:t>
            </a:r>
            <a:r>
              <a:rPr sz="2550" spc="-14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s</a:t>
            </a:r>
            <a:r>
              <a:rPr sz="2550" spc="4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i</a:t>
            </a:r>
            <a:r>
              <a:rPr sz="2550" spc="-140" dirty="0">
                <a:solidFill>
                  <a:srgbClr val="007BB5"/>
                </a:solidFill>
                <a:latin typeface="Verdana"/>
                <a:cs typeface="Verdana"/>
                <a:hlinkClick r:id="rId3"/>
              </a:rPr>
              <a:t>s</a:t>
            </a:r>
            <a:endParaRPr sz="2550" dirty="0">
              <a:latin typeface="Verdana"/>
              <a:cs typeface="Verdana"/>
            </a:endParaRPr>
          </a:p>
          <a:p>
            <a:pPr marL="381000">
              <a:lnSpc>
                <a:spcPct val="100000"/>
              </a:lnSpc>
              <a:spcBef>
                <a:spcPts val="2100"/>
              </a:spcBef>
            </a:pPr>
            <a:r>
              <a:rPr sz="2550" spc="5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Manip</a:t>
            </a:r>
            <a:r>
              <a:rPr sz="2550" spc="5" dirty="0">
                <a:solidFill>
                  <a:srgbClr val="007BB5"/>
                </a:solidFill>
                <a:latin typeface="Lucida Sans Unicode"/>
                <a:cs typeface="Lucida Sans Unicode"/>
                <a:hlinkClick r:id="rId4"/>
              </a:rPr>
              <a:t>u</a:t>
            </a:r>
            <a:r>
              <a:rPr sz="2550" spc="5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lating</a:t>
            </a:r>
            <a:r>
              <a:rPr sz="2550" spc="-145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2550" spc="-65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Time</a:t>
            </a:r>
            <a:r>
              <a:rPr sz="2550" spc="-140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2550" spc="-90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Series</a:t>
            </a:r>
            <a:r>
              <a:rPr sz="2550" spc="-140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2550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Data</a:t>
            </a:r>
            <a:r>
              <a:rPr sz="2550" spc="-140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2550" spc="-30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in</a:t>
            </a:r>
            <a:r>
              <a:rPr sz="2550" spc="-140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2550" spc="-155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R</a:t>
            </a:r>
            <a:r>
              <a:rPr sz="2550" spc="-140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2550" spc="5" dirty="0">
                <a:solidFill>
                  <a:srgbClr val="007BB5"/>
                </a:solidFill>
                <a:latin typeface="Lucida Sans Unicode"/>
                <a:cs typeface="Lucida Sans Unicode"/>
                <a:hlinkClick r:id="rId4"/>
              </a:rPr>
              <a:t>w</a:t>
            </a:r>
            <a:r>
              <a:rPr sz="2550" spc="5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ith</a:t>
            </a:r>
            <a:r>
              <a:rPr sz="2550" spc="-140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2550" spc="-105" dirty="0">
                <a:solidFill>
                  <a:srgbClr val="007BB5"/>
                </a:solidFill>
                <a:latin typeface="Lucida Sans Unicode"/>
                <a:cs typeface="Lucida Sans Unicode"/>
                <a:hlinkClick r:id="rId4"/>
              </a:rPr>
              <a:t>x</a:t>
            </a:r>
            <a:r>
              <a:rPr sz="2550" spc="-105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ts</a:t>
            </a:r>
            <a:r>
              <a:rPr sz="2550" spc="-140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2550" spc="-25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and</a:t>
            </a:r>
            <a:r>
              <a:rPr sz="2550" spc="-140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 </a:t>
            </a:r>
            <a:r>
              <a:rPr sz="2550" spc="-95" dirty="0">
                <a:solidFill>
                  <a:srgbClr val="007BB5"/>
                </a:solidFill>
                <a:latin typeface="Lucida Sans Unicode"/>
                <a:cs typeface="Lucida Sans Unicode"/>
                <a:hlinkClick r:id="rId4"/>
              </a:rPr>
              <a:t>z</a:t>
            </a:r>
            <a:r>
              <a:rPr sz="2550" spc="-95" dirty="0">
                <a:solidFill>
                  <a:srgbClr val="007BB5"/>
                </a:solidFill>
                <a:latin typeface="Verdana"/>
                <a:cs typeface="Verdana"/>
                <a:hlinkClick r:id="rId4"/>
              </a:rPr>
              <a:t>oo</a:t>
            </a:r>
            <a:endParaRPr sz="255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89681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1A58-12D5-4546-995B-9323A3D8C075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8" name="object 3"/>
          <p:cNvSpPr txBox="1">
            <a:spLocks noGrp="1"/>
          </p:cNvSpPr>
          <p:nvPr>
            <p:ph type="title"/>
          </p:nvPr>
        </p:nvSpPr>
        <p:spPr>
          <a:xfrm>
            <a:off x="248782" y="930570"/>
            <a:ext cx="7772400" cy="1663276"/>
          </a:xfrm>
          <a:prstGeom prst="rect">
            <a:avLst/>
          </a:prstGeom>
        </p:spPr>
        <p:txBody>
          <a:bodyPr vert="horz" wrap="square" lIns="0" tIns="306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lang="en-US" dirty="0" smtClean="0">
                <a:solidFill>
                  <a:schemeClr val="tx1"/>
                </a:solidFill>
              </a:rPr>
              <a:t>YO</a:t>
            </a:r>
            <a:r>
              <a:rPr lang="en-US" dirty="0" smtClean="0">
                <a:solidFill>
                  <a:schemeClr val="tx1"/>
                </a:solidFill>
                <a:latin typeface="Lucida Sans Unicode"/>
                <a:cs typeface="Lucida Sans Unicode"/>
              </a:rPr>
              <a:t>U</a:t>
            </a:r>
            <a:r>
              <a:rPr lang="en-US" dirty="0" smtClean="0">
                <a:solidFill>
                  <a:schemeClr val="tx1"/>
                </a:solidFill>
              </a:rPr>
              <a:t>R F</a:t>
            </a:r>
            <a:r>
              <a:rPr lang="en-US" dirty="0" smtClean="0">
                <a:solidFill>
                  <a:schemeClr val="tx1"/>
                </a:solidFill>
                <a:latin typeface="Lucida Sans Unicode"/>
                <a:cs typeface="Lucida Sans Unicode"/>
              </a:rPr>
              <a:t>U</a:t>
            </a:r>
            <a:r>
              <a:rPr lang="en-US" dirty="0" smtClean="0">
                <a:solidFill>
                  <a:schemeClr val="tx1"/>
                </a:solidFill>
              </a:rPr>
              <a:t>T</a:t>
            </a:r>
            <a:r>
              <a:rPr lang="en-US" dirty="0" smtClean="0">
                <a:solidFill>
                  <a:schemeClr val="tx1"/>
                </a:solidFill>
                <a:latin typeface="Lucida Sans Unicode"/>
                <a:cs typeface="Lucida Sans Unicode"/>
              </a:rPr>
              <a:t>U</a:t>
            </a:r>
            <a:r>
              <a:rPr lang="en-US" dirty="0" smtClean="0">
                <a:solidFill>
                  <a:schemeClr val="tx1"/>
                </a:solidFill>
              </a:rPr>
              <a:t>RE IN FORECASTING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sz="2000" spc="70" dirty="0" smtClean="0">
                <a:solidFill>
                  <a:schemeClr val="tx1"/>
                </a:solidFill>
                <a:latin typeface="Lucida Sans Unicode"/>
                <a:cs typeface="Lucida Sans Unicode"/>
              </a:rPr>
              <a:t>Practice</a:t>
            </a:r>
            <a:r>
              <a:rPr sz="2000" spc="-45" dirty="0" smtClean="0">
                <a:solidFill>
                  <a:schemeClr val="tx1"/>
                </a:solidFill>
                <a:latin typeface="Lucida Sans Unicode"/>
                <a:cs typeface="Lucida Sans Unicode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Lucida Sans Unicode"/>
                <a:cs typeface="Lucida Sans Unicode"/>
              </a:rPr>
              <a:t>forecasting</a:t>
            </a:r>
            <a:r>
              <a:rPr sz="2000" spc="-40" dirty="0">
                <a:solidFill>
                  <a:schemeClr val="tx1"/>
                </a:solidFill>
                <a:latin typeface="Lucida Sans Unicode"/>
                <a:cs typeface="Lucida Sans Unicode"/>
              </a:rPr>
              <a:t> </a:t>
            </a:r>
            <a:r>
              <a:rPr sz="2000" spc="-65" dirty="0">
                <a:solidFill>
                  <a:schemeClr val="tx1"/>
                </a:solidFill>
                <a:latin typeface="Lucida Sans Unicode"/>
                <a:cs typeface="Lucida Sans Unicode"/>
              </a:rPr>
              <a:t>lots</a:t>
            </a:r>
            <a:r>
              <a:rPr sz="2000" spc="-40" dirty="0">
                <a:solidFill>
                  <a:schemeClr val="tx1"/>
                </a:solidFill>
                <a:latin typeface="Lucida Sans Unicode"/>
                <a:cs typeface="Lucida Sans Unicode"/>
              </a:rPr>
              <a:t> </a:t>
            </a:r>
            <a:r>
              <a:rPr sz="2000" spc="-45" dirty="0">
                <a:solidFill>
                  <a:schemeClr val="tx1"/>
                </a:solidFill>
                <a:latin typeface="Lucida Sans Unicode"/>
                <a:cs typeface="Lucida Sans Unicode"/>
              </a:rPr>
              <a:t>of </a:t>
            </a:r>
            <a:r>
              <a:rPr sz="2000" spc="-30" dirty="0">
                <a:solidFill>
                  <a:schemeClr val="tx1"/>
                </a:solidFill>
                <a:latin typeface="Lucida Sans Unicode"/>
                <a:cs typeface="Lucida Sans Unicode"/>
              </a:rPr>
              <a:t>di</a:t>
            </a:r>
            <a:r>
              <a:rPr sz="2000" spc="130" dirty="0">
                <a:solidFill>
                  <a:schemeClr val="tx1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Lucida Sans Unicode"/>
                <a:cs typeface="Lucida Sans Unicode"/>
              </a:rPr>
              <a:t>erent</a:t>
            </a:r>
            <a:r>
              <a:rPr sz="2000" spc="-40" dirty="0">
                <a:solidFill>
                  <a:schemeClr val="tx1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chemeClr val="tx1"/>
                </a:solidFill>
                <a:latin typeface="Lucida Sans Unicode"/>
                <a:cs typeface="Lucida Sans Unicode"/>
              </a:rPr>
              <a:t>time</a:t>
            </a:r>
            <a:r>
              <a:rPr sz="2000" spc="-40" dirty="0">
                <a:solidFill>
                  <a:schemeClr val="tx1"/>
                </a:solidFill>
                <a:latin typeface="Lucida Sans Unicode"/>
                <a:cs typeface="Lucida Sans Unicode"/>
              </a:rPr>
              <a:t> </a:t>
            </a:r>
            <a:r>
              <a:rPr sz="2000" spc="-55" dirty="0">
                <a:solidFill>
                  <a:schemeClr val="tx1"/>
                </a:solidFill>
                <a:latin typeface="Lucida Sans Unicode"/>
                <a:cs typeface="Lucida Sans Unicode"/>
              </a:rPr>
              <a:t>series</a:t>
            </a:r>
            <a:r>
              <a:rPr sz="2000" spc="-55" dirty="0">
                <a:solidFill>
                  <a:schemeClr val="tx1"/>
                </a:solidFill>
                <a:latin typeface="Microsoft Sans Serif"/>
                <a:cs typeface="Microsoft Sans Serif"/>
              </a:rPr>
              <a:t>,</a:t>
            </a:r>
            <a:r>
              <a:rPr sz="2000" spc="1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sz="2000" spc="-50" dirty="0">
                <a:solidFill>
                  <a:schemeClr val="tx1"/>
                </a:solidFill>
                <a:latin typeface="Microsoft Sans Serif"/>
                <a:cs typeface="Microsoft Sans Serif"/>
              </a:rPr>
              <a:t>u</a:t>
            </a:r>
            <a:r>
              <a:rPr sz="2000" spc="-50" dirty="0">
                <a:solidFill>
                  <a:schemeClr val="tx1"/>
                </a:solidFill>
                <a:latin typeface="Lucida Sans Unicode"/>
                <a:cs typeface="Lucida Sans Unicode"/>
              </a:rPr>
              <a:t>sing</a:t>
            </a:r>
            <a:r>
              <a:rPr sz="2000" spc="-45" dirty="0">
                <a:solidFill>
                  <a:schemeClr val="tx1"/>
                </a:solidFill>
                <a:latin typeface="Lucida Sans Unicode"/>
                <a:cs typeface="Lucida Sans Unicode"/>
              </a:rPr>
              <a:t> </a:t>
            </a:r>
            <a:r>
              <a:rPr sz="2000" spc="35" dirty="0">
                <a:solidFill>
                  <a:schemeClr val="tx1"/>
                </a:solidFill>
                <a:latin typeface="Lucida Sans Unicode"/>
                <a:cs typeface="Lucida Sans Unicode"/>
              </a:rPr>
              <a:t>man</a:t>
            </a:r>
            <a:r>
              <a:rPr sz="2000" spc="35" dirty="0">
                <a:solidFill>
                  <a:schemeClr val="tx1"/>
                </a:solidFill>
                <a:latin typeface="Microsoft Sans Serif"/>
                <a:cs typeface="Microsoft Sans Serif"/>
              </a:rPr>
              <a:t>y </a:t>
            </a:r>
            <a:r>
              <a:rPr sz="2000" spc="-730" dirty="0">
                <a:solidFill>
                  <a:schemeClr val="tx1"/>
                </a:solidFill>
                <a:latin typeface="Microsoft Sans Serif"/>
                <a:cs typeface="Microsoft Sans Serif"/>
              </a:rPr>
              <a:t> </a:t>
            </a:r>
            <a:r>
              <a:rPr lang="en-US" sz="2000" spc="-730" dirty="0" smtClean="0">
                <a:solidFill>
                  <a:schemeClr val="tx1"/>
                </a:solidFill>
                <a:latin typeface="Microsoft Sans Serif"/>
                <a:cs typeface="Microsoft Sans Serif"/>
              </a:rPr>
              <a:t/>
            </a:r>
            <a:br>
              <a:rPr lang="en-US" sz="2000" spc="-730" dirty="0" smtClean="0">
                <a:solidFill>
                  <a:schemeClr val="tx1"/>
                </a:solidFill>
                <a:latin typeface="Microsoft Sans Serif"/>
                <a:cs typeface="Microsoft Sans Serif"/>
              </a:rPr>
            </a:br>
            <a:r>
              <a:rPr sz="2000" spc="-30" dirty="0" smtClean="0">
                <a:solidFill>
                  <a:schemeClr val="tx1"/>
                </a:solidFill>
                <a:latin typeface="Lucida Sans Unicode"/>
                <a:cs typeface="Lucida Sans Unicode"/>
              </a:rPr>
              <a:t>di</a:t>
            </a:r>
            <a:r>
              <a:rPr sz="2000" spc="120" dirty="0" smtClean="0">
                <a:solidFill>
                  <a:schemeClr val="tx1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Lucida Sans Unicode"/>
                <a:cs typeface="Lucida Sans Unicode"/>
              </a:rPr>
              <a:t>erent</a:t>
            </a:r>
            <a:r>
              <a:rPr sz="2000" spc="-50" dirty="0">
                <a:solidFill>
                  <a:schemeClr val="tx1"/>
                </a:solidFill>
                <a:latin typeface="Lucida Sans Unicode"/>
                <a:cs typeface="Lucida Sans Unicode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Lucida Sans Unicode"/>
                <a:cs typeface="Lucida Sans Unicode"/>
              </a:rPr>
              <a:t>methods</a:t>
            </a:r>
            <a:endParaRPr sz="2000" dirty="0">
              <a:solidFill>
                <a:schemeClr val="tx1"/>
              </a:solidFill>
              <a:latin typeface="Lucida Sans Unicode"/>
              <a:cs typeface="Lucida Sans Unicode"/>
            </a:endParaRPr>
          </a:p>
        </p:txBody>
      </p:sp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8212" y="2792896"/>
            <a:ext cx="1803972" cy="127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767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15C1E33-7843-DD4E-A777-43ECB6153BE3}" type="datetime1">
              <a:rPr lang="en-US" smtClean="0"/>
              <a:pPr/>
              <a:t>9/25/2022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FOOTER GOES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2782948-4DBE-204D-AB9E-B65E067054AE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0" name="object 2"/>
          <p:cNvSpPr txBox="1">
            <a:spLocks noGrp="1"/>
          </p:cNvSpPr>
          <p:nvPr>
            <p:ph idx="1"/>
          </p:nvPr>
        </p:nvSpPr>
        <p:spPr>
          <a:xfrm>
            <a:off x="457200" y="1850510"/>
            <a:ext cx="7772400" cy="1143000"/>
          </a:xfrm>
          <a:prstGeom prst="rect">
            <a:avLst/>
          </a:prstGeom>
        </p:spPr>
        <p:txBody>
          <a:bodyPr vert="horz" wrap="square" lIns="0" tIns="356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10"/>
              </a:spcBef>
            </a:pPr>
            <a:r>
              <a:rPr sz="6400" spc="-440" dirty="0"/>
              <a:t>L</a:t>
            </a:r>
            <a:r>
              <a:rPr sz="6400" spc="-365" dirty="0"/>
              <a:t>e</a:t>
            </a:r>
            <a:r>
              <a:rPr sz="6400" spc="-225" dirty="0"/>
              <a:t>t</a:t>
            </a:r>
            <a:r>
              <a:rPr sz="7000" spc="-150" dirty="0">
                <a:latin typeface="Microsoft Sans Serif"/>
                <a:cs typeface="Microsoft Sans Serif"/>
              </a:rPr>
              <a:t>'</a:t>
            </a:r>
            <a:r>
              <a:rPr sz="6400" spc="-360" dirty="0"/>
              <a:t>s</a:t>
            </a:r>
            <a:r>
              <a:rPr sz="6400" spc="-685" dirty="0"/>
              <a:t> </a:t>
            </a:r>
            <a:r>
              <a:rPr sz="6400" spc="-265" dirty="0"/>
              <a:t>p</a:t>
            </a:r>
            <a:r>
              <a:rPr sz="6400" spc="-484" dirty="0"/>
              <a:t>r</a:t>
            </a:r>
            <a:r>
              <a:rPr sz="6400" spc="-55" dirty="0"/>
              <a:t>a</a:t>
            </a:r>
            <a:r>
              <a:rPr sz="6400" spc="160" dirty="0"/>
              <a:t>c</a:t>
            </a:r>
            <a:r>
              <a:rPr sz="6400" spc="-225" dirty="0"/>
              <a:t>t</a:t>
            </a:r>
            <a:r>
              <a:rPr sz="6400" spc="-120" dirty="0"/>
              <a:t>i</a:t>
            </a:r>
            <a:r>
              <a:rPr sz="6400" spc="160" dirty="0"/>
              <a:t>c</a:t>
            </a:r>
            <a:r>
              <a:rPr sz="6400" spc="-300" dirty="0"/>
              <a:t>e</a:t>
            </a:r>
            <a:r>
              <a:rPr sz="7000" spc="-140" dirty="0">
                <a:latin typeface="Microsoft Sans Serif"/>
                <a:cs typeface="Microsoft Sans Serif"/>
              </a:rPr>
              <a:t>!</a:t>
            </a:r>
            <a:endParaRPr sz="7000" dirty="0">
              <a:latin typeface="Microsoft Sans Serif"/>
              <a:cs typeface="Microsoft Sans Serif"/>
            </a:endParaRPr>
          </a:p>
          <a:p>
            <a:pPr marR="53975" algn="ctr">
              <a:lnSpc>
                <a:spcPct val="100000"/>
              </a:lnSpc>
              <a:spcBef>
                <a:spcPts val="865"/>
              </a:spcBef>
              <a:tabLst>
                <a:tab pos="2611755" algn="l"/>
                <a:tab pos="3120390" algn="l"/>
              </a:tabLst>
            </a:pPr>
            <a:r>
              <a:rPr sz="2250" spc="65" dirty="0"/>
              <a:t>F</a:t>
            </a:r>
            <a:r>
              <a:rPr sz="2250" spc="-470" dirty="0"/>
              <a:t> </a:t>
            </a:r>
            <a:r>
              <a:rPr sz="2250" spc="55" dirty="0"/>
              <a:t>O</a:t>
            </a:r>
            <a:r>
              <a:rPr sz="2250" spc="-475" dirty="0"/>
              <a:t> </a:t>
            </a:r>
            <a:r>
              <a:rPr sz="2250" spc="-150" dirty="0"/>
              <a:t>R</a:t>
            </a:r>
            <a:r>
              <a:rPr sz="2250" spc="-465" dirty="0"/>
              <a:t> </a:t>
            </a:r>
            <a:r>
              <a:rPr sz="2250" spc="190" dirty="0"/>
              <a:t>EC</a:t>
            </a:r>
            <a:r>
              <a:rPr sz="2250" spc="-470" dirty="0"/>
              <a:t> </a:t>
            </a:r>
            <a:r>
              <a:rPr sz="2250" spc="95" dirty="0"/>
              <a:t>A</a:t>
            </a:r>
            <a:r>
              <a:rPr sz="2250" spc="-490" dirty="0"/>
              <a:t> </a:t>
            </a:r>
            <a:r>
              <a:rPr sz="2250" spc="-229" dirty="0"/>
              <a:t>S</a:t>
            </a:r>
            <a:r>
              <a:rPr sz="2250" spc="-470" dirty="0"/>
              <a:t> </a:t>
            </a:r>
            <a:r>
              <a:rPr sz="2250" spc="-65" dirty="0"/>
              <a:t>T</a:t>
            </a:r>
            <a:r>
              <a:rPr sz="2250" spc="-465" dirty="0"/>
              <a:t> </a:t>
            </a:r>
            <a:r>
              <a:rPr sz="2250" spc="-295" dirty="0"/>
              <a:t>I</a:t>
            </a:r>
            <a:r>
              <a:rPr sz="2250" spc="-470" dirty="0"/>
              <a:t> </a:t>
            </a:r>
            <a:r>
              <a:rPr sz="2250" spc="35" dirty="0"/>
              <a:t>N</a:t>
            </a:r>
            <a:r>
              <a:rPr sz="2250" spc="-475" dirty="0"/>
              <a:t> </a:t>
            </a:r>
            <a:r>
              <a:rPr sz="2250" spc="5" dirty="0"/>
              <a:t>G	</a:t>
            </a:r>
            <a:r>
              <a:rPr sz="2250" spc="-295" dirty="0"/>
              <a:t>I</a:t>
            </a:r>
            <a:r>
              <a:rPr sz="2250" spc="-465" dirty="0"/>
              <a:t> </a:t>
            </a:r>
            <a:r>
              <a:rPr sz="2250" spc="35" dirty="0"/>
              <a:t>N	</a:t>
            </a:r>
            <a:r>
              <a:rPr sz="2250" spc="-150" dirty="0"/>
              <a:t>R</a:t>
            </a:r>
            <a:endParaRPr sz="2250" dirty="0"/>
          </a:p>
        </p:txBody>
      </p:sp>
    </p:spTree>
    <p:extLst>
      <p:ext uri="{BB962C8B-B14F-4D97-AF65-F5344CB8AC3E}">
        <p14:creationId xmlns:p14="http://schemas.microsoft.com/office/powerpoint/2010/main" val="3021813658"/>
      </p:ext>
    </p:extLst>
  </p:cSld>
  <p:clrMapOvr>
    <a:masterClrMapping/>
  </p:clrMapOvr>
</p:sld>
</file>

<file path=ppt/theme/theme1.xml><?xml version="1.0" encoding="utf-8"?>
<a:theme xmlns:a="http://schemas.openxmlformats.org/drawingml/2006/main" name="16.9-Template_12.7.2016">
  <a:themeElements>
    <a:clrScheme name="Custom 2">
      <a:dk1>
        <a:sysClr val="windowText" lastClr="000000"/>
      </a:dk1>
      <a:lt1>
        <a:srgbClr val="FFFFFF"/>
      </a:lt1>
      <a:dk2>
        <a:srgbClr val="002F6C"/>
      </a:dk2>
      <a:lt2>
        <a:srgbClr val="BA0C2F"/>
      </a:lt2>
      <a:accent1>
        <a:srgbClr val="002F6C"/>
      </a:accent1>
      <a:accent2>
        <a:srgbClr val="BA0C2F"/>
      </a:accent2>
      <a:accent3>
        <a:srgbClr val="6C6463"/>
      </a:accent3>
      <a:accent4>
        <a:srgbClr val="000000"/>
      </a:accent4>
      <a:accent5>
        <a:srgbClr val="CFCDC9"/>
      </a:accent5>
      <a:accent6>
        <a:srgbClr val="0067B9"/>
      </a:accent6>
      <a:hlink>
        <a:srgbClr val="6C6463"/>
      </a:hlink>
      <a:folHlink>
        <a:srgbClr val="CFCDC9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16.9-Template_12.7.2016</Template>
  <TotalTime>139</TotalTime>
  <Words>1105</Words>
  <Application>Microsoft Office PowerPoint</Application>
  <PresentationFormat>Custom</PresentationFormat>
  <Paragraphs>244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Calibri</vt:lpstr>
      <vt:lpstr>Courier New</vt:lpstr>
      <vt:lpstr>Gill Sans MT</vt:lpstr>
      <vt:lpstr>Lucida Sans Unicode</vt:lpstr>
      <vt:lpstr>Microsoft Sans Serif</vt:lpstr>
      <vt:lpstr>Tahoma</vt:lpstr>
      <vt:lpstr>Times New Roman</vt:lpstr>
      <vt:lpstr>Verdana</vt:lpstr>
      <vt:lpstr>16.9-Template_12.7.2016</vt:lpstr>
      <vt:lpstr>PHOTO COVER OPTION TITLE GOES HERE CAN  RUN THREE LINES</vt:lpstr>
      <vt:lpstr>RED COVER OPTION TITLE GOES HERE CAN RUN THREE LINES</vt:lpstr>
      <vt:lpstr>DIVIDER TITLE GOES HERE &amp; CAN RUN SEVERAL LINES</vt:lpstr>
      <vt:lpstr>TITLE GOES HERE  &amp; CAN RUN  THREE LINES</vt:lpstr>
      <vt:lpstr>DYNAMIC REGRESSION F O R EC A S T I N G I N R</vt:lpstr>
      <vt:lpstr>DYNAMIC REGRESSION</vt:lpstr>
      <vt:lpstr>DYNAMIC REGRESSION</vt:lpstr>
      <vt:lpstr>DYNAMIC REGRESSION</vt:lpstr>
      <vt:lpstr>US PERSONAL CONSUMPTION AND INCOME</vt:lpstr>
      <vt:lpstr>US PERSONAL CONSUMPTION AND INCOME</vt:lpstr>
      <vt:lpstr>PowerPoint Presentation</vt:lpstr>
      <vt:lpstr>RESIDUALS FROM DYNAMIC REGRESSION MODEL</vt:lpstr>
      <vt:lpstr>FORECASTS FROM DYNAMIC REGRESSION MODEL</vt:lpstr>
      <vt:lpstr>PowerPoint Presentation</vt:lpstr>
      <vt:lpstr>DYNAMIC HARMONIC  REGRESSION  F O R EC A S T I N G I N R</vt:lpstr>
      <vt:lpstr>DYNAMIC HARMONIC REGRESSION</vt:lpstr>
      <vt:lpstr>DYNAMIC HARMONIC REGRESSION</vt:lpstr>
      <vt:lpstr>EXAMPLE: AUSTRALIAN CAFE EXPENDITURE</vt:lpstr>
      <vt:lpstr>EXAMPLE: AUSTRALIAN CAFE EXPENDITURE</vt:lpstr>
      <vt:lpstr>EXAMPLE: AUSTRALIAN CAFE EXPENDITURE</vt:lpstr>
      <vt:lpstr>EXAMPLE: AUSTRALIAN CAFE EXPENDITURE</vt:lpstr>
      <vt:lpstr>EXAMPLE: AUSTRALIAN CAFE EXPENDITURE</vt:lpstr>
      <vt:lpstr>EXAMPLE: AUSTRALIAN CAFE EXPENDITURE</vt:lpstr>
      <vt:lpstr>DYNAMIC HARMONIC REGRESSION</vt:lpstr>
      <vt:lpstr>PowerPoint Presentation</vt:lpstr>
      <vt:lpstr>T      TBATS MODEL F O R EC A S T I N G I N R</vt:lpstr>
      <vt:lpstr>TBATS MODEL</vt:lpstr>
      <vt:lpstr>US GASOLINE DATA</vt:lpstr>
      <vt:lpstr>CALL CENTER DATA</vt:lpstr>
      <vt:lpstr>TBATS MODEL</vt:lpstr>
      <vt:lpstr>PowerPoint Presentation</vt:lpstr>
      <vt:lpstr>T      YOUR FUTURE IN  FORECASTING! F O R EC A S T I N G I N R</vt:lpstr>
      <vt:lpstr>THESE SLIDES FROM DATACAMP</vt:lpstr>
      <vt:lpstr>YOUR FUTURE IN FORECASTING  Practice forecasting lots of di erent time series, using many   di erent methods</vt:lpstr>
      <vt:lpstr>PowerPoint Presentation</vt:lpstr>
    </vt:vector>
  </TitlesOfParts>
  <Company>USAID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COVER OPTION TITLE GOES HERE CAN  RUN THREE LINES</dc:title>
  <dc:creator>USAID</dc:creator>
  <cp:lastModifiedBy>Wakeel Ahmad Awan</cp:lastModifiedBy>
  <cp:revision>44</cp:revision>
  <dcterms:created xsi:type="dcterms:W3CDTF">2017-03-16T17:43:27Z</dcterms:created>
  <dcterms:modified xsi:type="dcterms:W3CDTF">2022-09-25T12:13:36Z</dcterms:modified>
</cp:coreProperties>
</file>