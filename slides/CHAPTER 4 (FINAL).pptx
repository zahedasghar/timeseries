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336" r:id="rId2"/>
    <p:sldId id="291" r:id="rId3"/>
    <p:sldId id="328" r:id="rId4"/>
    <p:sldId id="325" r:id="rId5"/>
    <p:sldId id="358" r:id="rId6"/>
    <p:sldId id="353" r:id="rId7"/>
    <p:sldId id="338" r:id="rId8"/>
    <p:sldId id="339" r:id="rId9"/>
    <p:sldId id="340" r:id="rId10"/>
    <p:sldId id="341" r:id="rId11"/>
    <p:sldId id="342" r:id="rId12"/>
    <p:sldId id="337" r:id="rId13"/>
    <p:sldId id="323" r:id="rId14"/>
    <p:sldId id="343" r:id="rId15"/>
    <p:sldId id="354" r:id="rId16"/>
    <p:sldId id="359" r:id="rId17"/>
    <p:sldId id="344" r:id="rId18"/>
    <p:sldId id="345" r:id="rId19"/>
    <p:sldId id="346" r:id="rId20"/>
    <p:sldId id="360" r:id="rId21"/>
    <p:sldId id="347" r:id="rId22"/>
    <p:sldId id="349" r:id="rId23"/>
    <p:sldId id="357" r:id="rId24"/>
    <p:sldId id="327" r:id="rId25"/>
    <p:sldId id="361" r:id="rId26"/>
    <p:sldId id="351" r:id="rId27"/>
    <p:sldId id="350" r:id="rId28"/>
    <p:sldId id="348" r:id="rId29"/>
    <p:sldId id="362" r:id="rId30"/>
    <p:sldId id="352" r:id="rId31"/>
    <p:sldId id="356" r:id="rId32"/>
  </p:sldIdLst>
  <p:sldSz cx="9144000" cy="51847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7E5"/>
    <a:srgbClr val="CFCDC9"/>
    <a:srgbClr val="BA0C2F"/>
    <a:srgbClr val="FFFFFF"/>
    <a:srgbClr val="6C6463"/>
    <a:srgbClr val="651D32"/>
    <a:srgbClr val="002F6C"/>
    <a:srgbClr val="0067B9"/>
    <a:srgbClr val="A7C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06" autoAdjust="0"/>
    <p:restoredTop sz="86376" autoAdjust="0"/>
  </p:normalViewPr>
  <p:slideViewPr>
    <p:cSldViewPr snapToGrid="0" snapToObjects="1">
      <p:cViewPr>
        <p:scale>
          <a:sx n="89" d="100"/>
          <a:sy n="89" d="100"/>
        </p:scale>
        <p:origin x="882" y="204"/>
      </p:cViewPr>
      <p:guideLst>
        <p:guide orient="horz" pos="163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49" d="100"/>
          <a:sy n="49" d="100"/>
        </p:scale>
        <p:origin x="2668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4D9E48-5E7F-D24C-87D5-695B18367D24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CB10C2-C6DD-5A4A-BF1B-B012B8BA4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975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6357CE-B3EB-1B4A-84E5-C1E2DF427ABD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4813" y="685800"/>
            <a:ext cx="60483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A558B-E4E9-A94A-B9C1-029E46A76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9379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4A558B-E4E9-A94A-B9C1-029E46A76AB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734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Full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40C00456-721A-A94C-800A-D5E7EE91C160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844639"/>
            <a:ext cx="2895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1824807"/>
            <a:ext cx="3886200" cy="1209781"/>
          </a:xfrm>
          <a:effectLst>
            <a:outerShdw blurRad="254000" dir="2700000" algn="tl" rotWithShape="0">
              <a:srgbClr val="000000">
                <a:alpha val="20000"/>
              </a:srgbClr>
            </a:outerShdw>
          </a:effectLst>
        </p:spPr>
        <p:txBody>
          <a:bodyPr anchor="b" anchorCtr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335924"/>
            <a:ext cx="3429000" cy="1209781"/>
          </a:xfrm>
          <a:effectLst>
            <a:outerShdw blurRad="254000" dir="5400000" algn="tl" rotWithShape="0">
              <a:srgbClr val="000000">
                <a:alpha val="40000"/>
              </a:srgbClr>
            </a:outerShdw>
          </a:effectLst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746760" y="3174105"/>
            <a:ext cx="320040" cy="0"/>
          </a:xfrm>
          <a:prstGeom prst="line">
            <a:avLst/>
          </a:prstGeom>
          <a:ln w="19050">
            <a:solidFill>
              <a:srgbClr val="FFFFFF"/>
            </a:solidFill>
          </a:ln>
          <a:effectLst>
            <a:outerShdw blurRad="254000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39C836EC-7AD5-486F-A168-8E7B4E0EB0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0" y="46034"/>
            <a:ext cx="8839200" cy="147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077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Full Red">
    <p:bg>
      <p:bgPr>
        <a:solidFill>
          <a:srgbClr val="BA0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EB2C8F94-9D67-854F-8417-3B884156945E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844639"/>
            <a:ext cx="2895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1601787"/>
            <a:ext cx="3886200" cy="1209781"/>
          </a:xfrm>
          <a:effectLst/>
        </p:spPr>
        <p:txBody>
          <a:bodyPr anchor="b" anchorCtr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135206"/>
            <a:ext cx="3429000" cy="1209781"/>
          </a:xfrm>
          <a:effectLst/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746760" y="2973387"/>
            <a:ext cx="32004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5D1B1ACB-9E97-4F7B-B952-B782D5B5CE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771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Full Red">
    <p:bg>
      <p:bgPr>
        <a:solidFill>
          <a:srgbClr val="BA0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43000" y="534987"/>
            <a:ext cx="5486400" cy="461665"/>
          </a:xfrm>
        </p:spPr>
        <p:txBody>
          <a:bodyPr wrap="square" anchor="t" anchorCtr="0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52400" y="4844639"/>
            <a:ext cx="2133600" cy="186148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3349C05-927F-3348-96DF-9086CF2761D6}" type="datetime1">
              <a:rPr lang="en-US" smtClean="0"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844639"/>
            <a:ext cx="2895600" cy="186148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4844639"/>
            <a:ext cx="2133600" cy="186148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746760" y="687387"/>
            <a:ext cx="320040" cy="0"/>
          </a:xfrm>
          <a:prstGeom prst="line">
            <a:avLst/>
          </a:prstGeom>
          <a:ln w="19050">
            <a:solidFill>
              <a:srgbClr val="FFFFFF"/>
            </a:solidFill>
          </a:ln>
          <a:effectLst>
            <a:outerShdw blurRad="254000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B569F0DA-F2E1-4408-8A83-C8B5EB45F0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96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/Gray 1 Content">
    <p:bg>
      <p:bgPr>
        <a:solidFill>
          <a:srgbClr val="E7E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414FB1AD-D69E-B741-965A-0BAE826C2FA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844639"/>
            <a:ext cx="2895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686104" y="682922"/>
            <a:ext cx="7772400" cy="46166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idx="1"/>
          </p:nvPr>
        </p:nvSpPr>
        <p:spPr>
          <a:xfrm>
            <a:off x="685800" y="1296987"/>
            <a:ext cx="7772400" cy="320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C4336BBA-4C13-4A9C-AE1C-73B9EF7D5E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097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/Gray 2 Content">
    <p:bg>
      <p:bgPr>
        <a:solidFill>
          <a:srgbClr val="E7E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6104" y="1296987"/>
            <a:ext cx="7772400" cy="3200400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6C6463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AB18E012-EC0C-1649-A039-CB178266D114}" type="datetime1">
              <a:rPr lang="en-US" smtClean="0"/>
              <a:t>9/25/2022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844639"/>
            <a:ext cx="2895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80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86104" y="679217"/>
            <a:ext cx="7772400" cy="465370"/>
          </a:xfrm>
        </p:spPr>
        <p:txBody>
          <a:bodyPr anchor="b" anchorCtr="0">
            <a:spAutoFit/>
          </a:bodyPr>
          <a:lstStyle>
            <a:lvl1pPr>
              <a:defRPr>
                <a:solidFill>
                  <a:srgbClr val="BA0C2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D9DB99DE-DD0C-4987-9B9B-C5A6FADCA1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042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Red/Gray 2 Content">
    <p:bg>
      <p:bgPr>
        <a:solidFill>
          <a:srgbClr val="E7E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6104" y="1296987"/>
            <a:ext cx="3809696" cy="3200400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6C6463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6987"/>
            <a:ext cx="3810304" cy="3200400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6C6463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AB18E012-EC0C-1649-A039-CB178266D114}" type="datetime1">
              <a:rPr lang="en-US" smtClean="0"/>
              <a:t>9/25/2022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844639"/>
            <a:ext cx="2895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80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86104" y="679217"/>
            <a:ext cx="7772400" cy="465370"/>
          </a:xfrm>
        </p:spPr>
        <p:txBody>
          <a:bodyPr anchor="b" anchorCtr="0">
            <a:spAutoFit/>
          </a:bodyPr>
          <a:lstStyle>
            <a:lvl1pPr>
              <a:defRPr>
                <a:solidFill>
                  <a:srgbClr val="BA0C2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38F50F50-B707-4974-B4DC-88438B03D7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065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/Gray 3 Content">
    <p:bg>
      <p:bgPr>
        <a:solidFill>
          <a:srgbClr val="E7E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6104" y="1296987"/>
            <a:ext cx="2514296" cy="3200400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600" y="1296987"/>
            <a:ext cx="2514904" cy="3200400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39C62A9A-2216-F44B-AFF9-136AA601C377}" type="datetime1">
              <a:rPr lang="en-US" smtClean="0"/>
              <a:t>9/25/2022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844639"/>
            <a:ext cx="2895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80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3314548" y="1296987"/>
            <a:ext cx="2514904" cy="3200400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86104" y="679217"/>
            <a:ext cx="7772400" cy="465370"/>
          </a:xfrm>
        </p:spPr>
        <p:txBody>
          <a:bodyPr anchor="b" anchorCtr="0">
            <a:spAutoFit/>
          </a:bodyPr>
          <a:lstStyle>
            <a:lvl1pPr>
              <a:defRPr>
                <a:solidFill>
                  <a:srgbClr val="BA0C2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5D98D258-7F89-46EC-A21D-685243F67A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66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/Gray 1 Content + Bottom Photo">
    <p:bg>
      <p:bgPr>
        <a:solidFill>
          <a:srgbClr val="E7E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52400" y="2959071"/>
            <a:ext cx="8839200" cy="2073910"/>
          </a:xfrm>
          <a:solidFill>
            <a:schemeClr val="bg1"/>
          </a:solidFill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rgbClr val="6C6463"/>
                </a:solidFill>
              </a:defRPr>
            </a:lvl1pPr>
          </a:lstStyle>
          <a:p>
            <a:r>
              <a:rPr lang="en-US" dirty="0"/>
              <a:t>ADD PHOTO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26900"/>
            <a:ext cx="7772400" cy="1143000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  <a:lvl2pPr>
              <a:defRPr>
                <a:solidFill>
                  <a:srgbClr val="6C6463"/>
                </a:solidFill>
              </a:defRPr>
            </a:lvl2pPr>
            <a:lvl3pPr>
              <a:defRPr>
                <a:solidFill>
                  <a:srgbClr val="6C6463"/>
                </a:solidFill>
              </a:defRPr>
            </a:lvl3pPr>
            <a:lvl4pPr>
              <a:defRPr>
                <a:solidFill>
                  <a:srgbClr val="6C6463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193355D5-F1DA-0F48-9E7E-0A3FEBF9FF84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844639"/>
            <a:ext cx="2895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7862313" y="3537008"/>
            <a:ext cx="2073910" cy="184666"/>
          </a:xfrm>
        </p:spPr>
        <p:txBody>
          <a:bodyPr>
            <a:spAutoFit/>
          </a:bodyPr>
          <a:lstStyle>
            <a:lvl1pPr marL="0" indent="0" algn="r">
              <a:buNone/>
              <a:defRPr sz="600" baseline="0">
                <a:solidFill>
                  <a:srgbClr val="FFFFFF"/>
                </a:solidFill>
              </a:defRPr>
            </a:lvl1pPr>
            <a:lvl2pPr marL="230187" indent="0">
              <a:buNone/>
              <a:defRPr sz="1800">
                <a:solidFill>
                  <a:schemeClr val="bg1"/>
                </a:solidFill>
              </a:defRPr>
            </a:lvl2pPr>
            <a:lvl3pPr marL="460375" indent="0">
              <a:buNone/>
              <a:defRPr sz="1600">
                <a:solidFill>
                  <a:schemeClr val="bg1"/>
                </a:solidFill>
              </a:defRPr>
            </a:lvl3pPr>
            <a:lvl4pPr marL="684212" indent="0">
              <a:buNone/>
              <a:defRPr sz="1400">
                <a:solidFill>
                  <a:schemeClr val="bg1"/>
                </a:solidFill>
              </a:defRPr>
            </a:lvl4pPr>
            <a:lvl5pPr marL="1025525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PHOTO CREDIT HERE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329265" y="1190205"/>
            <a:ext cx="7772400" cy="465370"/>
          </a:xfrm>
        </p:spPr>
        <p:txBody>
          <a:bodyPr anchor="b" anchorCtr="0">
            <a:spAutoFit/>
          </a:bodyPr>
          <a:lstStyle>
            <a:lvl1pPr>
              <a:defRPr>
                <a:solidFill>
                  <a:srgbClr val="BA0C2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14BC0E5B-0B8C-42F2-804D-6471F7F240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141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/Gray 1 Content + Right Photo">
    <p:bg>
      <p:bgPr>
        <a:solidFill>
          <a:srgbClr val="E7E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572000" y="1234068"/>
            <a:ext cx="4419600" cy="3796720"/>
          </a:xfrm>
          <a:solidFill>
            <a:srgbClr val="FFFFFF"/>
          </a:solidFill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rgbClr val="6C6463"/>
                </a:solidFill>
              </a:defRPr>
            </a:lvl1pPr>
          </a:lstStyle>
          <a:p>
            <a:r>
              <a:rPr lang="en-US" dirty="0"/>
              <a:t>ADD PHOTO HERE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60FEB5C5-97E6-6B45-BBE4-F2449473BB9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685800" y="2118732"/>
            <a:ext cx="3657600" cy="2653718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7862312" y="1098609"/>
            <a:ext cx="2073910" cy="184666"/>
          </a:xfrm>
        </p:spPr>
        <p:txBody>
          <a:bodyPr>
            <a:spAutoFit/>
          </a:bodyPr>
          <a:lstStyle>
            <a:lvl1pPr marL="0" indent="0" algn="r">
              <a:buNone/>
              <a:defRPr sz="600" baseline="0">
                <a:solidFill>
                  <a:srgbClr val="FFFFFF"/>
                </a:solidFill>
              </a:defRPr>
            </a:lvl1pPr>
            <a:lvl2pPr marL="230187" indent="0">
              <a:buNone/>
              <a:defRPr sz="1800">
                <a:solidFill>
                  <a:schemeClr val="bg1"/>
                </a:solidFill>
              </a:defRPr>
            </a:lvl2pPr>
            <a:lvl3pPr marL="460375" indent="0">
              <a:buNone/>
              <a:defRPr sz="1600">
                <a:solidFill>
                  <a:schemeClr val="bg1"/>
                </a:solidFill>
              </a:defRPr>
            </a:lvl3pPr>
            <a:lvl4pPr marL="684212" indent="0">
              <a:buNone/>
              <a:defRPr sz="1400">
                <a:solidFill>
                  <a:schemeClr val="bg1"/>
                </a:solidFill>
              </a:defRPr>
            </a:lvl4pPr>
            <a:lvl5pPr marL="1025525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PHOTO CREDIT HERE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234641"/>
            <a:ext cx="3657600" cy="830997"/>
          </a:xfrm>
        </p:spPr>
        <p:txBody>
          <a:bodyPr wrap="square" anchor="b" anchorCtr="0">
            <a:spAutoFit/>
          </a:bodyPr>
          <a:lstStyle>
            <a:lvl1pPr>
              <a:defRPr>
                <a:solidFill>
                  <a:srgbClr val="BA0C2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BA48DAE6-C73B-4621-AB58-CECE3C0CBE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114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/Gray Title Only">
    <p:bg>
      <p:bgPr>
        <a:solidFill>
          <a:srgbClr val="E7E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52400" y="1241502"/>
            <a:ext cx="4419600" cy="3789284"/>
          </a:xfrm>
          <a:solidFill>
            <a:schemeClr val="bg1"/>
          </a:solidFill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rgbClr val="6C6463"/>
                </a:solidFill>
              </a:defRPr>
            </a:lvl1pPr>
          </a:lstStyle>
          <a:p>
            <a:r>
              <a:rPr lang="en-US" dirty="0"/>
              <a:t>ADD PHOTO HERE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fld id="{60FEB5C5-97E6-6B45-BBE4-F2449473BB96}" type="datetime1">
              <a:rPr lang="en-US" smtClean="0"/>
              <a:pPr/>
              <a:t>9/25/2022</a:t>
            </a:fld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3442713" y="2186124"/>
            <a:ext cx="2073910" cy="184666"/>
          </a:xfrm>
        </p:spPr>
        <p:txBody>
          <a:bodyPr>
            <a:spAutoFit/>
          </a:bodyPr>
          <a:lstStyle>
            <a:lvl1pPr marL="0" indent="0" algn="r">
              <a:buNone/>
              <a:defRPr sz="600" baseline="0">
                <a:solidFill>
                  <a:schemeClr val="tx1"/>
                </a:solidFill>
              </a:defRPr>
            </a:lvl1pPr>
            <a:lvl2pPr marL="230187" indent="0">
              <a:buNone/>
              <a:defRPr sz="1800">
                <a:solidFill>
                  <a:schemeClr val="bg1"/>
                </a:solidFill>
              </a:defRPr>
            </a:lvl2pPr>
            <a:lvl3pPr marL="460375" indent="0">
              <a:buNone/>
              <a:defRPr sz="1600">
                <a:solidFill>
                  <a:schemeClr val="bg1"/>
                </a:solidFill>
              </a:defRPr>
            </a:lvl3pPr>
            <a:lvl4pPr marL="684212" indent="0">
              <a:buNone/>
              <a:defRPr sz="1400">
                <a:solidFill>
                  <a:schemeClr val="bg1"/>
                </a:solidFill>
              </a:defRPr>
            </a:lvl4pPr>
            <a:lvl5pPr marL="1025525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PHOTO CREDIT HERE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668948" y="1241502"/>
            <a:ext cx="3885896" cy="837665"/>
          </a:xfrm>
        </p:spPr>
        <p:txBody>
          <a:bodyPr wrap="square" anchor="ctr" anchorCtr="0">
            <a:spAutoFit/>
          </a:bodyPr>
          <a:lstStyle>
            <a:lvl1pPr>
              <a:defRPr>
                <a:solidFill>
                  <a:srgbClr val="BA0C2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947B3E3A-4AFB-43D6-A83F-1C49559694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252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d/Gray 1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414FB1AD-D69E-B741-965A-0BAE826C2FA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844639"/>
            <a:ext cx="2895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686104" y="682922"/>
            <a:ext cx="7772400" cy="46166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idx="1" hasCustomPrompt="1"/>
          </p:nvPr>
        </p:nvSpPr>
        <p:spPr>
          <a:xfrm>
            <a:off x="686104" y="1362035"/>
            <a:ext cx="7772400" cy="320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30188" marR="0" indent="-2301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  <a:tabLst/>
              <a:defRPr/>
            </a:lvl1pPr>
          </a:lstStyle>
          <a:p>
            <a:pPr marL="230188" marR="0" lvl="0" indent="-2301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C6463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Click to edit Master text styles</a:t>
            </a:r>
          </a:p>
          <a:p>
            <a:pPr marL="684213" marR="0" lvl="1" indent="-2301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C6463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Second level</a:t>
            </a:r>
          </a:p>
        </p:txBody>
      </p:sp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3E2E9055-1023-4AA0-AB7B-EEB90B3CB8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8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d/Gray 2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6104" y="1394413"/>
            <a:ext cx="3809696" cy="3200400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6C6463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94413"/>
            <a:ext cx="3810304" cy="3200400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6C6463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AB18E012-EC0C-1649-A039-CB178266D114}" type="datetime1">
              <a:rPr lang="en-US" smtClean="0"/>
              <a:t>9/25/2022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844639"/>
            <a:ext cx="2895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80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86104" y="679217"/>
            <a:ext cx="7772400" cy="465370"/>
          </a:xfrm>
        </p:spPr>
        <p:txBody>
          <a:bodyPr anchor="b" anchorCtr="0">
            <a:spAutoFit/>
          </a:bodyPr>
          <a:lstStyle>
            <a:lvl1pPr>
              <a:defRPr>
                <a:solidFill>
                  <a:srgbClr val="BA0C2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07D908D5-BD1B-491E-B1D2-1EB1B66F544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565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d/Gray 3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6104" y="1296987"/>
            <a:ext cx="2514296" cy="3200400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600" y="1296987"/>
            <a:ext cx="2514904" cy="3200400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39C62A9A-2216-F44B-AFF9-136AA601C377}" type="datetime1">
              <a:rPr lang="en-US" smtClean="0"/>
              <a:t>9/25/2022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844639"/>
            <a:ext cx="2895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80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3314548" y="1296987"/>
            <a:ext cx="2514904" cy="3200400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86104" y="679217"/>
            <a:ext cx="7772400" cy="465370"/>
          </a:xfrm>
        </p:spPr>
        <p:txBody>
          <a:bodyPr anchor="b" anchorCtr="0">
            <a:spAutoFit/>
          </a:bodyPr>
          <a:lstStyle>
            <a:lvl1pPr>
              <a:defRPr>
                <a:solidFill>
                  <a:srgbClr val="BA0C2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D322F8F5-9082-4364-BC32-0E9E068604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10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d/Gray 1 Content + Bottom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52400" y="2592387"/>
            <a:ext cx="8839200" cy="2440594"/>
          </a:xfrm>
          <a:solidFill>
            <a:srgbClr val="E7E7E5"/>
          </a:solidFill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rgbClr val="6C6463"/>
                </a:solidFill>
              </a:defRPr>
            </a:lvl1pPr>
          </a:lstStyle>
          <a:p>
            <a:r>
              <a:rPr lang="en-US" dirty="0"/>
              <a:t>ADD PHOTO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96987"/>
            <a:ext cx="7772400" cy="1143000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  <a:lvl2pPr>
              <a:defRPr>
                <a:solidFill>
                  <a:srgbClr val="6C6463"/>
                </a:solidFill>
              </a:defRPr>
            </a:lvl2pPr>
            <a:lvl3pPr>
              <a:defRPr>
                <a:solidFill>
                  <a:srgbClr val="6C6463"/>
                </a:solidFill>
              </a:defRPr>
            </a:lvl3pPr>
            <a:lvl4pPr>
              <a:defRPr>
                <a:solidFill>
                  <a:srgbClr val="6C6463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193355D5-F1DA-0F48-9E7E-0A3FEBF9FF84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844639"/>
            <a:ext cx="2895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7862313" y="3537008"/>
            <a:ext cx="2073910" cy="184666"/>
          </a:xfrm>
        </p:spPr>
        <p:txBody>
          <a:bodyPr>
            <a:spAutoFit/>
          </a:bodyPr>
          <a:lstStyle>
            <a:lvl1pPr marL="0" indent="0" algn="r">
              <a:buNone/>
              <a:defRPr sz="600" baseline="0">
                <a:solidFill>
                  <a:srgbClr val="FFFFFF"/>
                </a:solidFill>
              </a:defRPr>
            </a:lvl1pPr>
            <a:lvl2pPr marL="230187" indent="0">
              <a:buNone/>
              <a:defRPr sz="1800">
                <a:solidFill>
                  <a:schemeClr val="bg1"/>
                </a:solidFill>
              </a:defRPr>
            </a:lvl2pPr>
            <a:lvl3pPr marL="460375" indent="0">
              <a:buNone/>
              <a:defRPr sz="1600">
                <a:solidFill>
                  <a:schemeClr val="bg1"/>
                </a:solidFill>
              </a:defRPr>
            </a:lvl3pPr>
            <a:lvl4pPr marL="684212" indent="0">
              <a:buNone/>
              <a:defRPr sz="1400">
                <a:solidFill>
                  <a:schemeClr val="bg1"/>
                </a:solidFill>
              </a:defRPr>
            </a:lvl4pPr>
            <a:lvl5pPr marL="1025525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PHOTO CREDIT HERE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686104" y="679217"/>
            <a:ext cx="7772400" cy="465370"/>
          </a:xfrm>
        </p:spPr>
        <p:txBody>
          <a:bodyPr anchor="b" anchorCtr="0">
            <a:spAutoFit/>
          </a:bodyPr>
          <a:lstStyle>
            <a:lvl1pPr>
              <a:defRPr>
                <a:solidFill>
                  <a:srgbClr val="BA0C2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BF77BF1F-41A9-4656-A533-31A8C3B17B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899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d/Gray 1 Content + Right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572000" y="1196898"/>
            <a:ext cx="4419600" cy="3833890"/>
          </a:xfrm>
          <a:solidFill>
            <a:srgbClr val="E7E7E5"/>
          </a:solidFill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rgbClr val="6C6463"/>
                </a:solidFill>
              </a:defRPr>
            </a:lvl1pPr>
          </a:lstStyle>
          <a:p>
            <a:r>
              <a:rPr lang="en-US" dirty="0"/>
              <a:t>ADD PHOTO HERE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60FEB5C5-97E6-6B45-BBE4-F2449473BB9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685800" y="1915880"/>
            <a:ext cx="3657600" cy="2819400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7862312" y="2141520"/>
            <a:ext cx="2073910" cy="184666"/>
          </a:xfrm>
        </p:spPr>
        <p:txBody>
          <a:bodyPr>
            <a:spAutoFit/>
          </a:bodyPr>
          <a:lstStyle>
            <a:lvl1pPr marL="0" indent="0" algn="r">
              <a:buNone/>
              <a:defRPr sz="600" baseline="0">
                <a:solidFill>
                  <a:schemeClr val="tx1"/>
                </a:solidFill>
              </a:defRPr>
            </a:lvl1pPr>
            <a:lvl2pPr marL="230187" indent="0">
              <a:buNone/>
              <a:defRPr sz="1800">
                <a:solidFill>
                  <a:schemeClr val="bg1"/>
                </a:solidFill>
              </a:defRPr>
            </a:lvl2pPr>
            <a:lvl3pPr marL="460375" indent="0">
              <a:buNone/>
              <a:defRPr sz="1600">
                <a:solidFill>
                  <a:schemeClr val="bg1"/>
                </a:solidFill>
              </a:defRPr>
            </a:lvl3pPr>
            <a:lvl4pPr marL="684212" indent="0">
              <a:buNone/>
              <a:defRPr sz="1400">
                <a:solidFill>
                  <a:schemeClr val="bg1"/>
                </a:solidFill>
              </a:defRPr>
            </a:lvl4pPr>
            <a:lvl5pPr marL="1025525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PHOTO CREDIT HERE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030203"/>
            <a:ext cx="3657600" cy="830997"/>
          </a:xfrm>
        </p:spPr>
        <p:txBody>
          <a:bodyPr wrap="square" anchor="b" anchorCtr="0">
            <a:spAutoFit/>
          </a:bodyPr>
          <a:lstStyle>
            <a:lvl1pPr>
              <a:defRPr>
                <a:solidFill>
                  <a:srgbClr val="BA0C2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35DAA7EB-FC2E-4496-8FCB-0CE923F226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7033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d/Gray 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52400" y="1271239"/>
            <a:ext cx="4419600" cy="3759547"/>
          </a:xfrm>
          <a:solidFill>
            <a:srgbClr val="E7E7E5"/>
          </a:solidFill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rgbClr val="6C6463"/>
                </a:solidFill>
              </a:defRPr>
            </a:lvl1pPr>
          </a:lstStyle>
          <a:p>
            <a:r>
              <a:rPr lang="en-US" dirty="0"/>
              <a:t>ADD PHOTO HERE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fld id="{60FEB5C5-97E6-6B45-BBE4-F2449473BB96}" type="datetime1">
              <a:rPr lang="en-US" smtClean="0"/>
              <a:pPr/>
              <a:t>9/25/2022</a:t>
            </a:fld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3442713" y="2215860"/>
            <a:ext cx="2073910" cy="184666"/>
          </a:xfrm>
        </p:spPr>
        <p:txBody>
          <a:bodyPr>
            <a:spAutoFit/>
          </a:bodyPr>
          <a:lstStyle>
            <a:lvl1pPr marL="0" indent="0" algn="r">
              <a:buNone/>
              <a:defRPr sz="600" baseline="0">
                <a:solidFill>
                  <a:schemeClr val="tx1"/>
                </a:solidFill>
              </a:defRPr>
            </a:lvl1pPr>
            <a:lvl2pPr marL="230187" indent="0">
              <a:buNone/>
              <a:defRPr sz="1800">
                <a:solidFill>
                  <a:schemeClr val="bg1"/>
                </a:solidFill>
              </a:defRPr>
            </a:lvl2pPr>
            <a:lvl3pPr marL="460375" indent="0">
              <a:buNone/>
              <a:defRPr sz="1600">
                <a:solidFill>
                  <a:schemeClr val="bg1"/>
                </a:solidFill>
              </a:defRPr>
            </a:lvl3pPr>
            <a:lvl4pPr marL="684212" indent="0">
              <a:buNone/>
              <a:defRPr sz="1400">
                <a:solidFill>
                  <a:schemeClr val="bg1"/>
                </a:solidFill>
              </a:defRPr>
            </a:lvl4pPr>
            <a:lvl5pPr marL="1025525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PHOTO CREDIT HERE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743290" y="1303904"/>
            <a:ext cx="3885896" cy="837665"/>
          </a:xfrm>
        </p:spPr>
        <p:txBody>
          <a:bodyPr wrap="square" anchor="ctr" anchorCtr="0">
            <a:spAutoFit/>
          </a:bodyPr>
          <a:lstStyle>
            <a:lvl1pPr>
              <a:defRPr>
                <a:solidFill>
                  <a:srgbClr val="BA0C2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5C1E6600-17BA-4A64-8396-6222BBD99D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8314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fld id="{3F4168E2-91C5-9646-9F53-5B4E70AF759D}" type="datetime1">
              <a:rPr lang="en-US" smtClean="0"/>
              <a:pPr/>
              <a:t>9/25/2022</a:t>
            </a:fld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135206"/>
            <a:ext cx="3429000" cy="1209781"/>
          </a:xfrm>
          <a:effectLst>
            <a:outerShdw blurRad="254000" dir="5400000" algn="tl" rotWithShape="0">
              <a:srgbClr val="000000">
                <a:alpha val="40000"/>
              </a:srgbClr>
            </a:outerShdw>
          </a:effectLst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746760" y="2973387"/>
            <a:ext cx="320040" cy="0"/>
          </a:xfrm>
          <a:prstGeom prst="line">
            <a:avLst/>
          </a:prstGeom>
          <a:ln w="19050">
            <a:solidFill>
              <a:srgbClr val="FFFFFF"/>
            </a:solidFill>
          </a:ln>
          <a:effectLst>
            <a:outerShdw blurRad="254000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49A75483-2B3F-42E1-9F73-291656D702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8525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- Full Red">
    <p:bg>
      <p:bgPr>
        <a:solidFill>
          <a:srgbClr val="002F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EB2C8F94-9D67-854F-8417-3B884156945E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844639"/>
            <a:ext cx="2895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1601787"/>
            <a:ext cx="3886200" cy="1209781"/>
          </a:xfrm>
          <a:effectLst/>
        </p:spPr>
        <p:txBody>
          <a:bodyPr anchor="b" anchorCtr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135206"/>
            <a:ext cx="3429000" cy="1209781"/>
          </a:xfrm>
          <a:effectLst/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746760" y="2973387"/>
            <a:ext cx="32004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09AFF202-AEA0-440A-A251-33CB57D91E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6321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Full Red">
    <p:bg>
      <p:bgPr>
        <a:solidFill>
          <a:srgbClr val="002F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43000" y="534987"/>
            <a:ext cx="5486400" cy="461665"/>
          </a:xfrm>
        </p:spPr>
        <p:txBody>
          <a:bodyPr wrap="square" anchor="t" anchorCtr="0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52400" y="4844639"/>
            <a:ext cx="2133600" cy="186148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3349C05-927F-3348-96DF-9086CF2761D6}" type="datetime1">
              <a:rPr lang="en-US" smtClean="0"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844639"/>
            <a:ext cx="2895600" cy="186148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4844639"/>
            <a:ext cx="2133600" cy="186148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746760" y="687387"/>
            <a:ext cx="320040" cy="0"/>
          </a:xfrm>
          <a:prstGeom prst="line">
            <a:avLst/>
          </a:prstGeom>
          <a:ln w="19050">
            <a:solidFill>
              <a:srgbClr val="FFFFFF"/>
            </a:solidFill>
          </a:ln>
          <a:effectLst>
            <a:outerShdw blurRad="254000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C720E8A3-93F1-4B15-84F9-6D695C45B8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4659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ed/Gray 1 Content">
    <p:bg>
      <p:bgPr>
        <a:solidFill>
          <a:srgbClr val="E7E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414FB1AD-D69E-B741-965A-0BAE826C2FA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844639"/>
            <a:ext cx="2895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686104" y="1256937"/>
            <a:ext cx="7772400" cy="46166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>
            <a:lvl1pPr>
              <a:defRPr>
                <a:solidFill>
                  <a:srgbClr val="0067B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idx="1" hasCustomPrompt="1"/>
          </p:nvPr>
        </p:nvSpPr>
        <p:spPr>
          <a:xfrm>
            <a:off x="686104" y="1895707"/>
            <a:ext cx="7772400" cy="28512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30188" marR="0" indent="-2301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  <a:tabLst/>
              <a:defRPr/>
            </a:lvl1pPr>
          </a:lstStyle>
          <a:p>
            <a:pPr marL="230188" marR="0" lvl="0" indent="-2301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C6463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Click to edit Master text styles</a:t>
            </a:r>
          </a:p>
          <a:p>
            <a:pPr marL="684213" marR="0" lvl="1" indent="-2301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C6463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Second level</a:t>
            </a:r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0D893573-6A49-4A39-9091-38F52294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3250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ed/Gray 2 Content">
    <p:bg>
      <p:bgPr>
        <a:solidFill>
          <a:srgbClr val="E7E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6104" y="1835815"/>
            <a:ext cx="3809696" cy="2847719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6C6463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35815"/>
            <a:ext cx="3810304" cy="2847719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6C6463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AB18E012-EC0C-1649-A039-CB178266D114}" type="datetime1">
              <a:rPr lang="en-US" smtClean="0"/>
              <a:t>9/25/2022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844639"/>
            <a:ext cx="2895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80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86104" y="1225138"/>
            <a:ext cx="7772400" cy="465370"/>
          </a:xfrm>
        </p:spPr>
        <p:txBody>
          <a:bodyPr anchor="b" anchorCtr="0">
            <a:spAutoFit/>
          </a:bodyPr>
          <a:lstStyle>
            <a:lvl1pPr>
              <a:defRPr>
                <a:solidFill>
                  <a:srgbClr val="0067B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366DDCAF-0EE5-4BA6-9CE5-3505467869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4077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ed/Gray 3 Content">
    <p:bg>
      <p:bgPr>
        <a:solidFill>
          <a:srgbClr val="E7E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6104" y="1835815"/>
            <a:ext cx="2514296" cy="2847719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600" y="1835815"/>
            <a:ext cx="2514904" cy="2847719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39C62A9A-2216-F44B-AFF9-136AA601C377}" type="datetime1">
              <a:rPr lang="en-US" smtClean="0"/>
              <a:t>9/25/2022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844639"/>
            <a:ext cx="2895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80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3314548" y="1835815"/>
            <a:ext cx="2514904" cy="2847719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745577" y="1240937"/>
            <a:ext cx="7772400" cy="465370"/>
          </a:xfrm>
        </p:spPr>
        <p:txBody>
          <a:bodyPr anchor="b" anchorCtr="0">
            <a:spAutoFit/>
          </a:bodyPr>
          <a:lstStyle>
            <a:lvl1pPr>
              <a:defRPr>
                <a:solidFill>
                  <a:srgbClr val="0067B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539791A1-96A0-490B-BF91-A26BDD7E2B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923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ed/Gray 1 Content + Bottom Photo">
    <p:bg>
      <p:bgPr>
        <a:solidFill>
          <a:srgbClr val="E7E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52400" y="2847277"/>
            <a:ext cx="8839200" cy="2185703"/>
          </a:xfrm>
          <a:solidFill>
            <a:schemeClr val="bg1"/>
          </a:solidFill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rgbClr val="6C6463"/>
                </a:solidFill>
              </a:defRPr>
            </a:lvl1pPr>
          </a:lstStyle>
          <a:p>
            <a:r>
              <a:rPr lang="en-US" dirty="0"/>
              <a:t>ADD PHOTO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02084"/>
            <a:ext cx="7772400" cy="1143000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  <a:lvl2pPr>
              <a:defRPr>
                <a:solidFill>
                  <a:srgbClr val="6C6463"/>
                </a:solidFill>
              </a:defRPr>
            </a:lvl2pPr>
            <a:lvl3pPr>
              <a:defRPr>
                <a:solidFill>
                  <a:srgbClr val="6C6463"/>
                </a:solidFill>
              </a:defRPr>
            </a:lvl3pPr>
            <a:lvl4pPr>
              <a:defRPr>
                <a:solidFill>
                  <a:srgbClr val="6C6463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193355D5-F1DA-0F48-9E7E-0A3FEBF9FF84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844639"/>
            <a:ext cx="2895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8064098" y="3666799"/>
            <a:ext cx="1670340" cy="184665"/>
          </a:xfrm>
        </p:spPr>
        <p:txBody>
          <a:bodyPr wrap="square">
            <a:spAutoFit/>
          </a:bodyPr>
          <a:lstStyle>
            <a:lvl1pPr marL="0" indent="0" algn="r">
              <a:buNone/>
              <a:defRPr sz="600" baseline="0">
                <a:solidFill>
                  <a:schemeClr val="tx1"/>
                </a:solidFill>
              </a:defRPr>
            </a:lvl1pPr>
            <a:lvl2pPr marL="230187" indent="0">
              <a:buNone/>
              <a:defRPr sz="1800">
                <a:solidFill>
                  <a:schemeClr val="bg1"/>
                </a:solidFill>
              </a:defRPr>
            </a:lvl2pPr>
            <a:lvl3pPr marL="460375" indent="0">
              <a:buNone/>
              <a:defRPr sz="1600">
                <a:solidFill>
                  <a:schemeClr val="bg1"/>
                </a:solidFill>
              </a:defRPr>
            </a:lvl3pPr>
            <a:lvl4pPr marL="684212" indent="0">
              <a:buNone/>
              <a:defRPr sz="1400">
                <a:solidFill>
                  <a:schemeClr val="bg1"/>
                </a:solidFill>
              </a:defRPr>
            </a:lvl4pPr>
            <a:lvl5pPr marL="1025525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PHOTO CREDIT HERE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686104" y="1234521"/>
            <a:ext cx="7772400" cy="465370"/>
          </a:xfrm>
        </p:spPr>
        <p:txBody>
          <a:bodyPr anchor="b" anchorCtr="0">
            <a:spAutoFit/>
          </a:bodyPr>
          <a:lstStyle>
            <a:lvl1pPr>
              <a:defRPr>
                <a:solidFill>
                  <a:srgbClr val="0067B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8D3FFD2C-3160-4814-AD91-825DB78BCE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3587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ed/Gray 1 Content + Right Photo">
    <p:bg>
      <p:bgPr>
        <a:solidFill>
          <a:srgbClr val="E7E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572000" y="1204332"/>
            <a:ext cx="4419600" cy="3826456"/>
          </a:xfrm>
          <a:solidFill>
            <a:srgbClr val="FFFFFF"/>
          </a:solidFill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rgbClr val="6C6463"/>
                </a:solidFill>
              </a:defRPr>
            </a:lvl1pPr>
          </a:lstStyle>
          <a:p>
            <a:r>
              <a:rPr lang="en-US" dirty="0"/>
              <a:t>ADD PHOTO HERE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60FEB5C5-97E6-6B45-BBE4-F2449473BB9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37839" y="2103863"/>
            <a:ext cx="3657600" cy="2626463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7847289" y="2262348"/>
            <a:ext cx="2073910" cy="184666"/>
          </a:xfrm>
        </p:spPr>
        <p:txBody>
          <a:bodyPr>
            <a:spAutoFit/>
          </a:bodyPr>
          <a:lstStyle>
            <a:lvl1pPr marL="0" indent="0" algn="r">
              <a:buNone/>
              <a:defRPr sz="600" baseline="0">
                <a:solidFill>
                  <a:schemeClr val="tx1"/>
                </a:solidFill>
              </a:defRPr>
            </a:lvl1pPr>
            <a:lvl2pPr marL="230187" indent="0">
              <a:buNone/>
              <a:defRPr sz="1800">
                <a:solidFill>
                  <a:schemeClr val="bg1"/>
                </a:solidFill>
              </a:defRPr>
            </a:lvl2pPr>
            <a:lvl3pPr marL="460375" indent="0">
              <a:buNone/>
              <a:defRPr sz="1600">
                <a:solidFill>
                  <a:schemeClr val="bg1"/>
                </a:solidFill>
              </a:defRPr>
            </a:lvl3pPr>
            <a:lvl4pPr marL="684212" indent="0">
              <a:buNone/>
              <a:defRPr sz="1400">
                <a:solidFill>
                  <a:schemeClr val="bg1"/>
                </a:solidFill>
              </a:defRPr>
            </a:lvl4pPr>
            <a:lvl5pPr marL="1025525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PHOTO CREDIT HERE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737839" y="1204332"/>
            <a:ext cx="3657600" cy="830997"/>
          </a:xfrm>
        </p:spPr>
        <p:txBody>
          <a:bodyPr wrap="square" anchor="b" anchorCtr="0">
            <a:spAutoFit/>
          </a:bodyPr>
          <a:lstStyle>
            <a:lvl1pPr>
              <a:defRPr>
                <a:solidFill>
                  <a:srgbClr val="0067B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4043C17D-658C-4225-8748-39308B5517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3309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ed/Gray Title Only">
    <p:bg>
      <p:bgPr>
        <a:solidFill>
          <a:srgbClr val="E7E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52400" y="1204332"/>
            <a:ext cx="4419600" cy="3826454"/>
          </a:xfrm>
          <a:solidFill>
            <a:schemeClr val="bg1"/>
          </a:solidFill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rgbClr val="6C6463"/>
                </a:solidFill>
              </a:defRPr>
            </a:lvl1pPr>
          </a:lstStyle>
          <a:p>
            <a:r>
              <a:rPr lang="en-US" dirty="0"/>
              <a:t>ADD PHOTO HERE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fld id="{60FEB5C5-97E6-6B45-BBE4-F2449473BB9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3666047" y="2056282"/>
            <a:ext cx="1627240" cy="184666"/>
          </a:xfrm>
        </p:spPr>
        <p:txBody>
          <a:bodyPr wrap="square">
            <a:spAutoFit/>
          </a:bodyPr>
          <a:lstStyle>
            <a:lvl1pPr marL="0" indent="0" algn="r">
              <a:buNone/>
              <a:defRPr sz="600" baseline="0">
                <a:solidFill>
                  <a:schemeClr val="tx1"/>
                </a:solidFill>
              </a:defRPr>
            </a:lvl1pPr>
            <a:lvl2pPr marL="230187" indent="0">
              <a:buNone/>
              <a:defRPr sz="1800">
                <a:solidFill>
                  <a:schemeClr val="bg1"/>
                </a:solidFill>
              </a:defRPr>
            </a:lvl2pPr>
            <a:lvl3pPr marL="460375" indent="0">
              <a:buNone/>
              <a:defRPr sz="1600">
                <a:solidFill>
                  <a:schemeClr val="bg1"/>
                </a:solidFill>
              </a:defRPr>
            </a:lvl3pPr>
            <a:lvl4pPr marL="684212" indent="0">
              <a:buNone/>
              <a:defRPr sz="1400">
                <a:solidFill>
                  <a:schemeClr val="bg1"/>
                </a:solidFill>
              </a:defRPr>
            </a:lvl4pPr>
            <a:lvl5pPr marL="1025525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PHOTO CREDIT HERE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877104" y="2188567"/>
            <a:ext cx="3885896" cy="837665"/>
          </a:xfrm>
        </p:spPr>
        <p:txBody>
          <a:bodyPr wrap="square" anchor="ctr" anchorCtr="0">
            <a:spAutoFit/>
          </a:bodyPr>
          <a:lstStyle>
            <a:lvl1pPr>
              <a:defRPr>
                <a:solidFill>
                  <a:srgbClr val="0067B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2103EA51-7597-4ED8-96AF-3DE48D533E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2274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ed/Gray 1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414FB1AD-D69E-B741-965A-0BAE826C2FA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844639"/>
            <a:ext cx="2895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686104" y="1211494"/>
            <a:ext cx="7772400" cy="46166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>
            <a:lvl1pPr>
              <a:defRPr>
                <a:solidFill>
                  <a:srgbClr val="0067B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idx="1" hasCustomPrompt="1"/>
          </p:nvPr>
        </p:nvSpPr>
        <p:spPr>
          <a:xfrm>
            <a:off x="685800" y="1865970"/>
            <a:ext cx="7772400" cy="284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30188" marR="0" indent="-2301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  <a:tabLst/>
              <a:defRPr/>
            </a:lvl1pPr>
          </a:lstStyle>
          <a:p>
            <a:pPr marL="230188" marR="0" lvl="0" indent="-2301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C6463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Click to edit Master text styles</a:t>
            </a:r>
          </a:p>
          <a:p>
            <a:pPr marL="684213" marR="0" lvl="1" indent="-2301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C6463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Second level</a:t>
            </a:r>
          </a:p>
        </p:txBody>
      </p:sp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CB1B3B99-6CF1-4475-8757-B5B969F234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2974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ed/Gray 2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6104" y="1806495"/>
            <a:ext cx="3809696" cy="2951085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6C6463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06495"/>
            <a:ext cx="3810304" cy="2951085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6C6463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AB18E012-EC0C-1649-A039-CB178266D114}" type="datetime1">
              <a:rPr lang="en-US" smtClean="0"/>
              <a:t>9/25/2022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844639"/>
            <a:ext cx="2895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80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86104" y="1210478"/>
            <a:ext cx="7772400" cy="465370"/>
          </a:xfrm>
        </p:spPr>
        <p:txBody>
          <a:bodyPr anchor="b" anchorCtr="0">
            <a:spAutoFit/>
          </a:bodyPr>
          <a:lstStyle>
            <a:lvl1pPr>
              <a:defRPr>
                <a:solidFill>
                  <a:srgbClr val="0067B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E8031F01-D064-4CA1-BB4A-46733B288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8454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ed/Gray 3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880839"/>
            <a:ext cx="2514296" cy="2787533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296" y="1880839"/>
            <a:ext cx="2514904" cy="2787533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39C62A9A-2216-F44B-AFF9-136AA601C377}" type="datetime1">
              <a:rPr lang="en-US" smtClean="0"/>
              <a:t>9/25/2022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844639"/>
            <a:ext cx="2895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80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3314244" y="1880839"/>
            <a:ext cx="2514904" cy="2787533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254811"/>
            <a:ext cx="7772400" cy="465370"/>
          </a:xfrm>
        </p:spPr>
        <p:txBody>
          <a:bodyPr anchor="b" anchorCtr="0">
            <a:spAutoFit/>
          </a:bodyPr>
          <a:lstStyle>
            <a:lvl1pPr>
              <a:defRPr>
                <a:solidFill>
                  <a:srgbClr val="0067B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1862F961-C7EB-4B47-82A5-A50B66E156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0763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ed/Gray 1 Content + Bottom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52400" y="2877015"/>
            <a:ext cx="8839200" cy="2155966"/>
          </a:xfrm>
          <a:solidFill>
            <a:srgbClr val="E7E7E5"/>
          </a:solidFill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rgbClr val="6C6463"/>
                </a:solidFill>
              </a:defRPr>
            </a:lvl1pPr>
          </a:lstStyle>
          <a:p>
            <a:r>
              <a:rPr lang="en-US" dirty="0"/>
              <a:t>ADD PHOTO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6104" y="1818227"/>
            <a:ext cx="7772400" cy="970451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  <a:lvl2pPr>
              <a:defRPr>
                <a:solidFill>
                  <a:srgbClr val="6C6463"/>
                </a:solidFill>
              </a:defRPr>
            </a:lvl2pPr>
            <a:lvl3pPr>
              <a:defRPr>
                <a:solidFill>
                  <a:srgbClr val="6C6463"/>
                </a:solidFill>
              </a:defRPr>
            </a:lvl3pPr>
            <a:lvl4pPr>
              <a:defRPr>
                <a:solidFill>
                  <a:srgbClr val="6C6463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193355D5-F1DA-0F48-9E7E-0A3FEBF9FF84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844639"/>
            <a:ext cx="2895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8060903" y="3648739"/>
            <a:ext cx="1676728" cy="184666"/>
          </a:xfrm>
        </p:spPr>
        <p:txBody>
          <a:bodyPr wrap="square">
            <a:spAutoFit/>
          </a:bodyPr>
          <a:lstStyle>
            <a:lvl1pPr marL="0" indent="0" algn="r">
              <a:buNone/>
              <a:defRPr sz="600" baseline="0">
                <a:solidFill>
                  <a:schemeClr val="tx1"/>
                </a:solidFill>
              </a:defRPr>
            </a:lvl1pPr>
            <a:lvl2pPr marL="230187" indent="0">
              <a:buNone/>
              <a:defRPr sz="1800">
                <a:solidFill>
                  <a:schemeClr val="bg1"/>
                </a:solidFill>
              </a:defRPr>
            </a:lvl2pPr>
            <a:lvl3pPr marL="460375" indent="0">
              <a:buNone/>
              <a:defRPr sz="1600">
                <a:solidFill>
                  <a:schemeClr val="bg1"/>
                </a:solidFill>
              </a:defRPr>
            </a:lvl3pPr>
            <a:lvl4pPr marL="684212" indent="0">
              <a:buNone/>
              <a:defRPr sz="1400">
                <a:solidFill>
                  <a:schemeClr val="bg1"/>
                </a:solidFill>
              </a:defRPr>
            </a:lvl4pPr>
            <a:lvl5pPr marL="1025525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PHOTO CREDIT HERE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222447"/>
            <a:ext cx="7772400" cy="465370"/>
          </a:xfrm>
        </p:spPr>
        <p:txBody>
          <a:bodyPr anchor="b" anchorCtr="0">
            <a:spAutoFit/>
          </a:bodyPr>
          <a:lstStyle>
            <a:lvl1pPr>
              <a:defRPr>
                <a:solidFill>
                  <a:srgbClr val="0067B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B520D748-1C40-493A-A8D7-C39D99856F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1827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ed/Gray 1 Content + Right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572000" y="1457093"/>
            <a:ext cx="4419600" cy="3387546"/>
          </a:xfrm>
          <a:solidFill>
            <a:srgbClr val="E7E7E5"/>
          </a:solidFill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rgbClr val="6C6463"/>
                </a:solidFill>
              </a:defRPr>
            </a:lvl1pPr>
          </a:lstStyle>
          <a:p>
            <a:r>
              <a:rPr lang="en-US" dirty="0"/>
              <a:t>ADD PHOTO HERE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60FEB5C5-97E6-6B45-BBE4-F2449473BB9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685800" y="2122112"/>
            <a:ext cx="3657600" cy="2658044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82083" y="1174322"/>
            <a:ext cx="3657600" cy="830997"/>
          </a:xfrm>
        </p:spPr>
        <p:txBody>
          <a:bodyPr wrap="square" anchor="b" anchorCtr="0">
            <a:spAutoFit/>
          </a:bodyPr>
          <a:lstStyle>
            <a:lvl1pPr>
              <a:defRPr>
                <a:solidFill>
                  <a:srgbClr val="0067B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3C41AEA5-0277-4B53-99A8-0F3FB2A9A8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87078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8523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ed/Gray 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52400" y="1226634"/>
            <a:ext cx="4419600" cy="3804152"/>
          </a:xfrm>
          <a:solidFill>
            <a:srgbClr val="E7E7E5"/>
          </a:solidFill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rgbClr val="6C6463"/>
                </a:solidFill>
              </a:defRPr>
            </a:lvl1pPr>
          </a:lstStyle>
          <a:p>
            <a:r>
              <a:rPr lang="en-US" dirty="0"/>
              <a:t>ADD PHOTO HERE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fld id="{60FEB5C5-97E6-6B45-BBE4-F2449473BB96}" type="datetime1">
              <a:rPr lang="en-US" smtClean="0"/>
              <a:pPr/>
              <a:t>9/25/2022</a:t>
            </a:fld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3442713" y="2171256"/>
            <a:ext cx="2073910" cy="184666"/>
          </a:xfrm>
        </p:spPr>
        <p:txBody>
          <a:bodyPr>
            <a:spAutoFit/>
          </a:bodyPr>
          <a:lstStyle>
            <a:lvl1pPr marL="0" indent="0" algn="r">
              <a:buNone/>
              <a:defRPr sz="600" baseline="0">
                <a:solidFill>
                  <a:schemeClr val="tx1"/>
                </a:solidFill>
              </a:defRPr>
            </a:lvl1pPr>
            <a:lvl2pPr marL="230187" indent="0">
              <a:buNone/>
              <a:defRPr sz="1800">
                <a:solidFill>
                  <a:schemeClr val="bg1"/>
                </a:solidFill>
              </a:defRPr>
            </a:lvl2pPr>
            <a:lvl3pPr marL="460375" indent="0">
              <a:buNone/>
              <a:defRPr sz="1600">
                <a:solidFill>
                  <a:schemeClr val="bg1"/>
                </a:solidFill>
              </a:defRPr>
            </a:lvl3pPr>
            <a:lvl4pPr marL="684212" indent="0">
              <a:buNone/>
              <a:defRPr sz="1400">
                <a:solidFill>
                  <a:schemeClr val="bg1"/>
                </a:solidFill>
              </a:defRPr>
            </a:lvl4pPr>
            <a:lvl5pPr marL="1025525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PHOTO CREDIT HERE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877104" y="2188567"/>
            <a:ext cx="3885896" cy="837665"/>
          </a:xfrm>
        </p:spPr>
        <p:txBody>
          <a:bodyPr wrap="square" anchor="ctr" anchorCtr="0">
            <a:spAutoFit/>
          </a:bodyPr>
          <a:lstStyle>
            <a:lvl1pPr>
              <a:defRPr>
                <a:solidFill>
                  <a:srgbClr val="0067B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4F524F77-A6E8-4F96-9628-B9D96927CD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296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6104" y="682922"/>
            <a:ext cx="7772400" cy="46166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296987"/>
            <a:ext cx="7772400" cy="320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64207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7C017F59-29DA-6F48-B92A-5AD511CC2D63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864207"/>
            <a:ext cx="2895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64207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ame 13"/>
          <p:cNvSpPr/>
          <p:nvPr/>
        </p:nvSpPr>
        <p:spPr>
          <a:xfrm>
            <a:off x="0" y="0"/>
            <a:ext cx="9144000" cy="5189384"/>
          </a:xfrm>
          <a:prstGeom prst="frame">
            <a:avLst>
              <a:gd name="adj1" fmla="val 296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rgbClr val="FFFFFF"/>
              </a:solidFill>
              <a:latin typeface="Gill Sans MT"/>
              <a:cs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881333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74" r:id="rId2"/>
    <p:sldLayoutId id="2147483654" r:id="rId3"/>
    <p:sldLayoutId id="2147483708" r:id="rId4"/>
    <p:sldLayoutId id="2147483709" r:id="rId5"/>
    <p:sldLayoutId id="2147483758" r:id="rId6"/>
    <p:sldLayoutId id="2147483710" r:id="rId7"/>
    <p:sldLayoutId id="2147483711" r:id="rId8"/>
    <p:sldLayoutId id="2147483712" r:id="rId9"/>
    <p:sldLayoutId id="2147483714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  <p:sldLayoutId id="2147483696" r:id="rId17"/>
    <p:sldLayoutId id="2147483744" r:id="rId18"/>
    <p:sldLayoutId id="2147483745" r:id="rId19"/>
    <p:sldLayoutId id="2147483746" r:id="rId20"/>
    <p:sldLayoutId id="2147483747" r:id="rId21"/>
    <p:sldLayoutId id="2147483748" r:id="rId22"/>
    <p:sldLayoutId id="2147483749" r:id="rId23"/>
    <p:sldLayoutId id="2147483750" r:id="rId24"/>
    <p:sldLayoutId id="2147483751" r:id="rId25"/>
    <p:sldLayoutId id="2147483752" r:id="rId26"/>
    <p:sldLayoutId id="2147483753" r:id="rId27"/>
    <p:sldLayoutId id="2147483754" r:id="rId28"/>
    <p:sldLayoutId id="2147483755" r:id="rId29"/>
    <p:sldLayoutId id="2147483756" r:id="rId30"/>
    <p:sldLayoutId id="2147483757" r:id="rId3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400" b="0" i="0" kern="1200">
          <a:solidFill>
            <a:srgbClr val="BA0C2F"/>
          </a:solidFill>
          <a:latin typeface="Gill Sans MT"/>
          <a:ea typeface="+mj-ea"/>
          <a:cs typeface="Gill Sans MT"/>
        </a:defRPr>
      </a:lvl1pPr>
    </p:titleStyle>
    <p:bodyStyle>
      <a:lvl1pPr marL="230188" indent="-230188" algn="l" defTabSz="457200" rtl="0" eaLnBrk="1" latinLnBrk="0" hangingPunct="1">
        <a:spcBef>
          <a:spcPts val="0"/>
        </a:spcBef>
        <a:spcAft>
          <a:spcPts val="800"/>
        </a:spcAft>
        <a:buFont typeface="Arial"/>
        <a:buChar char="•"/>
        <a:defRPr sz="1600" b="0" i="0" kern="1200">
          <a:solidFill>
            <a:srgbClr val="6C6463"/>
          </a:solidFill>
          <a:latin typeface="Gill Sans MT"/>
          <a:ea typeface="+mn-ea"/>
          <a:cs typeface="Gill Sans MT"/>
        </a:defRPr>
      </a:lvl1pPr>
      <a:lvl2pPr marL="684213" indent="-230188" algn="l" defTabSz="457200" rtl="0" eaLnBrk="1" latinLnBrk="0" hangingPunct="1">
        <a:spcBef>
          <a:spcPts val="0"/>
        </a:spcBef>
        <a:spcAft>
          <a:spcPts val="800"/>
        </a:spcAft>
        <a:buFont typeface="Arial"/>
        <a:buChar char="–"/>
        <a:defRPr sz="1600" b="0" i="0" kern="1200">
          <a:solidFill>
            <a:srgbClr val="6C6463"/>
          </a:solidFill>
          <a:latin typeface="Gill Sans MT"/>
          <a:ea typeface="+mn-ea"/>
          <a:cs typeface="Gill Sans MT"/>
        </a:defRPr>
      </a:lvl2pPr>
      <a:lvl3pPr marL="914400" indent="-230188" algn="l" defTabSz="4572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rgbClr val="6C6463"/>
          </a:solidFill>
          <a:latin typeface="Gill Sans MT"/>
          <a:ea typeface="+mn-ea"/>
          <a:cs typeface="Gill Sans MT"/>
        </a:defRPr>
      </a:lvl3pPr>
      <a:lvl4pPr marL="1146175" indent="-231775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rgbClr val="6C6463"/>
          </a:solidFill>
          <a:latin typeface="Gill Sans MT"/>
          <a:ea typeface="+mn-ea"/>
          <a:cs typeface="Gill Sans MT"/>
        </a:defRPr>
      </a:lvl4pPr>
      <a:lvl5pPr marL="1255713" indent="-230188" algn="l" defTabSz="457200" rtl="0" eaLnBrk="1" latinLnBrk="0" hangingPunct="1">
        <a:spcBef>
          <a:spcPct val="20000"/>
        </a:spcBef>
        <a:buFont typeface="Arial"/>
        <a:buChar char="»"/>
        <a:defRPr sz="1400" b="0" i="0" kern="1200">
          <a:solidFill>
            <a:srgbClr val="6C6463"/>
          </a:solidFill>
          <a:latin typeface="Gill Sans MT"/>
          <a:ea typeface="+mn-ea"/>
          <a:cs typeface="Gill Sans M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0C00456-721A-A94C-800A-D5E7EE91C160}" type="datetime1">
              <a:rPr lang="en-US" smtClean="0"/>
              <a:pPr/>
              <a:t>9/25/2022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FOOTER GOES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PHOTO COVER OPTION</a:t>
            </a:r>
            <a:br>
              <a:rPr lang="en-US" dirty="0"/>
            </a:br>
            <a:r>
              <a:rPr lang="en-US" dirty="0"/>
              <a:t>TITLE GOES HERE CAN </a:t>
            </a:r>
            <a:br>
              <a:rPr lang="en-US" dirty="0"/>
            </a:br>
            <a:r>
              <a:rPr lang="en-US" dirty="0"/>
              <a:t>RUN THREE LINES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SUBTITLE STYLE GOES HERE, CAN RUN FOUR LINES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355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79B594D-EE2C-E248-B7F0-F679C2E525DC}" type="datetime1">
              <a:rPr lang="en-US" smtClean="0"/>
              <a:pPr/>
              <a:t>9/25/2022</a:t>
            </a:fld>
            <a:r>
              <a:rPr lang="en-US"/>
              <a:t>`1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RED COVER OPTION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</a:rPr>
              <a:t>TITLE GOES HERE CAN RUN THREE LINES</a:t>
            </a:r>
          </a:p>
        </p:txBody>
      </p:sp>
      <p:sp>
        <p:nvSpPr>
          <p:cNvPr id="13" name="Subtitle 1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SUBTITLE STYLE GOES HERE, </a:t>
            </a:r>
            <a:br>
              <a:rPr lang="en-US"/>
            </a:br>
            <a:r>
              <a:rPr lang="en-US"/>
              <a:t>CAN RUN FOUR LINES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244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6036" y="1157079"/>
            <a:ext cx="5486400" cy="830997"/>
          </a:xfrm>
        </p:spPr>
        <p:txBody>
          <a:bodyPr/>
          <a:lstStyle/>
          <a:p>
            <a:r>
              <a:rPr lang="en-US" dirty="0"/>
              <a:t>DIVIDER TITLE </a:t>
            </a:r>
            <a:r>
              <a:rPr lang="en-US" dirty="0">
                <a:solidFill>
                  <a:srgbClr val="000000"/>
                </a:solidFill>
              </a:rPr>
              <a:t>GOES HERE &amp; CAN RUN SEVERAL LINES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57F02-9C8D-9C43-8CF1-E7D544BE7C72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162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7" descr="8722143013_2f7297ca6c_o.jpg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" r="3"/>
          <a:stretch/>
        </p:blipFill>
        <p:spPr/>
      </p:pic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1B7343D-1FD4-744C-9192-B6EF5881B96B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>
          <a:xfrm>
            <a:off x="685800" y="2443396"/>
            <a:ext cx="3657600" cy="2329053"/>
          </a:xfrm>
        </p:spPr>
        <p:txBody>
          <a:bodyPr/>
          <a:lstStyle/>
          <a:p>
            <a:r>
              <a:rPr lang="en-US" dirty="0"/>
              <a:t>Level 1 bullet goes here. </a:t>
            </a:r>
          </a:p>
          <a:p>
            <a:pPr lvl="1"/>
            <a:r>
              <a:rPr lang="en-US" dirty="0"/>
              <a:t>Level 2 bullet goes here.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85800" y="1234069"/>
            <a:ext cx="3657600" cy="1135090"/>
          </a:xfrm>
        </p:spPr>
        <p:txBody>
          <a:bodyPr/>
          <a:lstStyle/>
          <a:p>
            <a:r>
              <a:rPr lang="en-US" dirty="0">
                <a:solidFill>
                  <a:srgbClr val="651D32"/>
                </a:solidFill>
              </a:rPr>
              <a:t>TITLE GOES HERE </a:t>
            </a:r>
            <a:br>
              <a:rPr lang="en-US" dirty="0">
                <a:solidFill>
                  <a:srgbClr val="651D32"/>
                </a:solidFill>
              </a:rPr>
            </a:br>
            <a:r>
              <a:rPr lang="en-US" dirty="0"/>
              <a:t>&amp; CAN RUN </a:t>
            </a:r>
            <a:br>
              <a:rPr lang="en-US" dirty="0"/>
            </a:br>
            <a:r>
              <a:rPr lang="en-US" dirty="0"/>
              <a:t>THREE LINES</a:t>
            </a:r>
          </a:p>
        </p:txBody>
      </p:sp>
    </p:spTree>
    <p:extLst>
      <p:ext uri="{BB962C8B-B14F-4D97-AF65-F5344CB8AC3E}">
        <p14:creationId xmlns:p14="http://schemas.microsoft.com/office/powerpoint/2010/main" val="312452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15C1E33-7843-DD4E-A777-43ECB6153BE3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5" name="object 6"/>
          <p:cNvSpPr/>
          <p:nvPr/>
        </p:nvSpPr>
        <p:spPr>
          <a:xfrm>
            <a:off x="419048" y="3767333"/>
            <a:ext cx="4017460" cy="943031"/>
          </a:xfrm>
          <a:custGeom>
            <a:avLst/>
            <a:gdLst/>
            <a:ahLst/>
            <a:cxnLst/>
            <a:rect l="l" t="t" r="r" b="b"/>
            <a:pathLst>
              <a:path w="6141720" h="1699259">
                <a:moveTo>
                  <a:pt x="6064612" y="1699042"/>
                </a:moveTo>
                <a:lnTo>
                  <a:pt x="0" y="1699042"/>
                </a:lnTo>
                <a:lnTo>
                  <a:pt x="0" y="0"/>
                </a:lnTo>
                <a:lnTo>
                  <a:pt x="6064612" y="0"/>
                </a:lnTo>
                <a:lnTo>
                  <a:pt x="6069936" y="524"/>
                </a:lnTo>
                <a:lnTo>
                  <a:pt x="6109196" y="16786"/>
                </a:lnTo>
                <a:lnTo>
                  <a:pt x="6136941" y="55514"/>
                </a:lnTo>
                <a:lnTo>
                  <a:pt x="6141117" y="76505"/>
                </a:lnTo>
                <a:lnTo>
                  <a:pt x="6141117" y="1622537"/>
                </a:lnTo>
                <a:lnTo>
                  <a:pt x="6124330" y="1667122"/>
                </a:lnTo>
                <a:lnTo>
                  <a:pt x="6085602" y="1694867"/>
                </a:lnTo>
                <a:lnTo>
                  <a:pt x="6064612" y="1699042"/>
                </a:lnTo>
                <a:close/>
              </a:path>
            </a:pathLst>
          </a:custGeom>
          <a:solidFill>
            <a:srgbClr val="7833FF"/>
          </a:solidFill>
        </p:spPr>
        <p:txBody>
          <a:bodyPr wrap="square" lIns="0" tIns="0" rIns="0" bIns="0" rtlCol="0"/>
          <a:lstStyle/>
          <a:p>
            <a:pPr marL="12700" algn="ctr">
              <a:lnSpc>
                <a:spcPct val="100000"/>
              </a:lnSpc>
              <a:spcBef>
                <a:spcPts val="690"/>
              </a:spcBef>
            </a:pPr>
            <a:r>
              <a:rPr lang="en-US" sz="1600" spc="-21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a hid  A sg ha 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78100"/>
              </a:lnSpc>
              <a:spcBef>
                <a:spcPts val="1040"/>
              </a:spcBef>
            </a:pPr>
            <a:r>
              <a:rPr lang="en-US" sz="1600" spc="-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Professor, School of Economics, QAU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object 3"/>
          <p:cNvGrpSpPr/>
          <p:nvPr/>
        </p:nvGrpSpPr>
        <p:grpSpPr>
          <a:xfrm>
            <a:off x="5811677" y="3593110"/>
            <a:ext cx="982980" cy="982980"/>
            <a:chOff x="7287459" y="4974305"/>
            <a:chExt cx="982980" cy="982980"/>
          </a:xfrm>
        </p:grpSpPr>
        <p:sp>
          <p:nvSpPr>
            <p:cNvPr id="17" name="object 4"/>
            <p:cNvSpPr/>
            <p:nvPr/>
          </p:nvSpPr>
          <p:spPr>
            <a:xfrm>
              <a:off x="7287459" y="4974305"/>
              <a:ext cx="982980" cy="982980"/>
            </a:xfrm>
            <a:custGeom>
              <a:avLst/>
              <a:gdLst/>
              <a:ahLst/>
              <a:cxnLst/>
              <a:rect l="l" t="t" r="r" b="b"/>
              <a:pathLst>
                <a:path w="982979" h="982979">
                  <a:moveTo>
                    <a:pt x="491289" y="982578"/>
                  </a:moveTo>
                  <a:lnTo>
                    <a:pt x="443134" y="980213"/>
                  </a:lnTo>
                  <a:lnTo>
                    <a:pt x="395443" y="973138"/>
                  </a:lnTo>
                  <a:lnTo>
                    <a:pt x="348675" y="961423"/>
                  </a:lnTo>
                  <a:lnTo>
                    <a:pt x="303281" y="945181"/>
                  </a:lnTo>
                  <a:lnTo>
                    <a:pt x="259697" y="924568"/>
                  </a:lnTo>
                  <a:lnTo>
                    <a:pt x="218343" y="899781"/>
                  </a:lnTo>
                  <a:lnTo>
                    <a:pt x="179618" y="871061"/>
                  </a:lnTo>
                  <a:lnTo>
                    <a:pt x="143895" y="838683"/>
                  </a:lnTo>
                  <a:lnTo>
                    <a:pt x="111517" y="802960"/>
                  </a:lnTo>
                  <a:lnTo>
                    <a:pt x="82797" y="764235"/>
                  </a:lnTo>
                  <a:lnTo>
                    <a:pt x="58010" y="722881"/>
                  </a:lnTo>
                  <a:lnTo>
                    <a:pt x="37397" y="679297"/>
                  </a:lnTo>
                  <a:lnTo>
                    <a:pt x="21154" y="633903"/>
                  </a:lnTo>
                  <a:lnTo>
                    <a:pt x="9439" y="587135"/>
                  </a:lnTo>
                  <a:lnTo>
                    <a:pt x="2365" y="539444"/>
                  </a:lnTo>
                  <a:lnTo>
                    <a:pt x="0" y="491289"/>
                  </a:lnTo>
                  <a:lnTo>
                    <a:pt x="591" y="467182"/>
                  </a:lnTo>
                  <a:lnTo>
                    <a:pt x="5317" y="419202"/>
                  </a:lnTo>
                  <a:lnTo>
                    <a:pt x="14722" y="371915"/>
                  </a:lnTo>
                  <a:lnTo>
                    <a:pt x="28718" y="325778"/>
                  </a:lnTo>
                  <a:lnTo>
                    <a:pt x="47168" y="281235"/>
                  </a:lnTo>
                  <a:lnTo>
                    <a:pt x="69896" y="238716"/>
                  </a:lnTo>
                  <a:lnTo>
                    <a:pt x="96681" y="198628"/>
                  </a:lnTo>
                  <a:lnTo>
                    <a:pt x="127267" y="161359"/>
                  </a:lnTo>
                  <a:lnTo>
                    <a:pt x="161359" y="127267"/>
                  </a:lnTo>
                  <a:lnTo>
                    <a:pt x="198628" y="96681"/>
                  </a:lnTo>
                  <a:lnTo>
                    <a:pt x="238716" y="69896"/>
                  </a:lnTo>
                  <a:lnTo>
                    <a:pt x="281235" y="47168"/>
                  </a:lnTo>
                  <a:lnTo>
                    <a:pt x="325778" y="28718"/>
                  </a:lnTo>
                  <a:lnTo>
                    <a:pt x="371915" y="14722"/>
                  </a:lnTo>
                  <a:lnTo>
                    <a:pt x="419202" y="5317"/>
                  </a:lnTo>
                  <a:lnTo>
                    <a:pt x="467182" y="591"/>
                  </a:lnTo>
                  <a:lnTo>
                    <a:pt x="491289" y="0"/>
                  </a:lnTo>
                  <a:lnTo>
                    <a:pt x="515395" y="591"/>
                  </a:lnTo>
                  <a:lnTo>
                    <a:pt x="563376" y="5317"/>
                  </a:lnTo>
                  <a:lnTo>
                    <a:pt x="610663" y="14722"/>
                  </a:lnTo>
                  <a:lnTo>
                    <a:pt x="656799" y="28718"/>
                  </a:lnTo>
                  <a:lnTo>
                    <a:pt x="701342" y="47168"/>
                  </a:lnTo>
                  <a:lnTo>
                    <a:pt x="743862" y="69896"/>
                  </a:lnTo>
                  <a:lnTo>
                    <a:pt x="783950" y="96681"/>
                  </a:lnTo>
                  <a:lnTo>
                    <a:pt x="821219" y="127267"/>
                  </a:lnTo>
                  <a:lnTo>
                    <a:pt x="855311" y="161359"/>
                  </a:lnTo>
                  <a:lnTo>
                    <a:pt x="885896" y="198628"/>
                  </a:lnTo>
                  <a:lnTo>
                    <a:pt x="912682" y="238716"/>
                  </a:lnTo>
                  <a:lnTo>
                    <a:pt x="935410" y="281235"/>
                  </a:lnTo>
                  <a:lnTo>
                    <a:pt x="953860" y="325778"/>
                  </a:lnTo>
                  <a:lnTo>
                    <a:pt x="967855" y="371915"/>
                  </a:lnTo>
                  <a:lnTo>
                    <a:pt x="977261" y="419202"/>
                  </a:lnTo>
                  <a:lnTo>
                    <a:pt x="981987" y="467182"/>
                  </a:lnTo>
                  <a:lnTo>
                    <a:pt x="982578" y="491289"/>
                  </a:lnTo>
                  <a:lnTo>
                    <a:pt x="981987" y="515395"/>
                  </a:lnTo>
                  <a:lnTo>
                    <a:pt x="977261" y="563376"/>
                  </a:lnTo>
                  <a:lnTo>
                    <a:pt x="967855" y="610663"/>
                  </a:lnTo>
                  <a:lnTo>
                    <a:pt x="953860" y="656799"/>
                  </a:lnTo>
                  <a:lnTo>
                    <a:pt x="935410" y="701342"/>
                  </a:lnTo>
                  <a:lnTo>
                    <a:pt x="912682" y="743862"/>
                  </a:lnTo>
                  <a:lnTo>
                    <a:pt x="885897" y="783950"/>
                  </a:lnTo>
                  <a:lnTo>
                    <a:pt x="855311" y="821219"/>
                  </a:lnTo>
                  <a:lnTo>
                    <a:pt x="821219" y="855311"/>
                  </a:lnTo>
                  <a:lnTo>
                    <a:pt x="783950" y="885896"/>
                  </a:lnTo>
                  <a:lnTo>
                    <a:pt x="743862" y="912682"/>
                  </a:lnTo>
                  <a:lnTo>
                    <a:pt x="701342" y="935410"/>
                  </a:lnTo>
                  <a:lnTo>
                    <a:pt x="656799" y="953860"/>
                  </a:lnTo>
                  <a:lnTo>
                    <a:pt x="610663" y="967855"/>
                  </a:lnTo>
                  <a:lnTo>
                    <a:pt x="563376" y="977261"/>
                  </a:lnTo>
                  <a:lnTo>
                    <a:pt x="515395" y="981987"/>
                  </a:lnTo>
                  <a:lnTo>
                    <a:pt x="491289" y="982578"/>
                  </a:lnTo>
                  <a:close/>
                </a:path>
              </a:pathLst>
            </a:custGeom>
            <a:solidFill>
              <a:srgbClr val="0418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/>
            <p:cNvSpPr/>
            <p:nvPr/>
          </p:nvSpPr>
          <p:spPr>
            <a:xfrm>
              <a:off x="7464603" y="5201056"/>
              <a:ext cx="627380" cy="483870"/>
            </a:xfrm>
            <a:custGeom>
              <a:avLst/>
              <a:gdLst/>
              <a:ahLst/>
              <a:cxnLst/>
              <a:rect l="l" t="t" r="r" b="b"/>
              <a:pathLst>
                <a:path w="627379" h="483870">
                  <a:moveTo>
                    <a:pt x="626770" y="209892"/>
                  </a:moveTo>
                  <a:lnTo>
                    <a:pt x="621728" y="172161"/>
                  </a:lnTo>
                  <a:lnTo>
                    <a:pt x="607174" y="136652"/>
                  </a:lnTo>
                  <a:lnTo>
                    <a:pt x="590003" y="112458"/>
                  </a:lnTo>
                  <a:lnTo>
                    <a:pt x="590003" y="225552"/>
                  </a:lnTo>
                  <a:lnTo>
                    <a:pt x="584238" y="264845"/>
                  </a:lnTo>
                  <a:lnTo>
                    <a:pt x="567677" y="297535"/>
                  </a:lnTo>
                  <a:lnTo>
                    <a:pt x="541426" y="323824"/>
                  </a:lnTo>
                  <a:lnTo>
                    <a:pt x="513664" y="339826"/>
                  </a:lnTo>
                  <a:lnTo>
                    <a:pt x="511086" y="338315"/>
                  </a:lnTo>
                  <a:lnTo>
                    <a:pt x="507263" y="336384"/>
                  </a:lnTo>
                  <a:lnTo>
                    <a:pt x="497928" y="332270"/>
                  </a:lnTo>
                  <a:lnTo>
                    <a:pt x="488137" y="328650"/>
                  </a:lnTo>
                  <a:lnTo>
                    <a:pt x="480415" y="326072"/>
                  </a:lnTo>
                  <a:lnTo>
                    <a:pt x="477278" y="325081"/>
                  </a:lnTo>
                  <a:lnTo>
                    <a:pt x="491871" y="322554"/>
                  </a:lnTo>
                  <a:lnTo>
                    <a:pt x="523989" y="309994"/>
                  </a:lnTo>
                  <a:lnTo>
                    <a:pt x="556107" y="279996"/>
                  </a:lnTo>
                  <a:lnTo>
                    <a:pt x="559600" y="266877"/>
                  </a:lnTo>
                  <a:lnTo>
                    <a:pt x="570712" y="225132"/>
                  </a:lnTo>
                  <a:lnTo>
                    <a:pt x="565543" y="206857"/>
                  </a:lnTo>
                  <a:lnTo>
                    <a:pt x="555434" y="171069"/>
                  </a:lnTo>
                  <a:lnTo>
                    <a:pt x="521817" y="142836"/>
                  </a:lnTo>
                  <a:lnTo>
                    <a:pt x="488200" y="132054"/>
                  </a:lnTo>
                  <a:lnTo>
                    <a:pt x="472922" y="130327"/>
                  </a:lnTo>
                  <a:lnTo>
                    <a:pt x="460756" y="130327"/>
                  </a:lnTo>
                  <a:lnTo>
                    <a:pt x="460756" y="236321"/>
                  </a:lnTo>
                  <a:lnTo>
                    <a:pt x="456069" y="253936"/>
                  </a:lnTo>
                  <a:lnTo>
                    <a:pt x="445770" y="263004"/>
                  </a:lnTo>
                  <a:lnTo>
                    <a:pt x="435457" y="266357"/>
                  </a:lnTo>
                  <a:lnTo>
                    <a:pt x="430771" y="266852"/>
                  </a:lnTo>
                  <a:lnTo>
                    <a:pt x="419481" y="266865"/>
                  </a:lnTo>
                  <a:lnTo>
                    <a:pt x="419481" y="365620"/>
                  </a:lnTo>
                  <a:lnTo>
                    <a:pt x="415442" y="366306"/>
                  </a:lnTo>
                  <a:lnTo>
                    <a:pt x="365125" y="368846"/>
                  </a:lnTo>
                  <a:lnTo>
                    <a:pt x="365125" y="345084"/>
                  </a:lnTo>
                  <a:lnTo>
                    <a:pt x="399707" y="345084"/>
                  </a:lnTo>
                  <a:lnTo>
                    <a:pt x="402234" y="346786"/>
                  </a:lnTo>
                  <a:lnTo>
                    <a:pt x="408178" y="351599"/>
                  </a:lnTo>
                  <a:lnTo>
                    <a:pt x="414096" y="358038"/>
                  </a:lnTo>
                  <a:lnTo>
                    <a:pt x="419481" y="365620"/>
                  </a:lnTo>
                  <a:lnTo>
                    <a:pt x="419481" y="266865"/>
                  </a:lnTo>
                  <a:lnTo>
                    <a:pt x="366014" y="266877"/>
                  </a:lnTo>
                  <a:lnTo>
                    <a:pt x="366052" y="206857"/>
                  </a:lnTo>
                  <a:lnTo>
                    <a:pt x="430771" y="206895"/>
                  </a:lnTo>
                  <a:lnTo>
                    <a:pt x="435457" y="207124"/>
                  </a:lnTo>
                  <a:lnTo>
                    <a:pt x="445770" y="209969"/>
                  </a:lnTo>
                  <a:lnTo>
                    <a:pt x="456069" y="218617"/>
                  </a:lnTo>
                  <a:lnTo>
                    <a:pt x="460756" y="236321"/>
                  </a:lnTo>
                  <a:lnTo>
                    <a:pt x="460756" y="130327"/>
                  </a:lnTo>
                  <a:lnTo>
                    <a:pt x="258229" y="130327"/>
                  </a:lnTo>
                  <a:lnTo>
                    <a:pt x="258229" y="354812"/>
                  </a:lnTo>
                  <a:lnTo>
                    <a:pt x="256603" y="354457"/>
                  </a:lnTo>
                  <a:lnTo>
                    <a:pt x="212369" y="337515"/>
                  </a:lnTo>
                  <a:lnTo>
                    <a:pt x="175488" y="315290"/>
                  </a:lnTo>
                  <a:lnTo>
                    <a:pt x="147370" y="288645"/>
                  </a:lnTo>
                  <a:lnTo>
                    <a:pt x="123151" y="225552"/>
                  </a:lnTo>
                  <a:lnTo>
                    <a:pt x="129451" y="192646"/>
                  </a:lnTo>
                  <a:lnTo>
                    <a:pt x="175488" y="135801"/>
                  </a:lnTo>
                  <a:lnTo>
                    <a:pt x="212369" y="113588"/>
                  </a:lnTo>
                  <a:lnTo>
                    <a:pt x="256603" y="96647"/>
                  </a:lnTo>
                  <a:lnTo>
                    <a:pt x="306743" y="85852"/>
                  </a:lnTo>
                  <a:lnTo>
                    <a:pt x="361353" y="82067"/>
                  </a:lnTo>
                  <a:lnTo>
                    <a:pt x="415442" y="84785"/>
                  </a:lnTo>
                  <a:lnTo>
                    <a:pt x="464210" y="93091"/>
                  </a:lnTo>
                  <a:lnTo>
                    <a:pt x="506577" y="107200"/>
                  </a:lnTo>
                  <a:lnTo>
                    <a:pt x="541426" y="127292"/>
                  </a:lnTo>
                  <a:lnTo>
                    <a:pt x="584238" y="186258"/>
                  </a:lnTo>
                  <a:lnTo>
                    <a:pt x="590003" y="225552"/>
                  </a:lnTo>
                  <a:lnTo>
                    <a:pt x="590003" y="112458"/>
                  </a:lnTo>
                  <a:lnTo>
                    <a:pt x="583984" y="103962"/>
                  </a:lnTo>
                  <a:lnTo>
                    <a:pt x="560882" y="82067"/>
                  </a:lnTo>
                  <a:lnTo>
                    <a:pt x="553072" y="74663"/>
                  </a:lnTo>
                  <a:lnTo>
                    <a:pt x="515302" y="49364"/>
                  </a:lnTo>
                  <a:lnTo>
                    <a:pt x="471563" y="28663"/>
                  </a:lnTo>
                  <a:lnTo>
                    <a:pt x="422744" y="13131"/>
                  </a:lnTo>
                  <a:lnTo>
                    <a:pt x="369722" y="3390"/>
                  </a:lnTo>
                  <a:lnTo>
                    <a:pt x="313385" y="0"/>
                  </a:lnTo>
                  <a:lnTo>
                    <a:pt x="257060" y="3390"/>
                  </a:lnTo>
                  <a:lnTo>
                    <a:pt x="204038" y="13131"/>
                  </a:lnTo>
                  <a:lnTo>
                    <a:pt x="155219" y="28663"/>
                  </a:lnTo>
                  <a:lnTo>
                    <a:pt x="111480" y="49364"/>
                  </a:lnTo>
                  <a:lnTo>
                    <a:pt x="73698" y="74663"/>
                  </a:lnTo>
                  <a:lnTo>
                    <a:pt x="42786" y="103962"/>
                  </a:lnTo>
                  <a:lnTo>
                    <a:pt x="19608" y="136652"/>
                  </a:lnTo>
                  <a:lnTo>
                    <a:pt x="5041" y="172161"/>
                  </a:lnTo>
                  <a:lnTo>
                    <a:pt x="0" y="209892"/>
                  </a:lnTo>
                  <a:lnTo>
                    <a:pt x="5041" y="247611"/>
                  </a:lnTo>
                  <a:lnTo>
                    <a:pt x="19608" y="283121"/>
                  </a:lnTo>
                  <a:lnTo>
                    <a:pt x="42786" y="315823"/>
                  </a:lnTo>
                  <a:lnTo>
                    <a:pt x="73698" y="345122"/>
                  </a:lnTo>
                  <a:lnTo>
                    <a:pt x="111480" y="370408"/>
                  </a:lnTo>
                  <a:lnTo>
                    <a:pt x="155219" y="391121"/>
                  </a:lnTo>
                  <a:lnTo>
                    <a:pt x="204038" y="406641"/>
                  </a:lnTo>
                  <a:lnTo>
                    <a:pt x="257060" y="416394"/>
                  </a:lnTo>
                  <a:lnTo>
                    <a:pt x="258229" y="416471"/>
                  </a:lnTo>
                  <a:lnTo>
                    <a:pt x="258229" y="483298"/>
                  </a:lnTo>
                  <a:lnTo>
                    <a:pt x="365150" y="483260"/>
                  </a:lnTo>
                  <a:lnTo>
                    <a:pt x="365137" y="416674"/>
                  </a:lnTo>
                  <a:lnTo>
                    <a:pt x="369722" y="416394"/>
                  </a:lnTo>
                  <a:lnTo>
                    <a:pt x="422744" y="406641"/>
                  </a:lnTo>
                  <a:lnTo>
                    <a:pt x="439648" y="401269"/>
                  </a:lnTo>
                  <a:lnTo>
                    <a:pt x="483362" y="483336"/>
                  </a:lnTo>
                  <a:lnTo>
                    <a:pt x="604177" y="483285"/>
                  </a:lnTo>
                  <a:lnTo>
                    <a:pt x="530987" y="359905"/>
                  </a:lnTo>
                  <a:lnTo>
                    <a:pt x="553072" y="345122"/>
                  </a:lnTo>
                  <a:lnTo>
                    <a:pt x="583984" y="315823"/>
                  </a:lnTo>
                  <a:lnTo>
                    <a:pt x="607174" y="283121"/>
                  </a:lnTo>
                  <a:lnTo>
                    <a:pt x="621728" y="247611"/>
                  </a:lnTo>
                  <a:lnTo>
                    <a:pt x="626770" y="2098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2"/>
          <p:cNvSpPr txBox="1">
            <a:spLocks noGrp="1"/>
          </p:cNvSpPr>
          <p:nvPr>
            <p:ph type="title"/>
          </p:nvPr>
        </p:nvSpPr>
        <p:spPr>
          <a:xfrm>
            <a:off x="987630" y="1136820"/>
            <a:ext cx="6897756" cy="2183931"/>
          </a:xfrm>
          <a:prstGeom prst="rect">
            <a:avLst/>
          </a:prstGeom>
        </p:spPr>
        <p:txBody>
          <a:bodyPr vert="horz" wrap="square" lIns="0" tIns="3568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10"/>
              </a:spcBef>
            </a:pPr>
            <a:r>
              <a:rPr lang="en-US" sz="4400" dirty="0" smtClean="0"/>
              <a:t> TRANSFORMATIONS FOR  </a:t>
            </a:r>
            <a:r>
              <a:rPr lang="en-US" sz="4800" dirty="0" smtClean="0">
                <a:latin typeface="Microsoft Sans Serif"/>
                <a:cs typeface="Microsoft Sans Serif"/>
              </a:rPr>
              <a:t>V</a:t>
            </a:r>
            <a:r>
              <a:rPr lang="en-US" sz="4400" dirty="0" smtClean="0"/>
              <a:t>ARIANCE  STABILI</a:t>
            </a:r>
            <a:r>
              <a:rPr lang="en-US" sz="4800" dirty="0" smtClean="0">
                <a:latin typeface="Microsoft Sans Serif"/>
                <a:cs typeface="Microsoft Sans Serif"/>
              </a:rPr>
              <a:t>Z</a:t>
            </a:r>
            <a:r>
              <a:rPr lang="en-US" sz="4400" dirty="0" smtClean="0"/>
              <a:t>ATION</a:t>
            </a:r>
            <a:r>
              <a:rPr lang="en-US" sz="4400" dirty="0" smtClean="0">
                <a:latin typeface="Microsoft Sans Serif"/>
                <a:cs typeface="Microsoft Sans Serif"/>
              </a:rPr>
              <a:t/>
            </a:r>
            <a:br>
              <a:rPr lang="en-US" sz="4400" dirty="0" smtClean="0">
                <a:latin typeface="Microsoft Sans Serif"/>
                <a:cs typeface="Microsoft Sans Serif"/>
              </a:rPr>
            </a:br>
            <a:r>
              <a:rPr sz="2250" spc="65" dirty="0" smtClean="0"/>
              <a:t>F</a:t>
            </a:r>
            <a:r>
              <a:rPr sz="2250" spc="-470" dirty="0" smtClean="0"/>
              <a:t> </a:t>
            </a:r>
            <a:r>
              <a:rPr sz="2250" spc="55" dirty="0"/>
              <a:t>O</a:t>
            </a:r>
            <a:r>
              <a:rPr sz="2250" spc="-475" dirty="0"/>
              <a:t> </a:t>
            </a:r>
            <a:r>
              <a:rPr sz="2250" spc="-150" dirty="0"/>
              <a:t>R</a:t>
            </a:r>
            <a:r>
              <a:rPr sz="2250" spc="-465" dirty="0"/>
              <a:t> </a:t>
            </a:r>
            <a:r>
              <a:rPr sz="2250" spc="190" dirty="0"/>
              <a:t>EC</a:t>
            </a:r>
            <a:r>
              <a:rPr sz="2250" spc="-470" dirty="0"/>
              <a:t> </a:t>
            </a:r>
            <a:r>
              <a:rPr sz="2250" spc="95" dirty="0"/>
              <a:t>A</a:t>
            </a:r>
            <a:r>
              <a:rPr sz="2250" spc="-490" dirty="0"/>
              <a:t> </a:t>
            </a:r>
            <a:r>
              <a:rPr sz="2250" spc="-229" dirty="0"/>
              <a:t>S</a:t>
            </a:r>
            <a:r>
              <a:rPr sz="2250" spc="-470" dirty="0"/>
              <a:t> </a:t>
            </a:r>
            <a:r>
              <a:rPr sz="2250" spc="-65" dirty="0"/>
              <a:t>T</a:t>
            </a:r>
            <a:r>
              <a:rPr sz="2250" spc="-465" dirty="0"/>
              <a:t> </a:t>
            </a:r>
            <a:r>
              <a:rPr sz="2250" spc="-295" dirty="0"/>
              <a:t>I</a:t>
            </a:r>
            <a:r>
              <a:rPr sz="2250" spc="-470" dirty="0"/>
              <a:t> </a:t>
            </a:r>
            <a:r>
              <a:rPr sz="2250" spc="35" dirty="0"/>
              <a:t>N</a:t>
            </a:r>
            <a:r>
              <a:rPr sz="2250" spc="-475" dirty="0"/>
              <a:t> </a:t>
            </a:r>
            <a:r>
              <a:rPr sz="2250" spc="5" dirty="0"/>
              <a:t>G	</a:t>
            </a:r>
            <a:r>
              <a:rPr sz="2250" spc="-295" dirty="0"/>
              <a:t>I</a:t>
            </a:r>
            <a:r>
              <a:rPr sz="2250" spc="-465" dirty="0"/>
              <a:t> </a:t>
            </a:r>
            <a:r>
              <a:rPr sz="2250" spc="35" dirty="0"/>
              <a:t>N	</a:t>
            </a:r>
            <a:r>
              <a:rPr sz="2250" spc="-150" dirty="0"/>
              <a:t>R</a:t>
            </a:r>
            <a:endParaRPr sz="2250" dirty="0"/>
          </a:p>
        </p:txBody>
      </p:sp>
    </p:spTree>
    <p:extLst>
      <p:ext uri="{BB962C8B-B14F-4D97-AF65-F5344CB8AC3E}">
        <p14:creationId xmlns:p14="http://schemas.microsoft.com/office/powerpoint/2010/main" val="2566178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15C1E33-7843-DD4E-A777-43ECB6153BE3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2400" y="1060465"/>
            <a:ext cx="7772400" cy="523220"/>
          </a:xfrm>
        </p:spPr>
        <p:txBody>
          <a:bodyPr/>
          <a:lstStyle/>
          <a:p>
            <a:r>
              <a:rPr lang="en-US" dirty="0" smtClean="0"/>
              <a:t>VARIANCE STABILI</a:t>
            </a:r>
            <a:r>
              <a:rPr lang="en-US" sz="2800" dirty="0" smtClean="0">
                <a:latin typeface="Microsoft Sans Serif"/>
                <a:cs typeface="Microsoft Sans Serif"/>
              </a:rPr>
              <a:t>Z</a:t>
            </a:r>
            <a:r>
              <a:rPr lang="en-US" dirty="0" smtClean="0"/>
              <a:t>ATION</a:t>
            </a:r>
            <a:endParaRPr lang="en-US" dirty="0"/>
          </a:p>
        </p:txBody>
      </p:sp>
      <p:sp>
        <p:nvSpPr>
          <p:cNvPr id="9" name="object 5"/>
          <p:cNvSpPr txBox="1"/>
          <p:nvPr/>
        </p:nvSpPr>
        <p:spPr>
          <a:xfrm>
            <a:off x="301793" y="1474546"/>
            <a:ext cx="6840440" cy="148117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11150" marR="17780" indent="-285750">
              <a:lnSpc>
                <a:spcPct val="127299"/>
              </a:lnSpc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spc="-65" dirty="0">
                <a:solidFill>
                  <a:srgbClr val="04182D"/>
                </a:solidFill>
                <a:latin typeface="Lucida Sans Unicode"/>
                <a:cs typeface="Lucida Sans Unicode"/>
              </a:rPr>
              <a:t>If</a:t>
            </a:r>
            <a:r>
              <a:rPr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15" dirty="0">
                <a:solidFill>
                  <a:srgbClr val="04182D"/>
                </a:solidFill>
                <a:latin typeface="Lucida Sans Unicode"/>
                <a:cs typeface="Lucida Sans Unicode"/>
              </a:rPr>
              <a:t>the</a:t>
            </a:r>
            <a:r>
              <a:rPr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90" dirty="0">
                <a:solidFill>
                  <a:srgbClr val="04182D"/>
                </a:solidFill>
                <a:latin typeface="Lucida Sans Unicode"/>
                <a:cs typeface="Lucida Sans Unicode"/>
              </a:rPr>
              <a:t>data</a:t>
            </a:r>
            <a:r>
              <a:rPr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dirty="0">
                <a:solidFill>
                  <a:srgbClr val="04182D"/>
                </a:solidFill>
                <a:latin typeface="Lucida Sans Unicode"/>
                <a:cs typeface="Lucida Sans Unicode"/>
              </a:rPr>
              <a:t>sho</a:t>
            </a:r>
            <a:r>
              <a:rPr dirty="0">
                <a:solidFill>
                  <a:srgbClr val="04182D"/>
                </a:solidFill>
                <a:latin typeface="Microsoft Sans Serif"/>
                <a:cs typeface="Microsoft Sans Serif"/>
              </a:rPr>
              <a:t>w</a:t>
            </a:r>
            <a:r>
              <a:rPr spc="90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pc="-5" dirty="0">
                <a:solidFill>
                  <a:srgbClr val="04182D"/>
                </a:solidFill>
                <a:latin typeface="Lucida Sans Unicode"/>
                <a:cs typeface="Lucida Sans Unicode"/>
              </a:rPr>
              <a:t>increasing</a:t>
            </a:r>
            <a:r>
              <a:rPr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15" dirty="0">
                <a:solidFill>
                  <a:srgbClr val="04182D"/>
                </a:solidFill>
                <a:latin typeface="Microsoft Sans Serif"/>
                <a:cs typeface="Microsoft Sans Serif"/>
              </a:rPr>
              <a:t>v</a:t>
            </a:r>
            <a:r>
              <a:rPr spc="15" dirty="0">
                <a:solidFill>
                  <a:srgbClr val="04182D"/>
                </a:solidFill>
                <a:latin typeface="Lucida Sans Unicode"/>
                <a:cs typeface="Lucida Sans Unicode"/>
              </a:rPr>
              <a:t>ariation</a:t>
            </a:r>
            <a:r>
              <a:rPr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40" dirty="0">
                <a:solidFill>
                  <a:srgbClr val="04182D"/>
                </a:solidFill>
                <a:latin typeface="Lucida Sans Unicode"/>
                <a:cs typeface="Lucida Sans Unicode"/>
              </a:rPr>
              <a:t>as</a:t>
            </a:r>
            <a:r>
              <a:rPr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15" dirty="0">
                <a:solidFill>
                  <a:srgbClr val="04182D"/>
                </a:solidFill>
                <a:latin typeface="Lucida Sans Unicode"/>
                <a:cs typeface="Lucida Sans Unicode"/>
              </a:rPr>
              <a:t>the</a:t>
            </a:r>
            <a:r>
              <a:rPr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-5" dirty="0">
                <a:solidFill>
                  <a:srgbClr val="04182D"/>
                </a:solidFill>
                <a:latin typeface="Lucida Sans Unicode"/>
                <a:cs typeface="Lucida Sans Unicode"/>
              </a:rPr>
              <a:t>le</a:t>
            </a:r>
            <a:r>
              <a:rPr spc="-5" dirty="0">
                <a:solidFill>
                  <a:srgbClr val="04182D"/>
                </a:solidFill>
                <a:latin typeface="Microsoft Sans Serif"/>
                <a:cs typeface="Microsoft Sans Serif"/>
              </a:rPr>
              <a:t>v</a:t>
            </a:r>
            <a:r>
              <a:rPr spc="-5" dirty="0">
                <a:solidFill>
                  <a:srgbClr val="04182D"/>
                </a:solidFill>
                <a:latin typeface="Lucida Sans Unicode"/>
                <a:cs typeface="Lucida Sans Unicode"/>
              </a:rPr>
              <a:t>el</a:t>
            </a:r>
            <a:r>
              <a:rPr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of</a:t>
            </a:r>
            <a:r>
              <a:rPr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15" dirty="0">
                <a:solidFill>
                  <a:srgbClr val="04182D"/>
                </a:solidFill>
                <a:latin typeface="Lucida Sans Unicode"/>
                <a:cs typeface="Lucida Sans Unicode"/>
              </a:rPr>
              <a:t>the</a:t>
            </a:r>
            <a:r>
              <a:rPr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series </a:t>
            </a:r>
            <a:r>
              <a:rPr spc="-78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-5" dirty="0">
                <a:solidFill>
                  <a:srgbClr val="04182D"/>
                </a:solidFill>
                <a:latin typeface="Lucida Sans Unicode"/>
                <a:cs typeface="Lucida Sans Unicode"/>
              </a:rPr>
              <a:t>increases</a:t>
            </a:r>
            <a:r>
              <a:rPr spc="-5" dirty="0">
                <a:solidFill>
                  <a:srgbClr val="04182D"/>
                </a:solidFill>
                <a:latin typeface="Microsoft Sans Serif"/>
                <a:cs typeface="Microsoft Sans Serif"/>
              </a:rPr>
              <a:t>,</a:t>
            </a:r>
            <a:r>
              <a:rPr spc="80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pc="-10" dirty="0">
                <a:solidFill>
                  <a:srgbClr val="04182D"/>
                </a:solidFill>
                <a:latin typeface="Lucida Sans Unicode"/>
                <a:cs typeface="Lucida Sans Unicode"/>
              </a:rPr>
              <a:t>then</a:t>
            </a:r>
            <a:r>
              <a:rPr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-50" dirty="0">
                <a:solidFill>
                  <a:srgbClr val="04182D"/>
                </a:solidFill>
                <a:latin typeface="Verdana"/>
                <a:cs typeface="Verdana"/>
              </a:rPr>
              <a:t>transformation</a:t>
            </a:r>
            <a:r>
              <a:rPr spc="-150" dirty="0">
                <a:solidFill>
                  <a:srgbClr val="04182D"/>
                </a:solidFill>
                <a:latin typeface="Verdana"/>
                <a:cs typeface="Verdana"/>
              </a:rPr>
              <a:t> </a:t>
            </a:r>
            <a:r>
              <a:rPr spc="95" dirty="0">
                <a:solidFill>
                  <a:srgbClr val="04182D"/>
                </a:solidFill>
                <a:latin typeface="Lucida Sans Unicode"/>
                <a:cs typeface="Lucida Sans Unicode"/>
              </a:rPr>
              <a:t>can</a:t>
            </a:r>
            <a:r>
              <a:rPr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45" dirty="0">
                <a:solidFill>
                  <a:srgbClr val="04182D"/>
                </a:solidFill>
                <a:latin typeface="Lucida Sans Unicode"/>
                <a:cs typeface="Lucida Sans Unicode"/>
              </a:rPr>
              <a:t>be</a:t>
            </a:r>
            <a:r>
              <a:rPr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5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sef</a:t>
            </a:r>
            <a:r>
              <a:rPr spc="5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l</a:t>
            </a:r>
            <a:endParaRPr dirty="0">
              <a:latin typeface="Lucida Sans Unicode"/>
              <a:cs typeface="Lucida Sans Unicode"/>
            </a:endParaRPr>
          </a:p>
          <a:p>
            <a:pPr marL="311150" marR="812165" indent="-285750">
              <a:lnSpc>
                <a:spcPct val="1201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i="1" spc="-30" dirty="0">
                <a:solidFill>
                  <a:srgbClr val="04182D"/>
                </a:solidFill>
                <a:latin typeface="Arial"/>
                <a:cs typeface="Arial"/>
              </a:rPr>
              <a:t>y</a:t>
            </a:r>
            <a:r>
              <a:rPr spc="97" baseline="-12919" dirty="0">
                <a:solidFill>
                  <a:srgbClr val="04182D"/>
                </a:solidFill>
                <a:latin typeface="Tahoma"/>
                <a:cs typeface="Tahoma"/>
              </a:rPr>
              <a:t>1</a:t>
            </a:r>
            <a:r>
              <a:rPr spc="-75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pc="-4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pc="-80" dirty="0">
                <a:solidFill>
                  <a:srgbClr val="04182D"/>
                </a:solidFill>
                <a:latin typeface="Tahoma"/>
                <a:cs typeface="Tahoma"/>
              </a:rPr>
              <a:t>...</a:t>
            </a:r>
            <a:r>
              <a:rPr spc="-75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pc="-4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i="1" spc="-30" dirty="0">
                <a:solidFill>
                  <a:srgbClr val="04182D"/>
                </a:solidFill>
                <a:latin typeface="Arial"/>
                <a:cs typeface="Arial"/>
              </a:rPr>
              <a:t>y</a:t>
            </a:r>
            <a:r>
              <a:rPr i="1" spc="419" baseline="-12919" dirty="0">
                <a:solidFill>
                  <a:srgbClr val="04182D"/>
                </a:solidFill>
                <a:latin typeface="Arial"/>
                <a:cs typeface="Arial"/>
              </a:rPr>
              <a:t>n</a:t>
            </a:r>
            <a:r>
              <a:rPr spc="-55" dirty="0">
                <a:solidFill>
                  <a:srgbClr val="04182D"/>
                </a:solidFill>
                <a:latin typeface="Microsoft Sans Serif"/>
                <a:cs typeface="Microsoft Sans Serif"/>
              </a:rPr>
              <a:t>:</a:t>
            </a:r>
            <a:r>
              <a:rPr spc="8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o</a:t>
            </a:r>
            <a:r>
              <a:rPr spc="-80" dirty="0">
                <a:solidFill>
                  <a:srgbClr val="04182D"/>
                </a:solidFill>
                <a:latin typeface="Lucida Sans Unicode"/>
                <a:cs typeface="Lucida Sans Unicode"/>
              </a:rPr>
              <a:t>r</a:t>
            </a:r>
            <a:r>
              <a:rPr spc="-75" dirty="0">
                <a:solidFill>
                  <a:srgbClr val="04182D"/>
                </a:solidFill>
                <a:latin typeface="Lucida Sans Unicode"/>
                <a:cs typeface="Lucida Sans Unicode"/>
              </a:rPr>
              <a:t>i</a:t>
            </a:r>
            <a:r>
              <a:rPr spc="45" dirty="0">
                <a:solidFill>
                  <a:srgbClr val="04182D"/>
                </a:solidFill>
                <a:latin typeface="Lucida Sans Unicode"/>
                <a:cs typeface="Lucida Sans Unicode"/>
              </a:rPr>
              <a:t>g</a:t>
            </a:r>
            <a:r>
              <a:rPr spc="-65" dirty="0">
                <a:solidFill>
                  <a:srgbClr val="04182D"/>
                </a:solidFill>
                <a:latin typeface="Lucida Sans Unicode"/>
                <a:cs typeface="Lucida Sans Unicode"/>
              </a:rPr>
              <a:t>i</a:t>
            </a:r>
            <a:r>
              <a:rPr spc="-60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pc="-95" dirty="0">
                <a:solidFill>
                  <a:srgbClr val="04182D"/>
                </a:solidFill>
                <a:latin typeface="Lucida Sans Unicode"/>
                <a:cs typeface="Lucida Sans Unicode"/>
              </a:rPr>
              <a:t>l</a:t>
            </a:r>
            <a:r>
              <a:rPr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-20" dirty="0">
                <a:solidFill>
                  <a:srgbClr val="04182D"/>
                </a:solidFill>
                <a:latin typeface="Lucida Sans Unicode"/>
                <a:cs typeface="Lucida Sans Unicode"/>
              </a:rPr>
              <a:t>o</a:t>
            </a:r>
            <a:r>
              <a:rPr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b</a:t>
            </a:r>
            <a:r>
              <a:rPr spc="-114" dirty="0">
                <a:solidFill>
                  <a:srgbClr val="04182D"/>
                </a:solidFill>
                <a:latin typeface="Lucida Sans Unicode"/>
                <a:cs typeface="Lucida Sans Unicode"/>
              </a:rPr>
              <a:t>s</a:t>
            </a:r>
            <a:r>
              <a:rPr spc="60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spc="-80" dirty="0">
                <a:solidFill>
                  <a:srgbClr val="04182D"/>
                </a:solidFill>
                <a:latin typeface="Lucida Sans Unicode"/>
                <a:cs typeface="Lucida Sans Unicode"/>
              </a:rPr>
              <a:t>r</a:t>
            </a:r>
            <a:r>
              <a:rPr spc="70" dirty="0">
                <a:solidFill>
                  <a:srgbClr val="04182D"/>
                </a:solidFill>
                <a:latin typeface="Microsoft Sans Serif"/>
                <a:cs typeface="Microsoft Sans Serif"/>
              </a:rPr>
              <a:t>v</a:t>
            </a:r>
            <a:r>
              <a:rPr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t</a:t>
            </a:r>
            <a:r>
              <a:rPr spc="-75" dirty="0">
                <a:solidFill>
                  <a:srgbClr val="04182D"/>
                </a:solidFill>
                <a:latin typeface="Lucida Sans Unicode"/>
                <a:cs typeface="Lucida Sans Unicode"/>
              </a:rPr>
              <a:t>i</a:t>
            </a:r>
            <a:r>
              <a:rPr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o</a:t>
            </a:r>
            <a:r>
              <a:rPr spc="-60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pc="-114" dirty="0">
                <a:solidFill>
                  <a:srgbClr val="04182D"/>
                </a:solidFill>
                <a:latin typeface="Lucida Sans Unicode"/>
                <a:cs typeface="Lucida Sans Unicode"/>
              </a:rPr>
              <a:t>s</a:t>
            </a:r>
            <a:r>
              <a:rPr spc="-55" dirty="0">
                <a:solidFill>
                  <a:srgbClr val="04182D"/>
                </a:solidFill>
                <a:latin typeface="Microsoft Sans Serif"/>
                <a:cs typeface="Microsoft Sans Serif"/>
              </a:rPr>
              <a:t>,</a:t>
            </a:r>
            <a:r>
              <a:rPr spc="80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i="1" spc="-10" dirty="0">
                <a:solidFill>
                  <a:srgbClr val="04182D"/>
                </a:solidFill>
                <a:latin typeface="Arial"/>
                <a:cs typeface="Arial"/>
              </a:rPr>
              <a:t>w</a:t>
            </a:r>
            <a:r>
              <a:rPr spc="97" baseline="-12919" dirty="0">
                <a:solidFill>
                  <a:srgbClr val="04182D"/>
                </a:solidFill>
                <a:latin typeface="Tahoma"/>
                <a:cs typeface="Tahoma"/>
              </a:rPr>
              <a:t>1</a:t>
            </a:r>
            <a:r>
              <a:rPr spc="-75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pc="-4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pc="-80" dirty="0">
                <a:solidFill>
                  <a:srgbClr val="04182D"/>
                </a:solidFill>
                <a:latin typeface="Tahoma"/>
                <a:cs typeface="Tahoma"/>
              </a:rPr>
              <a:t>...</a:t>
            </a:r>
            <a:r>
              <a:rPr spc="-75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pc="-4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i="1" spc="-10" dirty="0">
                <a:solidFill>
                  <a:srgbClr val="04182D"/>
                </a:solidFill>
                <a:latin typeface="Arial"/>
                <a:cs typeface="Arial"/>
              </a:rPr>
              <a:t>w</a:t>
            </a:r>
            <a:r>
              <a:rPr i="1" spc="419" baseline="-12919" dirty="0">
                <a:solidFill>
                  <a:srgbClr val="04182D"/>
                </a:solidFill>
                <a:latin typeface="Arial"/>
                <a:cs typeface="Arial"/>
              </a:rPr>
              <a:t>n</a:t>
            </a:r>
            <a:r>
              <a:rPr spc="-55" dirty="0">
                <a:solidFill>
                  <a:srgbClr val="04182D"/>
                </a:solidFill>
                <a:latin typeface="Microsoft Sans Serif"/>
                <a:cs typeface="Microsoft Sans Serif"/>
              </a:rPr>
              <a:t>:</a:t>
            </a:r>
            <a:r>
              <a:rPr spc="8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t</a:t>
            </a:r>
            <a:r>
              <a:rPr spc="-145" dirty="0">
                <a:solidFill>
                  <a:srgbClr val="04182D"/>
                </a:solidFill>
                <a:latin typeface="Lucida Sans Unicode"/>
                <a:cs typeface="Lucida Sans Unicode"/>
              </a:rPr>
              <a:t>r</a:t>
            </a:r>
            <a:r>
              <a:rPr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pc="-60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pc="-114" dirty="0">
                <a:solidFill>
                  <a:srgbClr val="04182D"/>
                </a:solidFill>
                <a:latin typeface="Lucida Sans Unicode"/>
                <a:cs typeface="Lucida Sans Unicode"/>
              </a:rPr>
              <a:t>s</a:t>
            </a:r>
            <a:r>
              <a:rPr spc="-105" dirty="0">
                <a:solidFill>
                  <a:srgbClr val="04182D"/>
                </a:solidFill>
                <a:latin typeface="Lucida Sans Unicode"/>
                <a:cs typeface="Lucida Sans Unicode"/>
              </a:rPr>
              <a:t>f</a:t>
            </a:r>
            <a:r>
              <a:rPr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o</a:t>
            </a:r>
            <a:r>
              <a:rPr spc="-80" dirty="0">
                <a:solidFill>
                  <a:srgbClr val="04182D"/>
                </a:solidFill>
                <a:latin typeface="Lucida Sans Unicode"/>
                <a:cs typeface="Lucida Sans Unicode"/>
              </a:rPr>
              <a:t>r</a:t>
            </a:r>
            <a:r>
              <a:rPr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m</a:t>
            </a:r>
            <a:r>
              <a:rPr spc="90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d  </a:t>
            </a:r>
            <a:r>
              <a:rPr spc="-15" dirty="0">
                <a:solidFill>
                  <a:srgbClr val="04182D"/>
                </a:solidFill>
                <a:latin typeface="Lucida Sans Unicode"/>
                <a:cs typeface="Lucida Sans Unicode"/>
              </a:rPr>
              <a:t>obser</a:t>
            </a:r>
            <a:r>
              <a:rPr spc="-15" dirty="0">
                <a:solidFill>
                  <a:srgbClr val="04182D"/>
                </a:solidFill>
                <a:latin typeface="Microsoft Sans Serif"/>
                <a:cs typeface="Microsoft Sans Serif"/>
              </a:rPr>
              <a:t>v</a:t>
            </a:r>
            <a:r>
              <a:rPr spc="-15" dirty="0">
                <a:solidFill>
                  <a:srgbClr val="04182D"/>
                </a:solidFill>
                <a:latin typeface="Lucida Sans Unicode"/>
                <a:cs typeface="Lucida Sans Unicode"/>
              </a:rPr>
              <a:t>ations</a:t>
            </a:r>
            <a:endParaRPr dirty="0">
              <a:latin typeface="Lucida Sans Unicode"/>
              <a:cs typeface="Lucida Sans Unicode"/>
            </a:endParaRPr>
          </a:p>
        </p:txBody>
      </p:sp>
      <p:graphicFrame>
        <p:nvGraphicFramePr>
          <p:cNvPr id="11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644914"/>
              </p:ext>
            </p:extLst>
          </p:nvPr>
        </p:nvGraphicFramePr>
        <p:xfrm>
          <a:off x="301793" y="2955720"/>
          <a:ext cx="5003736" cy="18596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1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4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8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0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99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800" spc="50" dirty="0">
                          <a:solidFill>
                            <a:srgbClr val="04182D"/>
                          </a:solidFill>
                          <a:latin typeface="Lucida Sans Unicode"/>
                          <a:cs typeface="Lucida Sans Unicode"/>
                        </a:rPr>
                        <a:t>Sq</a:t>
                      </a:r>
                      <a:r>
                        <a:rPr sz="1800" spc="50" dirty="0">
                          <a:solidFill>
                            <a:srgbClr val="04182D"/>
                          </a:solidFill>
                          <a:latin typeface="Microsoft Sans Serif"/>
                          <a:cs typeface="Microsoft Sans Serif"/>
                        </a:rPr>
                        <a:t>u</a:t>
                      </a:r>
                      <a:r>
                        <a:rPr sz="1800" spc="50" dirty="0">
                          <a:solidFill>
                            <a:srgbClr val="04182D"/>
                          </a:solidFill>
                          <a:latin typeface="Lucida Sans Unicode"/>
                          <a:cs typeface="Lucida Sans Unicode"/>
                        </a:rPr>
                        <a:t>are</a:t>
                      </a:r>
                      <a:r>
                        <a:rPr sz="1800" spc="-75" dirty="0">
                          <a:solidFill>
                            <a:srgbClr val="0418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spc="-45" dirty="0">
                          <a:solidFill>
                            <a:srgbClr val="04182D"/>
                          </a:solidFill>
                          <a:latin typeface="Lucida Sans Unicode"/>
                          <a:cs typeface="Lucida Sans Unicode"/>
                        </a:rPr>
                        <a:t>root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9398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685"/>
                        </a:spcBef>
                        <a:tabLst>
                          <a:tab pos="645795" algn="l"/>
                        </a:tabLst>
                      </a:pPr>
                      <a:r>
                        <a:rPr sz="2300" i="1" spc="9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w</a:t>
                      </a:r>
                      <a:r>
                        <a:rPr sz="2400" i="1" spc="135" baseline="-12919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	</a:t>
                      </a:r>
                      <a:r>
                        <a:rPr sz="2300" spc="17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sz="2300" spc="-15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3400" spc="247" baseline="-896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√</a:t>
                      </a:r>
                      <a:r>
                        <a:rPr sz="2300" i="1" spc="16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2400" i="1" spc="247" baseline="-12919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2400" baseline="-12919">
                        <a:latin typeface="Arial"/>
                        <a:cs typeface="Arial"/>
                      </a:endParaRPr>
                    </a:p>
                  </a:txBody>
                  <a:tcPr marL="0" marR="0" marT="63648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30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↓</a:t>
                      </a:r>
                      <a:endParaRPr sz="2300">
                        <a:latin typeface="Tahoma"/>
                        <a:cs typeface="Tahoma"/>
                      </a:endParaRPr>
                    </a:p>
                  </a:txBody>
                  <a:tcPr marL="0" marR="0" marT="63648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99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800" spc="110" dirty="0">
                          <a:solidFill>
                            <a:srgbClr val="04182D"/>
                          </a:solidFill>
                          <a:latin typeface="Lucida Sans Unicode"/>
                          <a:cs typeface="Lucida Sans Unicode"/>
                        </a:rPr>
                        <a:t>C</a:t>
                      </a:r>
                      <a:r>
                        <a:rPr sz="1800" spc="110" dirty="0">
                          <a:solidFill>
                            <a:srgbClr val="04182D"/>
                          </a:solidFill>
                          <a:latin typeface="Microsoft Sans Serif"/>
                          <a:cs typeface="Microsoft Sans Serif"/>
                        </a:rPr>
                        <a:t>u</a:t>
                      </a:r>
                      <a:r>
                        <a:rPr sz="1800" spc="110" dirty="0">
                          <a:solidFill>
                            <a:srgbClr val="04182D"/>
                          </a:solidFill>
                          <a:latin typeface="Lucida Sans Unicode"/>
                          <a:cs typeface="Lucida Sans Unicode"/>
                        </a:rPr>
                        <a:t>be</a:t>
                      </a:r>
                      <a:r>
                        <a:rPr sz="1800" spc="-80" dirty="0">
                          <a:solidFill>
                            <a:srgbClr val="0418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spc="-45" dirty="0">
                          <a:solidFill>
                            <a:srgbClr val="04182D"/>
                          </a:solidFill>
                          <a:latin typeface="Lucida Sans Unicode"/>
                          <a:cs typeface="Lucida Sans Unicode"/>
                        </a:rPr>
                        <a:t>root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9398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685"/>
                        </a:spcBef>
                        <a:tabLst>
                          <a:tab pos="645795" algn="l"/>
                        </a:tabLst>
                      </a:pPr>
                      <a:r>
                        <a:rPr sz="2300" i="1" spc="-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w</a:t>
                      </a:r>
                      <a:r>
                        <a:rPr sz="2400" i="1" baseline="-12919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	</a:t>
                      </a:r>
                      <a:r>
                        <a:rPr sz="230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sz="2300" spc="-19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3400" spc="-2475" baseline="-896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√</a:t>
                      </a:r>
                      <a:r>
                        <a:rPr sz="1700" baseline="23297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3 </a:t>
                      </a:r>
                      <a:r>
                        <a:rPr sz="1700" spc="-157" baseline="23297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300" i="1" spc="-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2400" i="1" baseline="-12919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2400" baseline="-12919" dirty="0">
                        <a:latin typeface="Arial"/>
                        <a:cs typeface="Arial"/>
                      </a:endParaRPr>
                    </a:p>
                  </a:txBody>
                  <a:tcPr marL="0" marR="0" marT="63648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800" spc="-5" dirty="0">
                          <a:solidFill>
                            <a:srgbClr val="04182D"/>
                          </a:solidFill>
                          <a:latin typeface="Lucida Sans Unicode"/>
                          <a:cs typeface="Lucida Sans Unicode"/>
                        </a:rPr>
                        <a:t>Increasing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9398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99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800" spc="-10" dirty="0">
                          <a:solidFill>
                            <a:srgbClr val="04182D"/>
                          </a:solidFill>
                          <a:latin typeface="Lucida Sans Unicode"/>
                          <a:cs typeface="Lucida Sans Unicode"/>
                        </a:rPr>
                        <a:t>Logarithm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9398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685"/>
                        </a:spcBef>
                        <a:tabLst>
                          <a:tab pos="645795" algn="l"/>
                        </a:tabLst>
                      </a:pPr>
                      <a:r>
                        <a:rPr sz="2300" i="1" spc="9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w</a:t>
                      </a:r>
                      <a:r>
                        <a:rPr sz="2400" i="1" spc="135" baseline="-12919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	</a:t>
                      </a:r>
                      <a:r>
                        <a:rPr sz="2300" spc="17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sz="2300" spc="-14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300" spc="3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log(</a:t>
                      </a:r>
                      <a:r>
                        <a:rPr sz="2300" i="1" spc="3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2400" i="1" spc="44" baseline="-12919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2300" spc="3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)</a:t>
                      </a:r>
                      <a:endParaRPr sz="2300" dirty="0">
                        <a:latin typeface="Tahoma"/>
                        <a:cs typeface="Tahoma"/>
                      </a:endParaRPr>
                    </a:p>
                  </a:txBody>
                  <a:tcPr marL="0" marR="0" marT="63648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800" spc="-5" dirty="0">
                          <a:solidFill>
                            <a:srgbClr val="04182D"/>
                          </a:solidFill>
                          <a:latin typeface="Lucida Sans Unicode"/>
                          <a:cs typeface="Lucida Sans Unicode"/>
                        </a:rPr>
                        <a:t>Strength</a:t>
                      </a:r>
                      <a:endParaRPr sz="1800" dirty="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9398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99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800" spc="-25" dirty="0">
                          <a:solidFill>
                            <a:srgbClr val="04182D"/>
                          </a:solidFill>
                          <a:latin typeface="Lucida Sans Unicode"/>
                          <a:cs typeface="Lucida Sans Unicode"/>
                        </a:rPr>
                        <a:t>In</a:t>
                      </a:r>
                      <a:r>
                        <a:rPr sz="1800" spc="-25" dirty="0">
                          <a:solidFill>
                            <a:srgbClr val="04182D"/>
                          </a:solidFill>
                          <a:latin typeface="Microsoft Sans Serif"/>
                          <a:cs typeface="Microsoft Sans Serif"/>
                        </a:rPr>
                        <a:t>v</a:t>
                      </a:r>
                      <a:r>
                        <a:rPr sz="1800" spc="-25" dirty="0">
                          <a:solidFill>
                            <a:srgbClr val="04182D"/>
                          </a:solidFill>
                          <a:latin typeface="Lucida Sans Unicode"/>
                          <a:cs typeface="Lucida Sans Unicode"/>
                        </a:rPr>
                        <a:t>erse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9398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685"/>
                        </a:spcBef>
                        <a:tabLst>
                          <a:tab pos="645795" algn="l"/>
                        </a:tabLst>
                      </a:pPr>
                      <a:r>
                        <a:rPr sz="2300" i="1" spc="9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w</a:t>
                      </a:r>
                      <a:r>
                        <a:rPr sz="2400" i="1" spc="135" baseline="-12919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	</a:t>
                      </a:r>
                      <a:r>
                        <a:rPr sz="2300" spc="17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sz="2300" spc="-145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300" spc="11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−1/</a:t>
                      </a:r>
                      <a:r>
                        <a:rPr sz="2300" i="1" spc="11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2400" i="1" spc="165" baseline="-12919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2400" baseline="-12919">
                        <a:latin typeface="Arial"/>
                        <a:cs typeface="Arial"/>
                      </a:endParaRPr>
                    </a:p>
                  </a:txBody>
                  <a:tcPr marL="0" marR="0" marT="63648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300" dirty="0">
                          <a:solidFill>
                            <a:srgbClr val="04182D"/>
                          </a:solidFill>
                          <a:latin typeface="Tahoma"/>
                          <a:cs typeface="Tahoma"/>
                        </a:rPr>
                        <a:t>↓</a:t>
                      </a:r>
                      <a:endParaRPr sz="2300" dirty="0">
                        <a:latin typeface="Tahoma"/>
                        <a:cs typeface="Tahoma"/>
                      </a:endParaRPr>
                    </a:p>
                  </a:txBody>
                  <a:tcPr marL="0" marR="0" marT="63648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8367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15C1E33-7843-DD4E-A777-43ECB6153BE3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2400" y="1060465"/>
            <a:ext cx="7772400" cy="523220"/>
          </a:xfrm>
        </p:spPr>
        <p:txBody>
          <a:bodyPr/>
          <a:lstStyle/>
          <a:p>
            <a:r>
              <a:rPr lang="en-US" dirty="0" smtClean="0"/>
              <a:t>VARIANCE STABILI</a:t>
            </a:r>
            <a:r>
              <a:rPr lang="en-US" sz="2800" dirty="0" smtClean="0">
                <a:latin typeface="Microsoft Sans Serif"/>
                <a:cs typeface="Microsoft Sans Serif"/>
              </a:rPr>
              <a:t>Z</a:t>
            </a:r>
            <a:r>
              <a:rPr lang="en-US" dirty="0" smtClean="0"/>
              <a:t>ATION</a:t>
            </a:r>
            <a:endParaRPr lang="en-US" dirty="0"/>
          </a:p>
        </p:txBody>
      </p:sp>
      <p:sp>
        <p:nvSpPr>
          <p:cNvPr id="7" name="object 3"/>
          <p:cNvSpPr/>
          <p:nvPr/>
        </p:nvSpPr>
        <p:spPr>
          <a:xfrm>
            <a:off x="232788" y="1560720"/>
            <a:ext cx="5956998" cy="951368"/>
          </a:xfrm>
          <a:custGeom>
            <a:avLst/>
            <a:gdLst/>
            <a:ahLst/>
            <a:cxnLst/>
            <a:rect l="l" t="t" r="r" b="b"/>
            <a:pathLst>
              <a:path w="9887585" h="1433195">
                <a:moveTo>
                  <a:pt x="9810694" y="1432927"/>
                </a:moveTo>
                <a:lnTo>
                  <a:pt x="76505" y="1432927"/>
                </a:lnTo>
                <a:lnTo>
                  <a:pt x="71180" y="1432402"/>
                </a:lnTo>
                <a:lnTo>
                  <a:pt x="31920" y="1416140"/>
                </a:lnTo>
                <a:lnTo>
                  <a:pt x="4175" y="1377413"/>
                </a:lnTo>
                <a:lnTo>
                  <a:pt x="0" y="1356422"/>
                </a:lnTo>
                <a:lnTo>
                  <a:pt x="0" y="1351045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1356422"/>
                </a:lnTo>
                <a:lnTo>
                  <a:pt x="9870412" y="1401006"/>
                </a:lnTo>
                <a:lnTo>
                  <a:pt x="9831684" y="1428751"/>
                </a:lnTo>
                <a:lnTo>
                  <a:pt x="9816018" y="1432402"/>
                </a:lnTo>
                <a:lnTo>
                  <a:pt x="9810694" y="1432927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8" name="object 4"/>
          <p:cNvSpPr txBox="1"/>
          <p:nvPr/>
        </p:nvSpPr>
        <p:spPr>
          <a:xfrm>
            <a:off x="328346" y="1562036"/>
            <a:ext cx="6896100" cy="8367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3165475" indent="-274955">
              <a:lnSpc>
                <a:spcPct val="141800"/>
              </a:lnSpc>
              <a:spcBef>
                <a:spcPts val="95"/>
              </a:spcBef>
            </a:pPr>
            <a:r>
              <a:rPr sz="1200" spc="-5" dirty="0">
                <a:solidFill>
                  <a:srgbClr val="04182D"/>
                </a:solidFill>
                <a:latin typeface="Courier New"/>
                <a:cs typeface="Courier New"/>
              </a:rPr>
              <a:t>autoplot(usmelec) </a:t>
            </a:r>
            <a:r>
              <a:rPr sz="1200" dirty="0">
                <a:solidFill>
                  <a:srgbClr val="04182D"/>
                </a:solidFill>
                <a:latin typeface="Courier New"/>
                <a:cs typeface="Courier New"/>
              </a:rPr>
              <a:t>+ </a:t>
            </a:r>
            <a:r>
              <a:rPr sz="12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4182D"/>
                </a:solidFill>
                <a:latin typeface="Courier New"/>
                <a:cs typeface="Courier New"/>
              </a:rPr>
              <a:t>xlab(</a:t>
            </a:r>
            <a:r>
              <a:rPr sz="1200" spc="-5" dirty="0">
                <a:solidFill>
                  <a:srgbClr val="BE2F72"/>
                </a:solidFill>
                <a:latin typeface="Courier New"/>
                <a:cs typeface="Courier New"/>
              </a:rPr>
              <a:t>"Year"</a:t>
            </a:r>
            <a:r>
              <a:rPr sz="1200" spc="-5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r>
              <a:rPr sz="120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4182D"/>
                </a:solidFill>
                <a:latin typeface="Courier New"/>
                <a:cs typeface="Courier New"/>
              </a:rPr>
              <a:t>+</a:t>
            </a:r>
            <a:r>
              <a:rPr sz="120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4182D"/>
                </a:solidFill>
                <a:latin typeface="Courier New"/>
                <a:cs typeface="Courier New"/>
              </a:rPr>
              <a:t>ylab(</a:t>
            </a:r>
            <a:r>
              <a:rPr sz="1200" spc="-5" dirty="0">
                <a:solidFill>
                  <a:srgbClr val="BE2F72"/>
                </a:solidFill>
                <a:latin typeface="Courier New"/>
                <a:cs typeface="Courier New"/>
              </a:rPr>
              <a:t>""</a:t>
            </a:r>
            <a:r>
              <a:rPr sz="1200" spc="-5" dirty="0">
                <a:solidFill>
                  <a:srgbClr val="04182D"/>
                </a:solidFill>
                <a:latin typeface="Courier New"/>
                <a:cs typeface="Courier New"/>
              </a:rPr>
              <a:t>) </a:t>
            </a:r>
            <a:r>
              <a:rPr sz="1200" dirty="0">
                <a:solidFill>
                  <a:srgbClr val="04182D"/>
                </a:solidFill>
                <a:latin typeface="Courier New"/>
                <a:cs typeface="Courier New"/>
              </a:rPr>
              <a:t>+</a:t>
            </a:r>
            <a:endParaRPr sz="1200" dirty="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  <a:spcBef>
                <a:spcPts val="905"/>
              </a:spcBef>
            </a:pPr>
            <a:r>
              <a:rPr sz="1200" spc="-5" dirty="0">
                <a:solidFill>
                  <a:srgbClr val="04182D"/>
                </a:solidFill>
                <a:latin typeface="Courier New"/>
                <a:cs typeface="Courier New"/>
              </a:rPr>
              <a:t>ggtitle(</a:t>
            </a:r>
            <a:r>
              <a:rPr sz="1200" spc="-5" dirty="0">
                <a:solidFill>
                  <a:srgbClr val="BE2F72"/>
                </a:solidFill>
                <a:latin typeface="Courier New"/>
                <a:cs typeface="Courier New"/>
              </a:rPr>
              <a:t>"US</a:t>
            </a:r>
            <a:r>
              <a:rPr sz="1200" spc="1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BE2F72"/>
                </a:solidFill>
                <a:latin typeface="Courier New"/>
                <a:cs typeface="Courier New"/>
              </a:rPr>
              <a:t>monthly</a:t>
            </a:r>
            <a:r>
              <a:rPr sz="1200" spc="1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BE2F72"/>
                </a:solidFill>
                <a:latin typeface="Courier New"/>
                <a:cs typeface="Courier New"/>
              </a:rPr>
              <a:t>net</a:t>
            </a:r>
            <a:r>
              <a:rPr sz="1200" spc="1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BE2F72"/>
                </a:solidFill>
                <a:latin typeface="Courier New"/>
                <a:cs typeface="Courier New"/>
              </a:rPr>
              <a:t>electricity</a:t>
            </a:r>
            <a:r>
              <a:rPr sz="1200" spc="1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BE2F72"/>
                </a:solidFill>
                <a:latin typeface="Courier New"/>
                <a:cs typeface="Courier New"/>
              </a:rPr>
              <a:t>generation"</a:t>
            </a:r>
            <a:r>
              <a:rPr sz="1200" spc="-5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1200" dirty="0">
              <a:latin typeface="Courier New"/>
              <a:cs typeface="Courier New"/>
            </a:endParaRPr>
          </a:p>
        </p:txBody>
      </p:sp>
      <p:pic>
        <p:nvPicPr>
          <p:cNvPr id="10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788" y="2584458"/>
            <a:ext cx="5645498" cy="230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405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15C1E33-7843-DD4E-A777-43ECB6153BE3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2400" y="1060465"/>
            <a:ext cx="7772400" cy="523220"/>
          </a:xfrm>
        </p:spPr>
        <p:txBody>
          <a:bodyPr/>
          <a:lstStyle/>
          <a:p>
            <a:r>
              <a:rPr lang="en-US" dirty="0" smtClean="0"/>
              <a:t>VARIANCE STABILI</a:t>
            </a:r>
            <a:r>
              <a:rPr lang="en-US" sz="2800" dirty="0" smtClean="0">
                <a:latin typeface="Microsoft Sans Serif"/>
                <a:cs typeface="Microsoft Sans Serif"/>
              </a:rPr>
              <a:t>Z</a:t>
            </a:r>
            <a:r>
              <a:rPr lang="en-US" dirty="0" smtClean="0"/>
              <a:t>ATION</a:t>
            </a:r>
            <a:endParaRPr lang="en-US" dirty="0"/>
          </a:p>
        </p:txBody>
      </p:sp>
      <p:sp>
        <p:nvSpPr>
          <p:cNvPr id="7" name="object 3"/>
          <p:cNvSpPr/>
          <p:nvPr/>
        </p:nvSpPr>
        <p:spPr>
          <a:xfrm>
            <a:off x="232788" y="1560720"/>
            <a:ext cx="5956998" cy="951368"/>
          </a:xfrm>
          <a:custGeom>
            <a:avLst/>
            <a:gdLst/>
            <a:ahLst/>
            <a:cxnLst/>
            <a:rect l="l" t="t" r="r" b="b"/>
            <a:pathLst>
              <a:path w="9887585" h="1433195">
                <a:moveTo>
                  <a:pt x="9810694" y="1432927"/>
                </a:moveTo>
                <a:lnTo>
                  <a:pt x="76505" y="1432927"/>
                </a:lnTo>
                <a:lnTo>
                  <a:pt x="71180" y="1432402"/>
                </a:lnTo>
                <a:lnTo>
                  <a:pt x="31920" y="1416140"/>
                </a:lnTo>
                <a:lnTo>
                  <a:pt x="4175" y="1377413"/>
                </a:lnTo>
                <a:lnTo>
                  <a:pt x="0" y="1356422"/>
                </a:lnTo>
                <a:lnTo>
                  <a:pt x="0" y="1351045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1356422"/>
                </a:lnTo>
                <a:lnTo>
                  <a:pt x="9870412" y="1401006"/>
                </a:lnTo>
                <a:lnTo>
                  <a:pt x="9831684" y="1428751"/>
                </a:lnTo>
                <a:lnTo>
                  <a:pt x="9816018" y="1432402"/>
                </a:lnTo>
                <a:lnTo>
                  <a:pt x="9810694" y="1432927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9" name="object 4"/>
          <p:cNvSpPr txBox="1"/>
          <p:nvPr/>
        </p:nvSpPr>
        <p:spPr>
          <a:xfrm>
            <a:off x="374015" y="1557211"/>
            <a:ext cx="6483985" cy="9548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2753360" indent="-274955">
              <a:lnSpc>
                <a:spcPct val="141800"/>
              </a:lnSpc>
              <a:spcBef>
                <a:spcPts val="95"/>
              </a:spcBef>
            </a:pP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autoplot(usmelec^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0.5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)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+ 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xlab(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"Year"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r>
              <a:rPr sz="140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+</a:t>
            </a:r>
            <a:r>
              <a:rPr sz="140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ylab(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""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)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+</a:t>
            </a:r>
            <a:endParaRPr sz="1400" dirty="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  <a:spcBef>
                <a:spcPts val="905"/>
              </a:spcBef>
            </a:pP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ggtitle(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"Square</a:t>
            </a:r>
            <a:r>
              <a:rPr sz="1400" spc="1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root</a:t>
            </a:r>
            <a:r>
              <a:rPr sz="1400" spc="1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electricity</a:t>
            </a:r>
            <a:r>
              <a:rPr sz="1400" spc="1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generation"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1400" dirty="0">
              <a:latin typeface="Courier New"/>
              <a:cs typeface="Courier New"/>
            </a:endParaRPr>
          </a:p>
        </p:txBody>
      </p:sp>
      <p:pic>
        <p:nvPicPr>
          <p:cNvPr id="11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788" y="2543542"/>
            <a:ext cx="5743509" cy="230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234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15C1E33-7843-DD4E-A777-43ECB6153BE3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2400" y="1060465"/>
            <a:ext cx="7772400" cy="523220"/>
          </a:xfrm>
        </p:spPr>
        <p:txBody>
          <a:bodyPr/>
          <a:lstStyle/>
          <a:p>
            <a:r>
              <a:rPr lang="en-US" dirty="0" smtClean="0"/>
              <a:t>VARIANCE STABILI</a:t>
            </a:r>
            <a:r>
              <a:rPr lang="en-US" sz="2800" dirty="0" smtClean="0">
                <a:latin typeface="Microsoft Sans Serif"/>
                <a:cs typeface="Microsoft Sans Serif"/>
              </a:rPr>
              <a:t>Z</a:t>
            </a:r>
            <a:r>
              <a:rPr lang="en-US" dirty="0" smtClean="0"/>
              <a:t>ATION</a:t>
            </a:r>
            <a:endParaRPr lang="en-US" dirty="0"/>
          </a:p>
        </p:txBody>
      </p:sp>
      <p:sp>
        <p:nvSpPr>
          <p:cNvPr id="7" name="object 3"/>
          <p:cNvSpPr/>
          <p:nvPr/>
        </p:nvSpPr>
        <p:spPr>
          <a:xfrm>
            <a:off x="232788" y="1560720"/>
            <a:ext cx="5956998" cy="951368"/>
          </a:xfrm>
          <a:custGeom>
            <a:avLst/>
            <a:gdLst/>
            <a:ahLst/>
            <a:cxnLst/>
            <a:rect l="l" t="t" r="r" b="b"/>
            <a:pathLst>
              <a:path w="9887585" h="1433195">
                <a:moveTo>
                  <a:pt x="9810694" y="1432927"/>
                </a:moveTo>
                <a:lnTo>
                  <a:pt x="76505" y="1432927"/>
                </a:lnTo>
                <a:lnTo>
                  <a:pt x="71180" y="1432402"/>
                </a:lnTo>
                <a:lnTo>
                  <a:pt x="31920" y="1416140"/>
                </a:lnTo>
                <a:lnTo>
                  <a:pt x="4175" y="1377413"/>
                </a:lnTo>
                <a:lnTo>
                  <a:pt x="0" y="1356422"/>
                </a:lnTo>
                <a:lnTo>
                  <a:pt x="0" y="1351045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1356422"/>
                </a:lnTo>
                <a:lnTo>
                  <a:pt x="9870412" y="1401006"/>
                </a:lnTo>
                <a:lnTo>
                  <a:pt x="9831684" y="1428751"/>
                </a:lnTo>
                <a:lnTo>
                  <a:pt x="9816018" y="1432402"/>
                </a:lnTo>
                <a:lnTo>
                  <a:pt x="9810694" y="1432927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10" name="object 4"/>
          <p:cNvSpPr txBox="1"/>
          <p:nvPr/>
        </p:nvSpPr>
        <p:spPr>
          <a:xfrm>
            <a:off x="328054" y="1529266"/>
            <a:ext cx="6209030" cy="9548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2478405" indent="-274955">
              <a:lnSpc>
                <a:spcPct val="141800"/>
              </a:lnSpc>
              <a:spcBef>
                <a:spcPts val="95"/>
              </a:spcBef>
            </a:pP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autoplot(usmelec^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0.33333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)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+ </a:t>
            </a:r>
            <a:r>
              <a:rPr sz="1400" spc="-107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xlab(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"Year"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r>
              <a:rPr sz="140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+</a:t>
            </a:r>
            <a:r>
              <a:rPr sz="140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ylab(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""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)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+</a:t>
            </a:r>
            <a:endParaRPr sz="1400" dirty="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  <a:spcBef>
                <a:spcPts val="905"/>
              </a:spcBef>
            </a:pP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ggtitle(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"Cube</a:t>
            </a:r>
            <a:r>
              <a:rPr sz="1400" spc="1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root</a:t>
            </a:r>
            <a:r>
              <a:rPr sz="1400" spc="1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electricity</a:t>
            </a:r>
            <a:r>
              <a:rPr sz="1400" spc="1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generation"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1400" dirty="0">
              <a:latin typeface="Courier New"/>
              <a:cs typeface="Courier New"/>
            </a:endParaRPr>
          </a:p>
        </p:txBody>
      </p:sp>
      <p:pic>
        <p:nvPicPr>
          <p:cNvPr id="12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789" y="2536955"/>
            <a:ext cx="6168012" cy="230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139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15C1E33-7843-DD4E-A777-43ECB6153BE3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2400" y="1060465"/>
            <a:ext cx="7772400" cy="523220"/>
          </a:xfrm>
        </p:spPr>
        <p:txBody>
          <a:bodyPr/>
          <a:lstStyle/>
          <a:p>
            <a:r>
              <a:rPr lang="en-US" dirty="0" smtClean="0"/>
              <a:t>VARIANCE STABILI</a:t>
            </a:r>
            <a:r>
              <a:rPr lang="en-US" sz="2800" dirty="0" smtClean="0">
                <a:latin typeface="Microsoft Sans Serif"/>
                <a:cs typeface="Microsoft Sans Serif"/>
              </a:rPr>
              <a:t>Z</a:t>
            </a:r>
            <a:r>
              <a:rPr lang="en-US" dirty="0" smtClean="0"/>
              <a:t>ATION</a:t>
            </a:r>
            <a:endParaRPr lang="en-US" dirty="0"/>
          </a:p>
        </p:txBody>
      </p:sp>
      <p:sp>
        <p:nvSpPr>
          <p:cNvPr id="7" name="object 3"/>
          <p:cNvSpPr/>
          <p:nvPr/>
        </p:nvSpPr>
        <p:spPr>
          <a:xfrm>
            <a:off x="232788" y="1560720"/>
            <a:ext cx="5956998" cy="951368"/>
          </a:xfrm>
          <a:custGeom>
            <a:avLst/>
            <a:gdLst/>
            <a:ahLst/>
            <a:cxnLst/>
            <a:rect l="l" t="t" r="r" b="b"/>
            <a:pathLst>
              <a:path w="9887585" h="1433195">
                <a:moveTo>
                  <a:pt x="9810694" y="1432927"/>
                </a:moveTo>
                <a:lnTo>
                  <a:pt x="76505" y="1432927"/>
                </a:lnTo>
                <a:lnTo>
                  <a:pt x="71180" y="1432402"/>
                </a:lnTo>
                <a:lnTo>
                  <a:pt x="31920" y="1416140"/>
                </a:lnTo>
                <a:lnTo>
                  <a:pt x="4175" y="1377413"/>
                </a:lnTo>
                <a:lnTo>
                  <a:pt x="0" y="1356422"/>
                </a:lnTo>
                <a:lnTo>
                  <a:pt x="0" y="1351045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1356422"/>
                </a:lnTo>
                <a:lnTo>
                  <a:pt x="9870412" y="1401006"/>
                </a:lnTo>
                <a:lnTo>
                  <a:pt x="9831684" y="1428751"/>
                </a:lnTo>
                <a:lnTo>
                  <a:pt x="9816018" y="1432402"/>
                </a:lnTo>
                <a:lnTo>
                  <a:pt x="9810694" y="1432927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9" name="object 4"/>
          <p:cNvSpPr txBox="1"/>
          <p:nvPr/>
        </p:nvSpPr>
        <p:spPr>
          <a:xfrm>
            <a:off x="368248" y="1530300"/>
            <a:ext cx="5384800" cy="9548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1653539" indent="-274955">
              <a:lnSpc>
                <a:spcPct val="141800"/>
              </a:lnSpc>
              <a:spcBef>
                <a:spcPts val="95"/>
              </a:spcBef>
            </a:pP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autoplot(log(usmelec))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+ 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xlab(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"Year"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r>
              <a:rPr sz="140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+</a:t>
            </a:r>
            <a:r>
              <a:rPr sz="140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ylab(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""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)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+</a:t>
            </a:r>
            <a:endParaRPr sz="1400" dirty="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  <a:spcBef>
                <a:spcPts val="905"/>
              </a:spcBef>
            </a:pP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ggtitle(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"Log</a:t>
            </a:r>
            <a:r>
              <a:rPr sz="1400" spc="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electricity</a:t>
            </a:r>
            <a:r>
              <a:rPr sz="1400" spc="1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generation"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1400" dirty="0">
              <a:latin typeface="Courier New"/>
              <a:cs typeface="Courier New"/>
            </a:endParaRPr>
          </a:p>
        </p:txBody>
      </p:sp>
      <p:pic>
        <p:nvPicPr>
          <p:cNvPr id="11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788" y="2542507"/>
            <a:ext cx="6147915" cy="230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07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15C1E33-7843-DD4E-A777-43ECB6153BE3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2400" y="1060465"/>
            <a:ext cx="7772400" cy="523220"/>
          </a:xfrm>
        </p:spPr>
        <p:txBody>
          <a:bodyPr/>
          <a:lstStyle/>
          <a:p>
            <a:r>
              <a:rPr lang="en-US" dirty="0" smtClean="0"/>
              <a:t>VARIANCE STABILI</a:t>
            </a:r>
            <a:r>
              <a:rPr lang="en-US" sz="2800" dirty="0" smtClean="0">
                <a:latin typeface="Microsoft Sans Serif"/>
                <a:cs typeface="Microsoft Sans Serif"/>
              </a:rPr>
              <a:t>Z</a:t>
            </a:r>
            <a:r>
              <a:rPr lang="en-US" dirty="0" smtClean="0"/>
              <a:t>ATION</a:t>
            </a:r>
            <a:endParaRPr lang="en-US" dirty="0"/>
          </a:p>
        </p:txBody>
      </p:sp>
      <p:sp>
        <p:nvSpPr>
          <p:cNvPr id="7" name="object 3"/>
          <p:cNvSpPr/>
          <p:nvPr/>
        </p:nvSpPr>
        <p:spPr>
          <a:xfrm>
            <a:off x="232788" y="1560720"/>
            <a:ext cx="5956998" cy="951368"/>
          </a:xfrm>
          <a:custGeom>
            <a:avLst/>
            <a:gdLst/>
            <a:ahLst/>
            <a:cxnLst/>
            <a:rect l="l" t="t" r="r" b="b"/>
            <a:pathLst>
              <a:path w="9887585" h="1433195">
                <a:moveTo>
                  <a:pt x="9810694" y="1432927"/>
                </a:moveTo>
                <a:lnTo>
                  <a:pt x="76505" y="1432927"/>
                </a:lnTo>
                <a:lnTo>
                  <a:pt x="71180" y="1432402"/>
                </a:lnTo>
                <a:lnTo>
                  <a:pt x="31920" y="1416140"/>
                </a:lnTo>
                <a:lnTo>
                  <a:pt x="4175" y="1377413"/>
                </a:lnTo>
                <a:lnTo>
                  <a:pt x="0" y="1356422"/>
                </a:lnTo>
                <a:lnTo>
                  <a:pt x="0" y="1351045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1356422"/>
                </a:lnTo>
                <a:lnTo>
                  <a:pt x="9870412" y="1401006"/>
                </a:lnTo>
                <a:lnTo>
                  <a:pt x="9831684" y="1428751"/>
                </a:lnTo>
                <a:lnTo>
                  <a:pt x="9816018" y="1432402"/>
                </a:lnTo>
                <a:lnTo>
                  <a:pt x="9810694" y="1432927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8" name="object 4"/>
          <p:cNvSpPr txBox="1"/>
          <p:nvPr/>
        </p:nvSpPr>
        <p:spPr>
          <a:xfrm>
            <a:off x="336099" y="1461223"/>
            <a:ext cx="5934075" cy="10731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2203450" indent="-274955">
              <a:lnSpc>
                <a:spcPct val="141800"/>
              </a:lnSpc>
              <a:spcBef>
                <a:spcPts val="95"/>
              </a:spcBef>
            </a:pPr>
            <a:r>
              <a:rPr sz="1600" spc="-5" dirty="0">
                <a:solidFill>
                  <a:srgbClr val="04182D"/>
                </a:solidFill>
                <a:latin typeface="Courier New"/>
                <a:cs typeface="Courier New"/>
              </a:rPr>
              <a:t>autoplot(-</a:t>
            </a:r>
            <a:r>
              <a:rPr sz="1600" spc="-5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1600" spc="-5" dirty="0">
                <a:solidFill>
                  <a:srgbClr val="04182D"/>
                </a:solidFill>
                <a:latin typeface="Courier New"/>
                <a:cs typeface="Courier New"/>
              </a:rPr>
              <a:t>/usmelec) </a:t>
            </a:r>
            <a:r>
              <a:rPr sz="1600" dirty="0">
                <a:solidFill>
                  <a:srgbClr val="04182D"/>
                </a:solidFill>
                <a:latin typeface="Courier New"/>
                <a:cs typeface="Courier New"/>
              </a:rPr>
              <a:t>+ </a:t>
            </a:r>
            <a:r>
              <a:rPr sz="16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04182D"/>
                </a:solidFill>
                <a:latin typeface="Courier New"/>
                <a:cs typeface="Courier New"/>
              </a:rPr>
              <a:t>xlab(</a:t>
            </a:r>
            <a:r>
              <a:rPr sz="1600" spc="-5" dirty="0">
                <a:solidFill>
                  <a:srgbClr val="BE2F72"/>
                </a:solidFill>
                <a:latin typeface="Courier New"/>
                <a:cs typeface="Courier New"/>
              </a:rPr>
              <a:t>"Year"</a:t>
            </a:r>
            <a:r>
              <a:rPr sz="1600" spc="-5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r>
              <a:rPr sz="160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4182D"/>
                </a:solidFill>
                <a:latin typeface="Courier New"/>
                <a:cs typeface="Courier New"/>
              </a:rPr>
              <a:t>+</a:t>
            </a:r>
            <a:r>
              <a:rPr sz="160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04182D"/>
                </a:solidFill>
                <a:latin typeface="Courier New"/>
                <a:cs typeface="Courier New"/>
              </a:rPr>
              <a:t>ylab(</a:t>
            </a:r>
            <a:r>
              <a:rPr sz="1600" spc="-5" dirty="0">
                <a:solidFill>
                  <a:srgbClr val="BE2F72"/>
                </a:solidFill>
                <a:latin typeface="Courier New"/>
                <a:cs typeface="Courier New"/>
              </a:rPr>
              <a:t>""</a:t>
            </a:r>
            <a:r>
              <a:rPr sz="1600" spc="-5" dirty="0">
                <a:solidFill>
                  <a:srgbClr val="04182D"/>
                </a:solidFill>
                <a:latin typeface="Courier New"/>
                <a:cs typeface="Courier New"/>
              </a:rPr>
              <a:t>) </a:t>
            </a:r>
            <a:r>
              <a:rPr sz="1600" dirty="0">
                <a:solidFill>
                  <a:srgbClr val="04182D"/>
                </a:solidFill>
                <a:latin typeface="Courier New"/>
                <a:cs typeface="Courier New"/>
              </a:rPr>
              <a:t>+</a:t>
            </a:r>
            <a:endParaRPr sz="16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  <a:spcBef>
                <a:spcPts val="905"/>
              </a:spcBef>
            </a:pPr>
            <a:r>
              <a:rPr sz="1600" spc="-5" dirty="0">
                <a:solidFill>
                  <a:srgbClr val="04182D"/>
                </a:solidFill>
                <a:latin typeface="Courier New"/>
                <a:cs typeface="Courier New"/>
              </a:rPr>
              <a:t>ggtitle(</a:t>
            </a:r>
            <a:r>
              <a:rPr sz="1600" spc="-5" dirty="0">
                <a:solidFill>
                  <a:srgbClr val="BE2F72"/>
                </a:solidFill>
                <a:latin typeface="Courier New"/>
                <a:cs typeface="Courier New"/>
              </a:rPr>
              <a:t>"Inverse</a:t>
            </a:r>
            <a:r>
              <a:rPr sz="1600" spc="1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BE2F72"/>
                </a:solidFill>
                <a:latin typeface="Courier New"/>
                <a:cs typeface="Courier New"/>
              </a:rPr>
              <a:t>electricity</a:t>
            </a:r>
            <a:r>
              <a:rPr sz="1600" spc="1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BE2F72"/>
                </a:solidFill>
                <a:latin typeface="Courier New"/>
                <a:cs typeface="Courier New"/>
              </a:rPr>
              <a:t>generation"</a:t>
            </a:r>
            <a:r>
              <a:rPr sz="1600" spc="-5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</p:txBody>
      </p:sp>
      <p:pic>
        <p:nvPicPr>
          <p:cNvPr id="10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788" y="2565792"/>
            <a:ext cx="5956998" cy="227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232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0FEB5C5-97E6-6B45-BBE4-F2449473BB9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05991" y="1088397"/>
            <a:ext cx="7772400" cy="523220"/>
          </a:xfrm>
        </p:spPr>
        <p:txBody>
          <a:bodyPr/>
          <a:lstStyle/>
          <a:p>
            <a:r>
              <a:rPr lang="en-US" dirty="0" smtClean="0"/>
              <a:t>BO</a:t>
            </a:r>
            <a:r>
              <a:rPr lang="en-US" sz="2800" dirty="0" smtClean="0">
                <a:latin typeface="Microsoft Sans Serif"/>
                <a:cs typeface="Microsoft Sans Serif"/>
              </a:rPr>
              <a:t>X-</a:t>
            </a:r>
            <a:r>
              <a:rPr lang="en-US" dirty="0" smtClean="0"/>
              <a:t>CO</a:t>
            </a:r>
            <a:r>
              <a:rPr lang="en-US" sz="2800" dirty="0" smtClean="0">
                <a:latin typeface="Microsoft Sans Serif"/>
                <a:cs typeface="Microsoft Sans Serif"/>
              </a:rPr>
              <a:t>X </a:t>
            </a:r>
            <a:r>
              <a:rPr lang="en-US" dirty="0" smtClean="0"/>
              <a:t>TRANSFORMATIONS</a:t>
            </a:r>
            <a:endParaRPr lang="en-US" dirty="0"/>
          </a:p>
        </p:txBody>
      </p:sp>
      <p:sp>
        <p:nvSpPr>
          <p:cNvPr id="10" name="object 4"/>
          <p:cNvSpPr txBox="1"/>
          <p:nvPr/>
        </p:nvSpPr>
        <p:spPr>
          <a:xfrm>
            <a:off x="394881" y="1513774"/>
            <a:ext cx="8144544" cy="8062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28899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2000" spc="110" dirty="0">
                <a:solidFill>
                  <a:srgbClr val="04182D"/>
                </a:solidFill>
                <a:latin typeface="Lucida Sans Unicode"/>
                <a:cs typeface="Lucida Sans Unicode"/>
              </a:rPr>
              <a:t>Each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of</a:t>
            </a:r>
            <a:r>
              <a:rPr sz="20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these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30" dirty="0">
                <a:solidFill>
                  <a:srgbClr val="04182D"/>
                </a:solidFill>
                <a:latin typeface="Lucida Sans Unicode"/>
                <a:cs typeface="Lucida Sans Unicode"/>
              </a:rPr>
              <a:t>transformations</a:t>
            </a:r>
            <a:r>
              <a:rPr sz="20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90" dirty="0">
                <a:solidFill>
                  <a:srgbClr val="04182D"/>
                </a:solidFill>
                <a:latin typeface="Lucida Sans Unicode"/>
                <a:cs typeface="Lucida Sans Unicode"/>
              </a:rPr>
              <a:t>is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5" dirty="0">
                <a:solidFill>
                  <a:srgbClr val="04182D"/>
                </a:solidFill>
                <a:latin typeface="Lucida Sans Unicode"/>
                <a:cs typeface="Lucida Sans Unicode"/>
              </a:rPr>
              <a:t>close</a:t>
            </a:r>
            <a:r>
              <a:rPr sz="20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04182D"/>
                </a:solidFill>
                <a:latin typeface="Lucida Sans Unicode"/>
                <a:cs typeface="Lucida Sans Unicode"/>
              </a:rPr>
              <a:t>to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z="20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5" dirty="0">
                <a:solidFill>
                  <a:srgbClr val="04182D"/>
                </a:solidFill>
                <a:latin typeface="Lucida Sans Unicode"/>
                <a:cs typeface="Lucida Sans Unicode"/>
              </a:rPr>
              <a:t>member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of</a:t>
            </a:r>
            <a:r>
              <a:rPr sz="20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15" dirty="0">
                <a:solidFill>
                  <a:srgbClr val="04182D"/>
                </a:solidFill>
                <a:latin typeface="Lucida Sans Unicode"/>
                <a:cs typeface="Lucida Sans Unicode"/>
              </a:rPr>
              <a:t>the </a:t>
            </a:r>
            <a:r>
              <a:rPr sz="2000" spc="-77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10" dirty="0">
                <a:solidFill>
                  <a:srgbClr val="04182D"/>
                </a:solidFill>
                <a:latin typeface="Lucida Sans Unicode"/>
                <a:cs typeface="Lucida Sans Unicode"/>
              </a:rPr>
              <a:t>famil</a:t>
            </a:r>
            <a:r>
              <a:rPr sz="2000" spc="10" dirty="0">
                <a:solidFill>
                  <a:srgbClr val="04182D"/>
                </a:solidFill>
                <a:latin typeface="Microsoft Sans Serif"/>
                <a:cs typeface="Microsoft Sans Serif"/>
              </a:rPr>
              <a:t>y</a:t>
            </a:r>
            <a:r>
              <a:rPr sz="2000" spc="80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of </a:t>
            </a:r>
            <a:r>
              <a:rPr sz="2000" spc="85" dirty="0">
                <a:solidFill>
                  <a:srgbClr val="04182D"/>
                </a:solidFill>
                <a:latin typeface="Lucida Sans Unicode"/>
                <a:cs typeface="Lucida Sans Unicode"/>
              </a:rPr>
              <a:t>Bo</a:t>
            </a:r>
            <a:r>
              <a:rPr sz="2000" spc="85" dirty="0">
                <a:solidFill>
                  <a:srgbClr val="04182D"/>
                </a:solidFill>
                <a:latin typeface="Microsoft Sans Serif"/>
                <a:cs typeface="Microsoft Sans Serif"/>
              </a:rPr>
              <a:t>x-</a:t>
            </a:r>
            <a:r>
              <a:rPr sz="2000" spc="85" dirty="0">
                <a:solidFill>
                  <a:srgbClr val="04182D"/>
                </a:solidFill>
                <a:latin typeface="Lucida Sans Unicode"/>
                <a:cs typeface="Lucida Sans Unicode"/>
              </a:rPr>
              <a:t>Co</a:t>
            </a:r>
            <a:r>
              <a:rPr sz="2000" spc="85" dirty="0">
                <a:solidFill>
                  <a:srgbClr val="04182D"/>
                </a:solidFill>
                <a:latin typeface="Microsoft Sans Serif"/>
                <a:cs typeface="Microsoft Sans Serif"/>
              </a:rPr>
              <a:t>x </a:t>
            </a:r>
            <a:r>
              <a:rPr sz="2000" spc="-30" dirty="0">
                <a:solidFill>
                  <a:srgbClr val="04182D"/>
                </a:solidFill>
                <a:latin typeface="Lucida Sans Unicode"/>
                <a:cs typeface="Lucida Sans Unicode"/>
              </a:rPr>
              <a:t>transformations</a:t>
            </a:r>
            <a:endParaRPr sz="2000" dirty="0">
              <a:latin typeface="Lucida Sans Unicode"/>
              <a:cs typeface="Lucida Sans Unicode"/>
            </a:endParaRPr>
          </a:p>
        </p:txBody>
      </p:sp>
      <p:sp>
        <p:nvSpPr>
          <p:cNvPr id="12" name="object 18"/>
          <p:cNvSpPr txBox="1"/>
          <p:nvPr/>
        </p:nvSpPr>
        <p:spPr>
          <a:xfrm>
            <a:off x="2286000" y="2222176"/>
            <a:ext cx="3253104" cy="7570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 marR="30480" indent="2206625">
              <a:lnSpc>
                <a:spcPct val="121300"/>
              </a:lnSpc>
              <a:spcBef>
                <a:spcPts val="95"/>
              </a:spcBef>
              <a:tabLst>
                <a:tab pos="2256790" algn="l"/>
              </a:tabLst>
            </a:pPr>
            <a:r>
              <a:rPr sz="2000" i="1" spc="290" dirty="0">
                <a:solidFill>
                  <a:srgbClr val="04182D"/>
                </a:solidFill>
                <a:latin typeface="Arial"/>
                <a:cs typeface="Arial"/>
              </a:rPr>
              <a:t>λ</a:t>
            </a:r>
            <a:r>
              <a:rPr sz="2000" i="1" spc="-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000" spc="170" dirty="0">
                <a:solidFill>
                  <a:srgbClr val="04182D"/>
                </a:solidFill>
                <a:latin typeface="Tahoma"/>
                <a:cs typeface="Tahoma"/>
              </a:rPr>
              <a:t>=</a:t>
            </a:r>
            <a:r>
              <a:rPr sz="2000" spc="-1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000" spc="-135" dirty="0">
                <a:solidFill>
                  <a:srgbClr val="04182D"/>
                </a:solidFill>
                <a:latin typeface="Tahoma"/>
                <a:cs typeface="Tahoma"/>
              </a:rPr>
              <a:t>0 </a:t>
            </a:r>
            <a:r>
              <a:rPr sz="2000" spc="-9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04182D"/>
                </a:solidFill>
                <a:latin typeface="Tahoma"/>
                <a:cs typeface="Tahoma"/>
              </a:rPr>
              <a:t>(</a:t>
            </a:r>
            <a:r>
              <a:rPr sz="2000" i="1" spc="105" dirty="0">
                <a:solidFill>
                  <a:srgbClr val="04182D"/>
                </a:solidFill>
                <a:latin typeface="Arial"/>
                <a:cs typeface="Arial"/>
              </a:rPr>
              <a:t>y</a:t>
            </a:r>
            <a:r>
              <a:rPr sz="2000" i="1" spc="157" baseline="33591" dirty="0">
                <a:solidFill>
                  <a:srgbClr val="04182D"/>
                </a:solidFill>
                <a:latin typeface="Arial"/>
                <a:cs typeface="Arial"/>
              </a:rPr>
              <a:t>λ</a:t>
            </a:r>
            <a:r>
              <a:rPr sz="2000" i="1" spc="375" baseline="33591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000" spc="170" dirty="0">
                <a:solidFill>
                  <a:srgbClr val="04182D"/>
                </a:solidFill>
                <a:latin typeface="Tahoma"/>
                <a:cs typeface="Tahoma"/>
              </a:rPr>
              <a:t>−</a:t>
            </a:r>
            <a:r>
              <a:rPr sz="2000"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000" spc="135" dirty="0">
                <a:solidFill>
                  <a:srgbClr val="04182D"/>
                </a:solidFill>
                <a:latin typeface="Tahoma"/>
                <a:cs typeface="Tahoma"/>
              </a:rPr>
              <a:t>1)/</a:t>
            </a:r>
            <a:r>
              <a:rPr sz="2000" i="1" spc="135" dirty="0">
                <a:solidFill>
                  <a:srgbClr val="04182D"/>
                </a:solidFill>
                <a:latin typeface="Arial"/>
                <a:cs typeface="Arial"/>
              </a:rPr>
              <a:t>λ	</a:t>
            </a:r>
            <a:r>
              <a:rPr sz="2000" i="1" spc="290" dirty="0">
                <a:solidFill>
                  <a:srgbClr val="04182D"/>
                </a:solidFill>
                <a:latin typeface="Arial"/>
                <a:cs typeface="Arial"/>
              </a:rPr>
              <a:t>λ</a:t>
            </a:r>
            <a:r>
              <a:rPr sz="2000" i="1" spc="-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000" spc="170" dirty="0">
                <a:solidFill>
                  <a:srgbClr val="04182D"/>
                </a:solidFill>
                <a:latin typeface="Tahoma"/>
                <a:cs typeface="Tahoma"/>
              </a:rPr>
              <a:t>≠</a:t>
            </a:r>
            <a:r>
              <a:rPr sz="2000" spc="-1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000" spc="-135" dirty="0">
                <a:solidFill>
                  <a:srgbClr val="04182D"/>
                </a:solidFill>
                <a:latin typeface="Tahoma"/>
                <a:cs typeface="Tahoma"/>
              </a:rPr>
              <a:t>0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13" name="object 14"/>
          <p:cNvSpPr txBox="1"/>
          <p:nvPr/>
        </p:nvSpPr>
        <p:spPr>
          <a:xfrm>
            <a:off x="1009650" y="2476605"/>
            <a:ext cx="1276350" cy="3231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25780" algn="l"/>
              </a:tabLst>
            </a:pPr>
            <a:r>
              <a:rPr sz="2000" i="1" spc="-5" dirty="0">
                <a:solidFill>
                  <a:srgbClr val="04182D"/>
                </a:solidFill>
                <a:latin typeface="Arial"/>
                <a:cs typeface="Arial"/>
              </a:rPr>
              <a:t>w	</a:t>
            </a:r>
            <a:r>
              <a:rPr sz="2000" spc="170" dirty="0">
                <a:solidFill>
                  <a:srgbClr val="04182D"/>
                </a:solidFill>
                <a:latin typeface="Tahoma"/>
                <a:cs typeface="Tahoma"/>
              </a:rPr>
              <a:t>=</a:t>
            </a:r>
            <a:r>
              <a:rPr sz="2000" spc="-19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000" spc="545" dirty="0">
                <a:solidFill>
                  <a:srgbClr val="04182D"/>
                </a:solidFill>
                <a:latin typeface="Verdana"/>
                <a:cs typeface="Verdana"/>
              </a:rPr>
              <a:t>{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74890" y="2226097"/>
            <a:ext cx="1168400" cy="3231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i="1" spc="-10" dirty="0">
                <a:solidFill>
                  <a:srgbClr val="04182D"/>
                </a:solidFill>
                <a:latin typeface="Arial"/>
                <a:cs typeface="Arial"/>
              </a:rPr>
              <a:t>log</a:t>
            </a:r>
            <a:r>
              <a:rPr sz="2000" spc="-10" dirty="0">
                <a:solidFill>
                  <a:srgbClr val="04182D"/>
                </a:solidFill>
                <a:latin typeface="Tahoma"/>
                <a:cs typeface="Tahoma"/>
              </a:rPr>
              <a:t>(</a:t>
            </a:r>
            <a:r>
              <a:rPr sz="2000" i="1" spc="-10" dirty="0">
                <a:solidFill>
                  <a:srgbClr val="04182D"/>
                </a:solidFill>
                <a:latin typeface="Arial"/>
                <a:cs typeface="Arial"/>
              </a:rPr>
              <a:t>y</a:t>
            </a:r>
            <a:r>
              <a:rPr sz="2000" i="1" spc="-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000" spc="25" dirty="0">
                <a:solidFill>
                  <a:srgbClr val="04182D"/>
                </a:solidFill>
                <a:latin typeface="Tahoma"/>
                <a:cs typeface="Tahoma"/>
              </a:rPr>
              <a:t>)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16" name="object 17"/>
          <p:cNvSpPr txBox="1"/>
          <p:nvPr/>
        </p:nvSpPr>
        <p:spPr>
          <a:xfrm>
            <a:off x="2502760" y="2749236"/>
            <a:ext cx="125730" cy="32508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i="1" spc="190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7" name="object 6"/>
          <p:cNvSpPr txBox="1"/>
          <p:nvPr/>
        </p:nvSpPr>
        <p:spPr>
          <a:xfrm>
            <a:off x="445018" y="3035828"/>
            <a:ext cx="5904865" cy="23083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i="1" spc="290" dirty="0">
                <a:solidFill>
                  <a:srgbClr val="04182D"/>
                </a:solidFill>
                <a:latin typeface="Arial"/>
                <a:cs typeface="Arial"/>
              </a:rPr>
              <a:t>λ </a:t>
            </a:r>
            <a:r>
              <a:rPr sz="1400" spc="170" dirty="0">
                <a:solidFill>
                  <a:srgbClr val="04182D"/>
                </a:solidFill>
                <a:latin typeface="Tahoma"/>
                <a:cs typeface="Tahoma"/>
              </a:rPr>
              <a:t>=</a:t>
            </a:r>
            <a:r>
              <a:rPr sz="1400" spc="-10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1400" spc="-135" dirty="0">
                <a:solidFill>
                  <a:srgbClr val="04182D"/>
                </a:solidFill>
                <a:latin typeface="Tahoma"/>
                <a:cs typeface="Tahoma"/>
              </a:rPr>
              <a:t>1</a:t>
            </a:r>
            <a:r>
              <a:rPr sz="1400" spc="-18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04182D"/>
                </a:solidFill>
                <a:latin typeface="Microsoft Sans Serif"/>
                <a:cs typeface="Microsoft Sans Serif"/>
              </a:rPr>
              <a:t>:</a:t>
            </a:r>
            <a:r>
              <a:rPr sz="1400" spc="8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400" spc="70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z="1400" spc="-15" dirty="0">
                <a:solidFill>
                  <a:srgbClr val="04182D"/>
                </a:solidFill>
                <a:latin typeface="Lucida Sans Unicode"/>
                <a:cs typeface="Lucida Sans Unicode"/>
              </a:rPr>
              <a:t>o</a:t>
            </a:r>
            <a:r>
              <a:rPr sz="1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-114" dirty="0">
                <a:solidFill>
                  <a:srgbClr val="04182D"/>
                </a:solidFill>
                <a:latin typeface="Lucida Sans Unicode"/>
                <a:cs typeface="Lucida Sans Unicode"/>
              </a:rPr>
              <a:t>s</a:t>
            </a:r>
            <a:r>
              <a:rPr sz="1400" spc="110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1400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b</a:t>
            </a:r>
            <a:r>
              <a:rPr sz="1400" spc="-135" dirty="0">
                <a:solidFill>
                  <a:srgbClr val="04182D"/>
                </a:solidFill>
                <a:latin typeface="Lucida Sans Unicode"/>
                <a:cs typeface="Lucida Sans Unicode"/>
              </a:rPr>
              <a:t>s</a:t>
            </a:r>
            <a:r>
              <a:rPr sz="1400" spc="-5" dirty="0">
                <a:solidFill>
                  <a:srgbClr val="04182D"/>
                </a:solidFill>
                <a:latin typeface="Lucida Sans Unicode"/>
                <a:cs typeface="Lucida Sans Unicode"/>
              </a:rPr>
              <a:t>t</a:t>
            </a:r>
            <a:r>
              <a:rPr sz="1400"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z="1400" spc="-85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z="14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t</a:t>
            </a:r>
            <a:r>
              <a:rPr sz="1400" spc="-65" dirty="0">
                <a:solidFill>
                  <a:srgbClr val="04182D"/>
                </a:solidFill>
                <a:latin typeface="Lucida Sans Unicode"/>
                <a:cs typeface="Lucida Sans Unicode"/>
              </a:rPr>
              <a:t>i</a:t>
            </a:r>
            <a:r>
              <a:rPr sz="1400" spc="70" dirty="0">
                <a:solidFill>
                  <a:srgbClr val="04182D"/>
                </a:solidFill>
                <a:latin typeface="Microsoft Sans Serif"/>
                <a:cs typeface="Microsoft Sans Serif"/>
              </a:rPr>
              <a:t>v</a:t>
            </a:r>
            <a:r>
              <a:rPr sz="1400" spc="90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sz="1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t</a:t>
            </a:r>
            <a:r>
              <a:rPr sz="1400" spc="-145" dirty="0">
                <a:solidFill>
                  <a:srgbClr val="04182D"/>
                </a:solidFill>
                <a:latin typeface="Lucida Sans Unicode"/>
                <a:cs typeface="Lucida Sans Unicode"/>
              </a:rPr>
              <a:t>r</a:t>
            </a:r>
            <a:r>
              <a:rPr sz="1400"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z="1400" spc="-60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z="1400" spc="-114" dirty="0">
                <a:solidFill>
                  <a:srgbClr val="04182D"/>
                </a:solidFill>
                <a:latin typeface="Lucida Sans Unicode"/>
                <a:cs typeface="Lucida Sans Unicode"/>
              </a:rPr>
              <a:t>s</a:t>
            </a:r>
            <a:r>
              <a:rPr sz="1400" spc="-105" dirty="0">
                <a:solidFill>
                  <a:srgbClr val="04182D"/>
                </a:solidFill>
                <a:latin typeface="Lucida Sans Unicode"/>
                <a:cs typeface="Lucida Sans Unicode"/>
              </a:rPr>
              <a:t>f</a:t>
            </a:r>
            <a:r>
              <a:rPr sz="1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o</a:t>
            </a:r>
            <a:r>
              <a:rPr sz="1400" spc="-80" dirty="0">
                <a:solidFill>
                  <a:srgbClr val="04182D"/>
                </a:solidFill>
                <a:latin typeface="Lucida Sans Unicode"/>
                <a:cs typeface="Lucida Sans Unicode"/>
              </a:rPr>
              <a:t>r</a:t>
            </a:r>
            <a:r>
              <a:rPr sz="14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m</a:t>
            </a:r>
            <a:r>
              <a:rPr sz="1400"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z="14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t</a:t>
            </a:r>
            <a:r>
              <a:rPr sz="1400" spc="-75" dirty="0">
                <a:solidFill>
                  <a:srgbClr val="04182D"/>
                </a:solidFill>
                <a:latin typeface="Lucida Sans Unicode"/>
                <a:cs typeface="Lucida Sans Unicode"/>
              </a:rPr>
              <a:t>i</a:t>
            </a:r>
            <a:r>
              <a:rPr sz="1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o</a:t>
            </a:r>
            <a:r>
              <a:rPr sz="1400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endParaRPr sz="1400" dirty="0">
              <a:latin typeface="Lucida Sans Unicode"/>
              <a:cs typeface="Lucida Sans Unicode"/>
            </a:endParaRPr>
          </a:p>
        </p:txBody>
      </p:sp>
      <p:sp>
        <p:nvSpPr>
          <p:cNvPr id="18" name="object 20"/>
          <p:cNvSpPr txBox="1"/>
          <p:nvPr/>
        </p:nvSpPr>
        <p:spPr>
          <a:xfrm>
            <a:off x="415593" y="3449023"/>
            <a:ext cx="7153275" cy="23083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1130300" algn="l"/>
              </a:tabLst>
            </a:pPr>
            <a:r>
              <a:rPr sz="1400" i="1" spc="290" dirty="0">
                <a:solidFill>
                  <a:srgbClr val="04182D"/>
                </a:solidFill>
                <a:latin typeface="Arial"/>
                <a:cs typeface="Arial"/>
              </a:rPr>
              <a:t>λ</a:t>
            </a:r>
            <a:r>
              <a:rPr sz="1400" i="1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1400" spc="170" dirty="0">
                <a:solidFill>
                  <a:srgbClr val="04182D"/>
                </a:solidFill>
                <a:latin typeface="Tahoma"/>
                <a:cs typeface="Tahoma"/>
              </a:rPr>
              <a:t>=</a:t>
            </a:r>
            <a:r>
              <a:rPr sz="1400" spc="27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1400" u="heavy" spc="-127" baseline="33591" dirty="0">
                <a:solidFill>
                  <a:srgbClr val="04182D"/>
                </a:solidFill>
                <a:uFill>
                  <a:solidFill>
                    <a:srgbClr val="04182D"/>
                  </a:solidFill>
                </a:uFill>
                <a:latin typeface="Tahoma"/>
                <a:cs typeface="Tahoma"/>
              </a:rPr>
              <a:t>1</a:t>
            </a:r>
            <a:r>
              <a:rPr sz="1400" spc="-127" baseline="33591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1400" spc="-55" dirty="0">
                <a:solidFill>
                  <a:srgbClr val="04182D"/>
                </a:solidFill>
                <a:latin typeface="Microsoft Sans Serif"/>
                <a:cs typeface="Microsoft Sans Serif"/>
              </a:rPr>
              <a:t>:</a:t>
            </a:r>
            <a:r>
              <a:rPr sz="1400" spc="90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400" spc="50" dirty="0">
                <a:solidFill>
                  <a:srgbClr val="04182D"/>
                </a:solidFill>
                <a:latin typeface="Lucida Sans Unicode"/>
                <a:cs typeface="Lucida Sans Unicode"/>
              </a:rPr>
              <a:t>Sq</a:t>
            </a:r>
            <a:r>
              <a:rPr sz="1400" spc="50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1400" spc="50" dirty="0">
                <a:solidFill>
                  <a:srgbClr val="04182D"/>
                </a:solidFill>
                <a:latin typeface="Lucida Sans Unicode"/>
                <a:cs typeface="Lucida Sans Unicode"/>
              </a:rPr>
              <a:t>are</a:t>
            </a:r>
            <a:r>
              <a:rPr sz="1400"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root</a:t>
            </a:r>
            <a:r>
              <a:rPr sz="14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pl</a:t>
            </a:r>
            <a:r>
              <a:rPr sz="1400" spc="-45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1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s</a:t>
            </a:r>
            <a:r>
              <a:rPr sz="1400"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Lucida Sans Unicode"/>
                <a:cs typeface="Lucida Sans Unicode"/>
              </a:rPr>
              <a:t>linear</a:t>
            </a:r>
            <a:r>
              <a:rPr sz="14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04182D"/>
                </a:solidFill>
                <a:latin typeface="Lucida Sans Unicode"/>
                <a:cs typeface="Lucida Sans Unicode"/>
              </a:rPr>
              <a:t>transformation</a:t>
            </a:r>
            <a:endParaRPr sz="1400" dirty="0">
              <a:latin typeface="Lucida Sans Unicode"/>
              <a:cs typeface="Lucida Sans Unicode"/>
            </a:endParaRPr>
          </a:p>
        </p:txBody>
      </p:sp>
      <p:sp>
        <p:nvSpPr>
          <p:cNvPr id="19" name="object 11"/>
          <p:cNvSpPr txBox="1"/>
          <p:nvPr/>
        </p:nvSpPr>
        <p:spPr>
          <a:xfrm>
            <a:off x="394881" y="3826858"/>
            <a:ext cx="6912609" cy="26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1130300" algn="l"/>
              </a:tabLst>
            </a:pPr>
            <a:r>
              <a:rPr sz="1600" i="1" spc="290" dirty="0">
                <a:solidFill>
                  <a:srgbClr val="04182D"/>
                </a:solidFill>
                <a:latin typeface="Arial"/>
                <a:cs typeface="Arial"/>
              </a:rPr>
              <a:t>λ</a:t>
            </a:r>
            <a:r>
              <a:rPr sz="1600" i="1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lang="en-US" sz="1600" i="1" dirty="0" smtClean="0">
                <a:solidFill>
                  <a:srgbClr val="04182D"/>
                </a:solidFill>
                <a:latin typeface="Arial"/>
                <a:cs typeface="Arial"/>
              </a:rPr>
              <a:t>is </a:t>
            </a:r>
            <a:r>
              <a:rPr sz="1600" spc="170" dirty="0" smtClean="0">
                <a:solidFill>
                  <a:srgbClr val="04182D"/>
                </a:solidFill>
                <a:latin typeface="Tahoma"/>
                <a:cs typeface="Tahoma"/>
              </a:rPr>
              <a:t>=</a:t>
            </a:r>
            <a:r>
              <a:rPr sz="1600" spc="270" dirty="0" smtClean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1600" u="heavy" spc="-127" baseline="33591" dirty="0">
                <a:solidFill>
                  <a:srgbClr val="04182D"/>
                </a:solidFill>
                <a:uFill>
                  <a:solidFill>
                    <a:srgbClr val="04182D"/>
                  </a:solidFill>
                </a:uFill>
                <a:latin typeface="Tahoma"/>
                <a:cs typeface="Tahoma"/>
              </a:rPr>
              <a:t>1</a:t>
            </a:r>
            <a:r>
              <a:rPr sz="1600" spc="-127" baseline="33591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1600" spc="-55" dirty="0">
                <a:solidFill>
                  <a:srgbClr val="04182D"/>
                </a:solidFill>
                <a:latin typeface="Microsoft Sans Serif"/>
                <a:cs typeface="Microsoft Sans Serif"/>
              </a:rPr>
              <a:t>:</a:t>
            </a:r>
            <a:r>
              <a:rPr sz="1600" spc="90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600" spc="110" dirty="0">
                <a:solidFill>
                  <a:srgbClr val="04182D"/>
                </a:solidFill>
                <a:latin typeface="Lucida Sans Unicode"/>
                <a:cs typeface="Lucida Sans Unicode"/>
              </a:rPr>
              <a:t>C</a:t>
            </a:r>
            <a:r>
              <a:rPr sz="1600" spc="110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1600" spc="110" dirty="0">
                <a:solidFill>
                  <a:srgbClr val="04182D"/>
                </a:solidFill>
                <a:latin typeface="Lucida Sans Unicode"/>
                <a:cs typeface="Lucida Sans Unicode"/>
              </a:rPr>
              <a:t>be</a:t>
            </a:r>
            <a:r>
              <a:rPr sz="16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6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root</a:t>
            </a:r>
            <a:r>
              <a:rPr sz="16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6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pl</a:t>
            </a:r>
            <a:r>
              <a:rPr sz="1600" spc="-45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16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s</a:t>
            </a:r>
            <a:r>
              <a:rPr sz="16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600" spc="-5" dirty="0">
                <a:solidFill>
                  <a:srgbClr val="04182D"/>
                </a:solidFill>
                <a:latin typeface="Lucida Sans Unicode"/>
                <a:cs typeface="Lucida Sans Unicode"/>
              </a:rPr>
              <a:t>linear</a:t>
            </a:r>
            <a:r>
              <a:rPr sz="16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04182D"/>
                </a:solidFill>
                <a:latin typeface="Lucida Sans Unicode"/>
                <a:cs typeface="Lucida Sans Unicode"/>
              </a:rPr>
              <a:t>transformation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20" name="object 10"/>
          <p:cNvSpPr txBox="1"/>
          <p:nvPr/>
        </p:nvSpPr>
        <p:spPr>
          <a:xfrm>
            <a:off x="394881" y="3920854"/>
            <a:ext cx="6344285" cy="903451"/>
          </a:xfrm>
          <a:prstGeom prst="rect">
            <a:avLst/>
          </a:prstGeom>
        </p:spPr>
        <p:txBody>
          <a:bodyPr vert="horz" wrap="square" lIns="0" tIns="59054" rIns="0" bIns="0" rtlCol="0">
            <a:spAutoFit/>
          </a:bodyPr>
          <a:lstStyle/>
          <a:p>
            <a:pPr marL="12700">
              <a:spcBef>
                <a:spcPts val="500"/>
              </a:spcBef>
            </a:pPr>
            <a:r>
              <a:rPr lang="en-US" sz="1100" spc="-85" dirty="0" smtClean="0">
                <a:solidFill>
                  <a:srgbClr val="04182D"/>
                </a:solidFill>
                <a:latin typeface="Tahoma"/>
                <a:cs typeface="Tahoma"/>
              </a:rPr>
              <a:t>                     3  </a:t>
            </a:r>
            <a:endParaRPr lang="en-US" sz="1400" i="1" spc="290" dirty="0" smtClean="0">
              <a:solidFill>
                <a:srgbClr val="04182D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400" i="1" spc="290" dirty="0" smtClean="0">
                <a:solidFill>
                  <a:srgbClr val="04182D"/>
                </a:solidFill>
                <a:latin typeface="Arial"/>
                <a:cs typeface="Arial"/>
              </a:rPr>
              <a:t>λ</a:t>
            </a:r>
            <a:r>
              <a:rPr sz="1400" i="1" dirty="0" smtClean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1400" spc="170" dirty="0">
                <a:solidFill>
                  <a:srgbClr val="04182D"/>
                </a:solidFill>
                <a:latin typeface="Tahoma"/>
                <a:cs typeface="Tahoma"/>
              </a:rPr>
              <a:t>=</a:t>
            </a:r>
            <a:r>
              <a:rPr sz="1400" spc="-10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1400" spc="-135" dirty="0">
                <a:solidFill>
                  <a:srgbClr val="04182D"/>
                </a:solidFill>
                <a:latin typeface="Tahoma"/>
                <a:cs typeface="Tahoma"/>
              </a:rPr>
              <a:t>0</a:t>
            </a:r>
            <a:r>
              <a:rPr sz="1400" spc="-18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04182D"/>
                </a:solidFill>
                <a:latin typeface="Microsoft Sans Serif"/>
                <a:cs typeface="Microsoft Sans Serif"/>
              </a:rPr>
              <a:t>:</a:t>
            </a:r>
            <a:r>
              <a:rPr sz="1400" spc="8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400" spc="50" dirty="0">
                <a:solidFill>
                  <a:srgbClr val="04182D"/>
                </a:solidFill>
                <a:latin typeface="Lucida Sans Unicode"/>
                <a:cs typeface="Lucida Sans Unicode"/>
              </a:rPr>
              <a:t>Nat</a:t>
            </a:r>
            <a:r>
              <a:rPr sz="1400" spc="50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1400" spc="50" dirty="0">
                <a:solidFill>
                  <a:srgbClr val="04182D"/>
                </a:solidFill>
                <a:latin typeface="Lucida Sans Unicode"/>
                <a:cs typeface="Lucida Sans Unicode"/>
              </a:rPr>
              <a:t>ral</a:t>
            </a:r>
            <a:r>
              <a:rPr sz="14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04182D"/>
                </a:solidFill>
                <a:latin typeface="Lucida Sans Unicode"/>
                <a:cs typeface="Lucida Sans Unicode"/>
              </a:rPr>
              <a:t>logarithm</a:t>
            </a:r>
            <a:r>
              <a:rPr sz="1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04182D"/>
                </a:solidFill>
                <a:latin typeface="Lucida Sans Unicode"/>
                <a:cs typeface="Lucida Sans Unicode"/>
              </a:rPr>
              <a:t>transformation</a:t>
            </a:r>
            <a:endParaRPr sz="14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1400" i="1" spc="290" dirty="0">
                <a:solidFill>
                  <a:srgbClr val="04182D"/>
                </a:solidFill>
                <a:latin typeface="Arial"/>
                <a:cs typeface="Arial"/>
              </a:rPr>
              <a:t>λ</a:t>
            </a:r>
            <a:r>
              <a:rPr sz="1400" i="1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1400" spc="170" dirty="0">
                <a:solidFill>
                  <a:srgbClr val="04182D"/>
                </a:solidFill>
                <a:latin typeface="Tahoma"/>
                <a:cs typeface="Tahoma"/>
              </a:rPr>
              <a:t>=</a:t>
            </a:r>
            <a:r>
              <a:rPr sz="1400" spc="-10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1400" spc="15" dirty="0">
                <a:solidFill>
                  <a:srgbClr val="04182D"/>
                </a:solidFill>
                <a:latin typeface="Tahoma"/>
                <a:cs typeface="Tahoma"/>
              </a:rPr>
              <a:t>−1</a:t>
            </a:r>
            <a:r>
              <a:rPr sz="1400" spc="-1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04182D"/>
                </a:solidFill>
                <a:latin typeface="Microsoft Sans Serif"/>
                <a:cs typeface="Microsoft Sans Serif"/>
              </a:rPr>
              <a:t>:</a:t>
            </a:r>
            <a:r>
              <a:rPr sz="1400" spc="8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04182D"/>
                </a:solidFill>
                <a:latin typeface="Lucida Sans Unicode"/>
                <a:cs typeface="Lucida Sans Unicode"/>
              </a:rPr>
              <a:t>In</a:t>
            </a:r>
            <a:r>
              <a:rPr sz="1400" spc="-25" dirty="0">
                <a:solidFill>
                  <a:srgbClr val="04182D"/>
                </a:solidFill>
                <a:latin typeface="Microsoft Sans Serif"/>
                <a:cs typeface="Microsoft Sans Serif"/>
              </a:rPr>
              <a:t>v</a:t>
            </a:r>
            <a:r>
              <a:rPr sz="1400" spc="-25" dirty="0">
                <a:solidFill>
                  <a:srgbClr val="04182D"/>
                </a:solidFill>
                <a:latin typeface="Lucida Sans Unicode"/>
                <a:cs typeface="Lucida Sans Unicode"/>
              </a:rPr>
              <a:t>erse</a:t>
            </a:r>
            <a:r>
              <a:rPr sz="1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04182D"/>
                </a:solidFill>
                <a:latin typeface="Lucida Sans Unicode"/>
                <a:cs typeface="Lucida Sans Unicode"/>
              </a:rPr>
              <a:t>transformation</a:t>
            </a:r>
            <a:endParaRPr sz="1400" dirty="0">
              <a:latin typeface="Lucida Sans Unicode"/>
              <a:cs typeface="Lucida Sans Unicode"/>
            </a:endParaRPr>
          </a:p>
        </p:txBody>
      </p:sp>
      <p:sp>
        <p:nvSpPr>
          <p:cNvPr id="21" name="object 19"/>
          <p:cNvSpPr txBox="1"/>
          <p:nvPr/>
        </p:nvSpPr>
        <p:spPr>
          <a:xfrm>
            <a:off x="845185" y="3585471"/>
            <a:ext cx="16446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spc="-85" dirty="0">
                <a:solidFill>
                  <a:srgbClr val="04182D"/>
                </a:solidFill>
                <a:latin typeface="Tahoma"/>
                <a:cs typeface="Tahoma"/>
              </a:rPr>
              <a:t>2</a:t>
            </a:r>
            <a:endParaRPr sz="12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963461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1A58-12D5-4546-995B-9323A3D8C075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920" y="1055378"/>
            <a:ext cx="7772400" cy="52322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BO</a:t>
            </a:r>
            <a:r>
              <a:rPr lang="en-US" sz="2800" dirty="0" smtClean="0">
                <a:solidFill>
                  <a:schemeClr val="tx1"/>
                </a:solidFill>
                <a:latin typeface="Microsoft Sans Serif"/>
                <a:cs typeface="Microsoft Sans Serif"/>
              </a:rPr>
              <a:t>X-</a:t>
            </a:r>
            <a:r>
              <a:rPr lang="en-US" dirty="0" smtClean="0">
                <a:solidFill>
                  <a:schemeClr val="tx1"/>
                </a:solidFill>
              </a:rPr>
              <a:t>CO</a:t>
            </a:r>
            <a:r>
              <a:rPr lang="en-US" sz="2800" dirty="0" smtClean="0">
                <a:solidFill>
                  <a:schemeClr val="tx1"/>
                </a:solidFill>
                <a:latin typeface="Microsoft Sans Serif"/>
                <a:cs typeface="Microsoft Sans Serif"/>
              </a:rPr>
              <a:t>X </a:t>
            </a:r>
            <a:r>
              <a:rPr lang="en-US" dirty="0" smtClean="0">
                <a:solidFill>
                  <a:schemeClr val="tx1"/>
                </a:solidFill>
              </a:rPr>
              <a:t>TRANSFORMATIONS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object 4"/>
          <p:cNvSpPr/>
          <p:nvPr/>
        </p:nvSpPr>
        <p:spPr>
          <a:xfrm>
            <a:off x="248920" y="2956398"/>
            <a:ext cx="8336280" cy="819150"/>
          </a:xfrm>
          <a:custGeom>
            <a:avLst/>
            <a:gdLst/>
            <a:ahLst/>
            <a:cxnLst/>
            <a:rect l="l" t="t" r="r" b="b"/>
            <a:pathLst>
              <a:path w="9887585" h="819150">
                <a:moveTo>
                  <a:pt x="9810694" y="818815"/>
                </a:moveTo>
                <a:lnTo>
                  <a:pt x="76505" y="818815"/>
                </a:lnTo>
                <a:lnTo>
                  <a:pt x="71180" y="818290"/>
                </a:lnTo>
                <a:lnTo>
                  <a:pt x="31920" y="802028"/>
                </a:lnTo>
                <a:lnTo>
                  <a:pt x="4175" y="763300"/>
                </a:lnTo>
                <a:lnTo>
                  <a:pt x="0" y="742310"/>
                </a:lnTo>
                <a:lnTo>
                  <a:pt x="0" y="736933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742310"/>
                </a:lnTo>
                <a:lnTo>
                  <a:pt x="9870412" y="786894"/>
                </a:lnTo>
                <a:lnTo>
                  <a:pt x="9831684" y="814639"/>
                </a:lnTo>
                <a:lnTo>
                  <a:pt x="9816018" y="818290"/>
                </a:lnTo>
                <a:lnTo>
                  <a:pt x="9810694" y="818815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6"/>
          <p:cNvSpPr txBox="1"/>
          <p:nvPr/>
        </p:nvSpPr>
        <p:spPr>
          <a:xfrm>
            <a:off x="541020" y="3181188"/>
            <a:ext cx="174498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FFFFFF"/>
                </a:solidFill>
                <a:latin typeface="Courier New"/>
                <a:cs typeface="Courier New"/>
              </a:rPr>
              <a:t>-0.5738331</a:t>
            </a:r>
            <a:endParaRPr sz="2250" dirty="0">
              <a:latin typeface="Courier New"/>
              <a:cs typeface="Courier New"/>
            </a:endParaRPr>
          </a:p>
        </p:txBody>
      </p:sp>
      <p:sp>
        <p:nvSpPr>
          <p:cNvPr id="15" name="object 3"/>
          <p:cNvSpPr/>
          <p:nvPr/>
        </p:nvSpPr>
        <p:spPr>
          <a:xfrm>
            <a:off x="344563" y="1754456"/>
            <a:ext cx="7676757" cy="819150"/>
          </a:xfrm>
          <a:custGeom>
            <a:avLst/>
            <a:gdLst/>
            <a:ahLst/>
            <a:cxnLst/>
            <a:rect l="l" t="t" r="r" b="b"/>
            <a:pathLst>
              <a:path w="9887585" h="819150">
                <a:moveTo>
                  <a:pt x="9810694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742310"/>
                </a:lnTo>
                <a:lnTo>
                  <a:pt x="9870412" y="786895"/>
                </a:lnTo>
                <a:lnTo>
                  <a:pt x="9831684" y="814639"/>
                </a:lnTo>
                <a:lnTo>
                  <a:pt x="9816018" y="818291"/>
                </a:lnTo>
                <a:lnTo>
                  <a:pt x="9810694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5"/>
          <p:cNvSpPr txBox="1"/>
          <p:nvPr/>
        </p:nvSpPr>
        <p:spPr>
          <a:xfrm>
            <a:off x="541020" y="1979246"/>
            <a:ext cx="3808729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BoxCox.lambda(usmelec)</a:t>
            </a:r>
            <a:endParaRPr sz="225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019498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1A58-12D5-4546-995B-9323A3D8C075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033796"/>
            <a:ext cx="7772400" cy="523220"/>
          </a:xfrm>
        </p:spPr>
        <p:txBody>
          <a:bodyPr/>
          <a:lstStyle/>
          <a:p>
            <a:r>
              <a:rPr lang="en-US" dirty="0" smtClean="0"/>
              <a:t>BACK</a:t>
            </a:r>
            <a:r>
              <a:rPr lang="en-US" sz="2800" dirty="0" smtClean="0">
                <a:latin typeface="Microsoft Sans Serif"/>
                <a:cs typeface="Microsoft Sans Serif"/>
              </a:rPr>
              <a:t>-</a:t>
            </a:r>
            <a:r>
              <a:rPr lang="en-US" dirty="0" smtClean="0"/>
              <a:t>TRANSFORMATION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object 3"/>
          <p:cNvSpPr/>
          <p:nvPr/>
        </p:nvSpPr>
        <p:spPr>
          <a:xfrm>
            <a:off x="264160" y="1557016"/>
            <a:ext cx="6248400" cy="1259979"/>
          </a:xfrm>
          <a:custGeom>
            <a:avLst/>
            <a:gdLst/>
            <a:ahLst/>
            <a:cxnLst/>
            <a:rect l="l" t="t" r="r" b="b"/>
            <a:pathLst>
              <a:path w="9887585" h="1637664">
                <a:moveTo>
                  <a:pt x="9810694" y="1637631"/>
                </a:moveTo>
                <a:lnTo>
                  <a:pt x="76505" y="1637631"/>
                </a:lnTo>
                <a:lnTo>
                  <a:pt x="71180" y="1637106"/>
                </a:lnTo>
                <a:lnTo>
                  <a:pt x="31920" y="1620844"/>
                </a:lnTo>
                <a:lnTo>
                  <a:pt x="4175" y="1582116"/>
                </a:lnTo>
                <a:lnTo>
                  <a:pt x="0" y="1561126"/>
                </a:lnTo>
                <a:lnTo>
                  <a:pt x="0" y="1555749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1561126"/>
                </a:lnTo>
                <a:lnTo>
                  <a:pt x="9870412" y="1605710"/>
                </a:lnTo>
                <a:lnTo>
                  <a:pt x="9831684" y="1633455"/>
                </a:lnTo>
                <a:lnTo>
                  <a:pt x="9816018" y="1637106"/>
                </a:lnTo>
                <a:lnTo>
                  <a:pt x="9810694" y="1637631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4"/>
          <p:cNvSpPr txBox="1"/>
          <p:nvPr/>
        </p:nvSpPr>
        <p:spPr>
          <a:xfrm>
            <a:off x="435333" y="1471383"/>
            <a:ext cx="3162935" cy="1217706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400" spc="-10" dirty="0">
                <a:solidFill>
                  <a:srgbClr val="04182D"/>
                </a:solidFill>
                <a:latin typeface="Courier New"/>
                <a:cs typeface="Courier New"/>
              </a:rPr>
              <a:t>usmelec</a:t>
            </a:r>
            <a:r>
              <a:rPr sz="1400" spc="-4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4182D"/>
                </a:solidFill>
                <a:latin typeface="Courier New"/>
                <a:cs typeface="Courier New"/>
              </a:rPr>
              <a:t>%&gt;%</a:t>
            </a:r>
            <a:endParaRPr sz="1400" dirty="0">
              <a:latin typeface="Courier New"/>
              <a:cs typeface="Courier New"/>
            </a:endParaRPr>
          </a:p>
          <a:p>
            <a:pPr marL="263525" marR="5080">
              <a:lnSpc>
                <a:spcPct val="138400"/>
              </a:lnSpc>
            </a:pPr>
            <a:r>
              <a:rPr sz="1400" spc="-10" dirty="0">
                <a:solidFill>
                  <a:srgbClr val="04182D"/>
                </a:solidFill>
                <a:latin typeface="Courier New"/>
                <a:cs typeface="Courier New"/>
              </a:rPr>
              <a:t>ets(lambda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= </a:t>
            </a:r>
            <a:r>
              <a:rPr sz="1400" spc="-10" dirty="0">
                <a:solidFill>
                  <a:srgbClr val="04182D"/>
                </a:solidFill>
                <a:latin typeface="Courier New"/>
                <a:cs typeface="Courier New"/>
              </a:rPr>
              <a:t>-</a:t>
            </a:r>
            <a:r>
              <a:rPr sz="1400" spc="-10" dirty="0">
                <a:solidFill>
                  <a:srgbClr val="BE2F72"/>
                </a:solidFill>
                <a:latin typeface="Courier New"/>
                <a:cs typeface="Courier New"/>
              </a:rPr>
              <a:t>0.57</a:t>
            </a:r>
            <a:r>
              <a:rPr sz="1400" spc="-10" dirty="0">
                <a:solidFill>
                  <a:srgbClr val="04182D"/>
                </a:solidFill>
                <a:latin typeface="Courier New"/>
                <a:cs typeface="Courier New"/>
              </a:rPr>
              <a:t>) %&gt;% </a:t>
            </a:r>
            <a:r>
              <a:rPr sz="1400" spc="-98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4182D"/>
                </a:solidFill>
                <a:latin typeface="Courier New"/>
                <a:cs typeface="Courier New"/>
              </a:rPr>
              <a:t>forecast(h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= </a:t>
            </a:r>
            <a:r>
              <a:rPr sz="1400" spc="-10" dirty="0">
                <a:solidFill>
                  <a:srgbClr val="BE2F72"/>
                </a:solidFill>
                <a:latin typeface="Courier New"/>
                <a:cs typeface="Courier New"/>
              </a:rPr>
              <a:t>60</a:t>
            </a:r>
            <a:r>
              <a:rPr sz="1400" spc="-10" dirty="0">
                <a:solidFill>
                  <a:srgbClr val="04182D"/>
                </a:solidFill>
                <a:latin typeface="Courier New"/>
                <a:cs typeface="Courier New"/>
              </a:rPr>
              <a:t>) %&gt;%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4182D"/>
                </a:solidFill>
                <a:latin typeface="Courier New"/>
                <a:cs typeface="Courier New"/>
              </a:rPr>
              <a:t>autoplot()</a:t>
            </a:r>
            <a:endParaRPr sz="1400" dirty="0">
              <a:latin typeface="Courier New"/>
              <a:cs typeface="Courier New"/>
            </a:endParaRPr>
          </a:p>
        </p:txBody>
      </p:sp>
      <p:pic>
        <p:nvPicPr>
          <p:cNvPr id="13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160" y="2839987"/>
            <a:ext cx="6847840" cy="200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313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15C1E33-7843-DD4E-A777-43ECB6153BE3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3" name="object 2"/>
          <p:cNvSpPr txBox="1">
            <a:spLocks noGrp="1"/>
          </p:cNvSpPr>
          <p:nvPr>
            <p:ph idx="1"/>
          </p:nvPr>
        </p:nvSpPr>
        <p:spPr>
          <a:xfrm>
            <a:off x="457200" y="1587752"/>
            <a:ext cx="7772400" cy="1143000"/>
          </a:xfrm>
          <a:prstGeom prst="rect">
            <a:avLst/>
          </a:prstGeom>
        </p:spPr>
        <p:txBody>
          <a:bodyPr vert="horz" wrap="square" lIns="0" tIns="3568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10"/>
              </a:spcBef>
            </a:pPr>
            <a:r>
              <a:rPr sz="6400" spc="-440" dirty="0"/>
              <a:t>L</a:t>
            </a:r>
            <a:r>
              <a:rPr sz="6400" spc="-365" dirty="0"/>
              <a:t>e</a:t>
            </a:r>
            <a:r>
              <a:rPr sz="6400" spc="-225" dirty="0"/>
              <a:t>t</a:t>
            </a:r>
            <a:r>
              <a:rPr sz="7000" spc="-150" dirty="0">
                <a:latin typeface="Microsoft Sans Serif"/>
                <a:cs typeface="Microsoft Sans Serif"/>
              </a:rPr>
              <a:t>'</a:t>
            </a:r>
            <a:r>
              <a:rPr sz="6400" spc="-360" dirty="0"/>
              <a:t>s</a:t>
            </a:r>
            <a:r>
              <a:rPr sz="6400" spc="-685" dirty="0"/>
              <a:t> </a:t>
            </a:r>
            <a:r>
              <a:rPr sz="6400" spc="-265" dirty="0"/>
              <a:t>p</a:t>
            </a:r>
            <a:r>
              <a:rPr sz="6400" spc="-484" dirty="0"/>
              <a:t>r</a:t>
            </a:r>
            <a:r>
              <a:rPr sz="6400" spc="-55" dirty="0"/>
              <a:t>a</a:t>
            </a:r>
            <a:r>
              <a:rPr sz="6400" spc="160" dirty="0"/>
              <a:t>c</a:t>
            </a:r>
            <a:r>
              <a:rPr sz="6400" spc="-225" dirty="0"/>
              <a:t>t</a:t>
            </a:r>
            <a:r>
              <a:rPr sz="6400" spc="-120" dirty="0"/>
              <a:t>i</a:t>
            </a:r>
            <a:r>
              <a:rPr sz="6400" spc="160" dirty="0"/>
              <a:t>c</a:t>
            </a:r>
            <a:r>
              <a:rPr sz="6400" spc="-300" dirty="0"/>
              <a:t>e</a:t>
            </a:r>
            <a:r>
              <a:rPr sz="7000" spc="-140" dirty="0">
                <a:latin typeface="Microsoft Sans Serif"/>
                <a:cs typeface="Microsoft Sans Serif"/>
              </a:rPr>
              <a:t>!</a:t>
            </a:r>
            <a:endParaRPr sz="7000" dirty="0">
              <a:latin typeface="Microsoft Sans Serif"/>
              <a:cs typeface="Microsoft Sans Serif"/>
            </a:endParaRPr>
          </a:p>
          <a:p>
            <a:pPr marR="53975" algn="ctr">
              <a:lnSpc>
                <a:spcPct val="100000"/>
              </a:lnSpc>
              <a:spcBef>
                <a:spcPts val="865"/>
              </a:spcBef>
              <a:tabLst>
                <a:tab pos="2611755" algn="l"/>
                <a:tab pos="3120390" algn="l"/>
              </a:tabLst>
            </a:pPr>
            <a:r>
              <a:rPr sz="2250" spc="65" dirty="0"/>
              <a:t>F</a:t>
            </a:r>
            <a:r>
              <a:rPr sz="2250" spc="-470" dirty="0"/>
              <a:t> </a:t>
            </a:r>
            <a:r>
              <a:rPr sz="2250" spc="55" dirty="0"/>
              <a:t>O</a:t>
            </a:r>
            <a:r>
              <a:rPr sz="2250" spc="-475" dirty="0"/>
              <a:t> </a:t>
            </a:r>
            <a:r>
              <a:rPr sz="2250" spc="-150" dirty="0"/>
              <a:t>R</a:t>
            </a:r>
            <a:r>
              <a:rPr sz="2250" spc="-465" dirty="0"/>
              <a:t> </a:t>
            </a:r>
            <a:r>
              <a:rPr sz="2250" spc="190" dirty="0"/>
              <a:t>EC</a:t>
            </a:r>
            <a:r>
              <a:rPr sz="2250" spc="-470" dirty="0"/>
              <a:t> </a:t>
            </a:r>
            <a:r>
              <a:rPr sz="2250" spc="95" dirty="0"/>
              <a:t>A</a:t>
            </a:r>
            <a:r>
              <a:rPr sz="2250" spc="-490" dirty="0"/>
              <a:t> </a:t>
            </a:r>
            <a:r>
              <a:rPr sz="2250" spc="-229" dirty="0"/>
              <a:t>S</a:t>
            </a:r>
            <a:r>
              <a:rPr sz="2250" spc="-470" dirty="0"/>
              <a:t> </a:t>
            </a:r>
            <a:r>
              <a:rPr sz="2250" spc="-65" dirty="0"/>
              <a:t>T</a:t>
            </a:r>
            <a:r>
              <a:rPr sz="2250" spc="-465" dirty="0"/>
              <a:t> </a:t>
            </a:r>
            <a:r>
              <a:rPr sz="2250" spc="-295" dirty="0"/>
              <a:t>I</a:t>
            </a:r>
            <a:r>
              <a:rPr sz="2250" spc="-470" dirty="0"/>
              <a:t> </a:t>
            </a:r>
            <a:r>
              <a:rPr sz="2250" spc="35" dirty="0"/>
              <a:t>N</a:t>
            </a:r>
            <a:r>
              <a:rPr sz="2250" spc="-475" dirty="0"/>
              <a:t> </a:t>
            </a:r>
            <a:r>
              <a:rPr sz="2250" spc="5" dirty="0"/>
              <a:t>G	</a:t>
            </a:r>
            <a:r>
              <a:rPr sz="2250" spc="-295" dirty="0"/>
              <a:t>I</a:t>
            </a:r>
            <a:r>
              <a:rPr sz="2250" spc="-465" dirty="0"/>
              <a:t> </a:t>
            </a:r>
            <a:r>
              <a:rPr sz="2250" spc="35" dirty="0"/>
              <a:t>N	</a:t>
            </a:r>
            <a:r>
              <a:rPr sz="2250" spc="-150" dirty="0"/>
              <a:t>R</a:t>
            </a:r>
            <a:endParaRPr sz="2250" dirty="0"/>
          </a:p>
        </p:txBody>
      </p:sp>
    </p:spTree>
    <p:extLst>
      <p:ext uri="{BB962C8B-B14F-4D97-AF65-F5344CB8AC3E}">
        <p14:creationId xmlns:p14="http://schemas.microsoft.com/office/powerpoint/2010/main" val="1288738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15C1E33-7843-DD4E-A777-43ECB6153BE3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5" name="object 6"/>
          <p:cNvSpPr/>
          <p:nvPr/>
        </p:nvSpPr>
        <p:spPr>
          <a:xfrm>
            <a:off x="419048" y="3767333"/>
            <a:ext cx="4017460" cy="943031"/>
          </a:xfrm>
          <a:custGeom>
            <a:avLst/>
            <a:gdLst/>
            <a:ahLst/>
            <a:cxnLst/>
            <a:rect l="l" t="t" r="r" b="b"/>
            <a:pathLst>
              <a:path w="6141720" h="1699259">
                <a:moveTo>
                  <a:pt x="6064612" y="1699042"/>
                </a:moveTo>
                <a:lnTo>
                  <a:pt x="0" y="1699042"/>
                </a:lnTo>
                <a:lnTo>
                  <a:pt x="0" y="0"/>
                </a:lnTo>
                <a:lnTo>
                  <a:pt x="6064612" y="0"/>
                </a:lnTo>
                <a:lnTo>
                  <a:pt x="6069936" y="524"/>
                </a:lnTo>
                <a:lnTo>
                  <a:pt x="6109196" y="16786"/>
                </a:lnTo>
                <a:lnTo>
                  <a:pt x="6136941" y="55514"/>
                </a:lnTo>
                <a:lnTo>
                  <a:pt x="6141117" y="76505"/>
                </a:lnTo>
                <a:lnTo>
                  <a:pt x="6141117" y="1622537"/>
                </a:lnTo>
                <a:lnTo>
                  <a:pt x="6124330" y="1667122"/>
                </a:lnTo>
                <a:lnTo>
                  <a:pt x="6085602" y="1694867"/>
                </a:lnTo>
                <a:lnTo>
                  <a:pt x="6064612" y="1699042"/>
                </a:lnTo>
                <a:close/>
              </a:path>
            </a:pathLst>
          </a:custGeom>
          <a:solidFill>
            <a:srgbClr val="7833FF"/>
          </a:solidFill>
        </p:spPr>
        <p:txBody>
          <a:bodyPr wrap="square" lIns="0" tIns="0" rIns="0" bIns="0" rtlCol="0"/>
          <a:lstStyle/>
          <a:p>
            <a:pPr marL="12700" algn="ctr">
              <a:lnSpc>
                <a:spcPct val="100000"/>
              </a:lnSpc>
              <a:spcBef>
                <a:spcPts val="690"/>
              </a:spcBef>
            </a:pPr>
            <a:r>
              <a:rPr lang="en-US" sz="1600" spc="-21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a hid  A sg ha 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78100"/>
              </a:lnSpc>
              <a:spcBef>
                <a:spcPts val="1040"/>
              </a:spcBef>
            </a:pPr>
            <a:r>
              <a:rPr lang="en-US" sz="1600" spc="-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Professor, School of Economics, QAU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object 3"/>
          <p:cNvGrpSpPr/>
          <p:nvPr/>
        </p:nvGrpSpPr>
        <p:grpSpPr>
          <a:xfrm>
            <a:off x="5811677" y="3593110"/>
            <a:ext cx="982980" cy="982980"/>
            <a:chOff x="7287459" y="4974305"/>
            <a:chExt cx="982980" cy="982980"/>
          </a:xfrm>
        </p:grpSpPr>
        <p:sp>
          <p:nvSpPr>
            <p:cNvPr id="17" name="object 4"/>
            <p:cNvSpPr/>
            <p:nvPr/>
          </p:nvSpPr>
          <p:spPr>
            <a:xfrm>
              <a:off x="7287459" y="4974305"/>
              <a:ext cx="982980" cy="982980"/>
            </a:xfrm>
            <a:custGeom>
              <a:avLst/>
              <a:gdLst/>
              <a:ahLst/>
              <a:cxnLst/>
              <a:rect l="l" t="t" r="r" b="b"/>
              <a:pathLst>
                <a:path w="982979" h="982979">
                  <a:moveTo>
                    <a:pt x="491289" y="982578"/>
                  </a:moveTo>
                  <a:lnTo>
                    <a:pt x="443134" y="980213"/>
                  </a:lnTo>
                  <a:lnTo>
                    <a:pt x="395443" y="973138"/>
                  </a:lnTo>
                  <a:lnTo>
                    <a:pt x="348675" y="961423"/>
                  </a:lnTo>
                  <a:lnTo>
                    <a:pt x="303281" y="945181"/>
                  </a:lnTo>
                  <a:lnTo>
                    <a:pt x="259697" y="924568"/>
                  </a:lnTo>
                  <a:lnTo>
                    <a:pt x="218343" y="899781"/>
                  </a:lnTo>
                  <a:lnTo>
                    <a:pt x="179618" y="871061"/>
                  </a:lnTo>
                  <a:lnTo>
                    <a:pt x="143895" y="838683"/>
                  </a:lnTo>
                  <a:lnTo>
                    <a:pt x="111517" y="802960"/>
                  </a:lnTo>
                  <a:lnTo>
                    <a:pt x="82797" y="764235"/>
                  </a:lnTo>
                  <a:lnTo>
                    <a:pt x="58010" y="722881"/>
                  </a:lnTo>
                  <a:lnTo>
                    <a:pt x="37397" y="679297"/>
                  </a:lnTo>
                  <a:lnTo>
                    <a:pt x="21154" y="633903"/>
                  </a:lnTo>
                  <a:lnTo>
                    <a:pt x="9439" y="587135"/>
                  </a:lnTo>
                  <a:lnTo>
                    <a:pt x="2365" y="539444"/>
                  </a:lnTo>
                  <a:lnTo>
                    <a:pt x="0" y="491289"/>
                  </a:lnTo>
                  <a:lnTo>
                    <a:pt x="591" y="467182"/>
                  </a:lnTo>
                  <a:lnTo>
                    <a:pt x="5317" y="419202"/>
                  </a:lnTo>
                  <a:lnTo>
                    <a:pt x="14722" y="371915"/>
                  </a:lnTo>
                  <a:lnTo>
                    <a:pt x="28718" y="325778"/>
                  </a:lnTo>
                  <a:lnTo>
                    <a:pt x="47168" y="281235"/>
                  </a:lnTo>
                  <a:lnTo>
                    <a:pt x="69896" y="238716"/>
                  </a:lnTo>
                  <a:lnTo>
                    <a:pt x="96681" y="198628"/>
                  </a:lnTo>
                  <a:lnTo>
                    <a:pt x="127267" y="161359"/>
                  </a:lnTo>
                  <a:lnTo>
                    <a:pt x="161359" y="127267"/>
                  </a:lnTo>
                  <a:lnTo>
                    <a:pt x="198628" y="96681"/>
                  </a:lnTo>
                  <a:lnTo>
                    <a:pt x="238716" y="69896"/>
                  </a:lnTo>
                  <a:lnTo>
                    <a:pt x="281235" y="47168"/>
                  </a:lnTo>
                  <a:lnTo>
                    <a:pt x="325778" y="28718"/>
                  </a:lnTo>
                  <a:lnTo>
                    <a:pt x="371915" y="14722"/>
                  </a:lnTo>
                  <a:lnTo>
                    <a:pt x="419202" y="5317"/>
                  </a:lnTo>
                  <a:lnTo>
                    <a:pt x="467182" y="591"/>
                  </a:lnTo>
                  <a:lnTo>
                    <a:pt x="491289" y="0"/>
                  </a:lnTo>
                  <a:lnTo>
                    <a:pt x="515395" y="591"/>
                  </a:lnTo>
                  <a:lnTo>
                    <a:pt x="563376" y="5317"/>
                  </a:lnTo>
                  <a:lnTo>
                    <a:pt x="610663" y="14722"/>
                  </a:lnTo>
                  <a:lnTo>
                    <a:pt x="656799" y="28718"/>
                  </a:lnTo>
                  <a:lnTo>
                    <a:pt x="701342" y="47168"/>
                  </a:lnTo>
                  <a:lnTo>
                    <a:pt x="743862" y="69896"/>
                  </a:lnTo>
                  <a:lnTo>
                    <a:pt x="783950" y="96681"/>
                  </a:lnTo>
                  <a:lnTo>
                    <a:pt x="821219" y="127267"/>
                  </a:lnTo>
                  <a:lnTo>
                    <a:pt x="855311" y="161359"/>
                  </a:lnTo>
                  <a:lnTo>
                    <a:pt x="885896" y="198628"/>
                  </a:lnTo>
                  <a:lnTo>
                    <a:pt x="912682" y="238716"/>
                  </a:lnTo>
                  <a:lnTo>
                    <a:pt x="935410" y="281235"/>
                  </a:lnTo>
                  <a:lnTo>
                    <a:pt x="953860" y="325778"/>
                  </a:lnTo>
                  <a:lnTo>
                    <a:pt x="967855" y="371915"/>
                  </a:lnTo>
                  <a:lnTo>
                    <a:pt x="977261" y="419202"/>
                  </a:lnTo>
                  <a:lnTo>
                    <a:pt x="981987" y="467182"/>
                  </a:lnTo>
                  <a:lnTo>
                    <a:pt x="982578" y="491289"/>
                  </a:lnTo>
                  <a:lnTo>
                    <a:pt x="981987" y="515395"/>
                  </a:lnTo>
                  <a:lnTo>
                    <a:pt x="977261" y="563376"/>
                  </a:lnTo>
                  <a:lnTo>
                    <a:pt x="967855" y="610663"/>
                  </a:lnTo>
                  <a:lnTo>
                    <a:pt x="953860" y="656799"/>
                  </a:lnTo>
                  <a:lnTo>
                    <a:pt x="935410" y="701342"/>
                  </a:lnTo>
                  <a:lnTo>
                    <a:pt x="912682" y="743862"/>
                  </a:lnTo>
                  <a:lnTo>
                    <a:pt x="885897" y="783950"/>
                  </a:lnTo>
                  <a:lnTo>
                    <a:pt x="855311" y="821219"/>
                  </a:lnTo>
                  <a:lnTo>
                    <a:pt x="821219" y="855311"/>
                  </a:lnTo>
                  <a:lnTo>
                    <a:pt x="783950" y="885896"/>
                  </a:lnTo>
                  <a:lnTo>
                    <a:pt x="743862" y="912682"/>
                  </a:lnTo>
                  <a:lnTo>
                    <a:pt x="701342" y="935410"/>
                  </a:lnTo>
                  <a:lnTo>
                    <a:pt x="656799" y="953860"/>
                  </a:lnTo>
                  <a:lnTo>
                    <a:pt x="610663" y="967855"/>
                  </a:lnTo>
                  <a:lnTo>
                    <a:pt x="563376" y="977261"/>
                  </a:lnTo>
                  <a:lnTo>
                    <a:pt x="515395" y="981987"/>
                  </a:lnTo>
                  <a:lnTo>
                    <a:pt x="491289" y="982578"/>
                  </a:lnTo>
                  <a:close/>
                </a:path>
              </a:pathLst>
            </a:custGeom>
            <a:solidFill>
              <a:srgbClr val="0418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/>
            <p:cNvSpPr/>
            <p:nvPr/>
          </p:nvSpPr>
          <p:spPr>
            <a:xfrm>
              <a:off x="7464603" y="5201056"/>
              <a:ext cx="627380" cy="483870"/>
            </a:xfrm>
            <a:custGeom>
              <a:avLst/>
              <a:gdLst/>
              <a:ahLst/>
              <a:cxnLst/>
              <a:rect l="l" t="t" r="r" b="b"/>
              <a:pathLst>
                <a:path w="627379" h="483870">
                  <a:moveTo>
                    <a:pt x="626770" y="209892"/>
                  </a:moveTo>
                  <a:lnTo>
                    <a:pt x="621728" y="172161"/>
                  </a:lnTo>
                  <a:lnTo>
                    <a:pt x="607174" y="136652"/>
                  </a:lnTo>
                  <a:lnTo>
                    <a:pt x="590003" y="112458"/>
                  </a:lnTo>
                  <a:lnTo>
                    <a:pt x="590003" y="225552"/>
                  </a:lnTo>
                  <a:lnTo>
                    <a:pt x="584238" y="264845"/>
                  </a:lnTo>
                  <a:lnTo>
                    <a:pt x="567677" y="297535"/>
                  </a:lnTo>
                  <a:lnTo>
                    <a:pt x="541426" y="323824"/>
                  </a:lnTo>
                  <a:lnTo>
                    <a:pt x="513664" y="339826"/>
                  </a:lnTo>
                  <a:lnTo>
                    <a:pt x="511086" y="338315"/>
                  </a:lnTo>
                  <a:lnTo>
                    <a:pt x="507263" y="336384"/>
                  </a:lnTo>
                  <a:lnTo>
                    <a:pt x="497928" y="332270"/>
                  </a:lnTo>
                  <a:lnTo>
                    <a:pt x="488137" y="328650"/>
                  </a:lnTo>
                  <a:lnTo>
                    <a:pt x="480415" y="326072"/>
                  </a:lnTo>
                  <a:lnTo>
                    <a:pt x="477278" y="325081"/>
                  </a:lnTo>
                  <a:lnTo>
                    <a:pt x="491871" y="322554"/>
                  </a:lnTo>
                  <a:lnTo>
                    <a:pt x="523989" y="309994"/>
                  </a:lnTo>
                  <a:lnTo>
                    <a:pt x="556107" y="279996"/>
                  </a:lnTo>
                  <a:lnTo>
                    <a:pt x="559600" y="266877"/>
                  </a:lnTo>
                  <a:lnTo>
                    <a:pt x="570712" y="225132"/>
                  </a:lnTo>
                  <a:lnTo>
                    <a:pt x="565543" y="206857"/>
                  </a:lnTo>
                  <a:lnTo>
                    <a:pt x="555434" y="171069"/>
                  </a:lnTo>
                  <a:lnTo>
                    <a:pt x="521817" y="142836"/>
                  </a:lnTo>
                  <a:lnTo>
                    <a:pt x="488200" y="132054"/>
                  </a:lnTo>
                  <a:lnTo>
                    <a:pt x="472922" y="130327"/>
                  </a:lnTo>
                  <a:lnTo>
                    <a:pt x="460756" y="130327"/>
                  </a:lnTo>
                  <a:lnTo>
                    <a:pt x="460756" y="236321"/>
                  </a:lnTo>
                  <a:lnTo>
                    <a:pt x="456069" y="253936"/>
                  </a:lnTo>
                  <a:lnTo>
                    <a:pt x="445770" y="263004"/>
                  </a:lnTo>
                  <a:lnTo>
                    <a:pt x="435457" y="266357"/>
                  </a:lnTo>
                  <a:lnTo>
                    <a:pt x="430771" y="266852"/>
                  </a:lnTo>
                  <a:lnTo>
                    <a:pt x="419481" y="266865"/>
                  </a:lnTo>
                  <a:lnTo>
                    <a:pt x="419481" y="365620"/>
                  </a:lnTo>
                  <a:lnTo>
                    <a:pt x="415442" y="366306"/>
                  </a:lnTo>
                  <a:lnTo>
                    <a:pt x="365125" y="368846"/>
                  </a:lnTo>
                  <a:lnTo>
                    <a:pt x="365125" y="345084"/>
                  </a:lnTo>
                  <a:lnTo>
                    <a:pt x="399707" y="345084"/>
                  </a:lnTo>
                  <a:lnTo>
                    <a:pt x="402234" y="346786"/>
                  </a:lnTo>
                  <a:lnTo>
                    <a:pt x="408178" y="351599"/>
                  </a:lnTo>
                  <a:lnTo>
                    <a:pt x="414096" y="358038"/>
                  </a:lnTo>
                  <a:lnTo>
                    <a:pt x="419481" y="365620"/>
                  </a:lnTo>
                  <a:lnTo>
                    <a:pt x="419481" y="266865"/>
                  </a:lnTo>
                  <a:lnTo>
                    <a:pt x="366014" y="266877"/>
                  </a:lnTo>
                  <a:lnTo>
                    <a:pt x="366052" y="206857"/>
                  </a:lnTo>
                  <a:lnTo>
                    <a:pt x="430771" y="206895"/>
                  </a:lnTo>
                  <a:lnTo>
                    <a:pt x="435457" y="207124"/>
                  </a:lnTo>
                  <a:lnTo>
                    <a:pt x="445770" y="209969"/>
                  </a:lnTo>
                  <a:lnTo>
                    <a:pt x="456069" y="218617"/>
                  </a:lnTo>
                  <a:lnTo>
                    <a:pt x="460756" y="236321"/>
                  </a:lnTo>
                  <a:lnTo>
                    <a:pt x="460756" y="130327"/>
                  </a:lnTo>
                  <a:lnTo>
                    <a:pt x="258229" y="130327"/>
                  </a:lnTo>
                  <a:lnTo>
                    <a:pt x="258229" y="354812"/>
                  </a:lnTo>
                  <a:lnTo>
                    <a:pt x="256603" y="354457"/>
                  </a:lnTo>
                  <a:lnTo>
                    <a:pt x="212369" y="337515"/>
                  </a:lnTo>
                  <a:lnTo>
                    <a:pt x="175488" y="315290"/>
                  </a:lnTo>
                  <a:lnTo>
                    <a:pt x="147370" y="288645"/>
                  </a:lnTo>
                  <a:lnTo>
                    <a:pt x="123151" y="225552"/>
                  </a:lnTo>
                  <a:lnTo>
                    <a:pt x="129451" y="192646"/>
                  </a:lnTo>
                  <a:lnTo>
                    <a:pt x="175488" y="135801"/>
                  </a:lnTo>
                  <a:lnTo>
                    <a:pt x="212369" y="113588"/>
                  </a:lnTo>
                  <a:lnTo>
                    <a:pt x="256603" y="96647"/>
                  </a:lnTo>
                  <a:lnTo>
                    <a:pt x="306743" y="85852"/>
                  </a:lnTo>
                  <a:lnTo>
                    <a:pt x="361353" y="82067"/>
                  </a:lnTo>
                  <a:lnTo>
                    <a:pt x="415442" y="84785"/>
                  </a:lnTo>
                  <a:lnTo>
                    <a:pt x="464210" y="93091"/>
                  </a:lnTo>
                  <a:lnTo>
                    <a:pt x="506577" y="107200"/>
                  </a:lnTo>
                  <a:lnTo>
                    <a:pt x="541426" y="127292"/>
                  </a:lnTo>
                  <a:lnTo>
                    <a:pt x="584238" y="186258"/>
                  </a:lnTo>
                  <a:lnTo>
                    <a:pt x="590003" y="225552"/>
                  </a:lnTo>
                  <a:lnTo>
                    <a:pt x="590003" y="112458"/>
                  </a:lnTo>
                  <a:lnTo>
                    <a:pt x="583984" y="103962"/>
                  </a:lnTo>
                  <a:lnTo>
                    <a:pt x="560882" y="82067"/>
                  </a:lnTo>
                  <a:lnTo>
                    <a:pt x="553072" y="74663"/>
                  </a:lnTo>
                  <a:lnTo>
                    <a:pt x="515302" y="49364"/>
                  </a:lnTo>
                  <a:lnTo>
                    <a:pt x="471563" y="28663"/>
                  </a:lnTo>
                  <a:lnTo>
                    <a:pt x="422744" y="13131"/>
                  </a:lnTo>
                  <a:lnTo>
                    <a:pt x="369722" y="3390"/>
                  </a:lnTo>
                  <a:lnTo>
                    <a:pt x="313385" y="0"/>
                  </a:lnTo>
                  <a:lnTo>
                    <a:pt x="257060" y="3390"/>
                  </a:lnTo>
                  <a:lnTo>
                    <a:pt x="204038" y="13131"/>
                  </a:lnTo>
                  <a:lnTo>
                    <a:pt x="155219" y="28663"/>
                  </a:lnTo>
                  <a:lnTo>
                    <a:pt x="111480" y="49364"/>
                  </a:lnTo>
                  <a:lnTo>
                    <a:pt x="73698" y="74663"/>
                  </a:lnTo>
                  <a:lnTo>
                    <a:pt x="42786" y="103962"/>
                  </a:lnTo>
                  <a:lnTo>
                    <a:pt x="19608" y="136652"/>
                  </a:lnTo>
                  <a:lnTo>
                    <a:pt x="5041" y="172161"/>
                  </a:lnTo>
                  <a:lnTo>
                    <a:pt x="0" y="209892"/>
                  </a:lnTo>
                  <a:lnTo>
                    <a:pt x="5041" y="247611"/>
                  </a:lnTo>
                  <a:lnTo>
                    <a:pt x="19608" y="283121"/>
                  </a:lnTo>
                  <a:lnTo>
                    <a:pt x="42786" y="315823"/>
                  </a:lnTo>
                  <a:lnTo>
                    <a:pt x="73698" y="345122"/>
                  </a:lnTo>
                  <a:lnTo>
                    <a:pt x="111480" y="370408"/>
                  </a:lnTo>
                  <a:lnTo>
                    <a:pt x="155219" y="391121"/>
                  </a:lnTo>
                  <a:lnTo>
                    <a:pt x="204038" y="406641"/>
                  </a:lnTo>
                  <a:lnTo>
                    <a:pt x="257060" y="416394"/>
                  </a:lnTo>
                  <a:lnTo>
                    <a:pt x="258229" y="416471"/>
                  </a:lnTo>
                  <a:lnTo>
                    <a:pt x="258229" y="483298"/>
                  </a:lnTo>
                  <a:lnTo>
                    <a:pt x="365150" y="483260"/>
                  </a:lnTo>
                  <a:lnTo>
                    <a:pt x="365137" y="416674"/>
                  </a:lnTo>
                  <a:lnTo>
                    <a:pt x="369722" y="416394"/>
                  </a:lnTo>
                  <a:lnTo>
                    <a:pt x="422744" y="406641"/>
                  </a:lnTo>
                  <a:lnTo>
                    <a:pt x="439648" y="401269"/>
                  </a:lnTo>
                  <a:lnTo>
                    <a:pt x="483362" y="483336"/>
                  </a:lnTo>
                  <a:lnTo>
                    <a:pt x="604177" y="483285"/>
                  </a:lnTo>
                  <a:lnTo>
                    <a:pt x="530987" y="359905"/>
                  </a:lnTo>
                  <a:lnTo>
                    <a:pt x="553072" y="345122"/>
                  </a:lnTo>
                  <a:lnTo>
                    <a:pt x="583984" y="315823"/>
                  </a:lnTo>
                  <a:lnTo>
                    <a:pt x="607174" y="283121"/>
                  </a:lnTo>
                  <a:lnTo>
                    <a:pt x="621728" y="247611"/>
                  </a:lnTo>
                  <a:lnTo>
                    <a:pt x="626770" y="2098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2"/>
          <p:cNvSpPr txBox="1">
            <a:spLocks noGrp="1"/>
          </p:cNvSpPr>
          <p:nvPr>
            <p:ph type="title"/>
          </p:nvPr>
        </p:nvSpPr>
        <p:spPr>
          <a:xfrm>
            <a:off x="987630" y="1943850"/>
            <a:ext cx="6897756" cy="1383712"/>
          </a:xfrm>
          <a:prstGeom prst="rect">
            <a:avLst/>
          </a:prstGeom>
        </p:spPr>
        <p:txBody>
          <a:bodyPr vert="horz" wrap="square" lIns="0" tIns="3568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10"/>
              </a:spcBef>
            </a:pPr>
            <a:r>
              <a:rPr lang="en-US" sz="4400" dirty="0" smtClean="0"/>
              <a:t> ARIMA  MODELS</a:t>
            </a:r>
            <a:r>
              <a:rPr lang="en-US" sz="4400" dirty="0" smtClean="0">
                <a:latin typeface="Microsoft Sans Serif"/>
                <a:cs typeface="Microsoft Sans Serif"/>
              </a:rPr>
              <a:t/>
            </a:r>
            <a:br>
              <a:rPr lang="en-US" sz="4400" dirty="0" smtClean="0">
                <a:latin typeface="Microsoft Sans Serif"/>
                <a:cs typeface="Microsoft Sans Serif"/>
              </a:rPr>
            </a:br>
            <a:r>
              <a:rPr sz="2250" spc="65" dirty="0" smtClean="0"/>
              <a:t>F</a:t>
            </a:r>
            <a:r>
              <a:rPr sz="2250" spc="-470" dirty="0" smtClean="0"/>
              <a:t> </a:t>
            </a:r>
            <a:r>
              <a:rPr sz="2250" spc="55" dirty="0"/>
              <a:t>O</a:t>
            </a:r>
            <a:r>
              <a:rPr sz="2250" spc="-475" dirty="0"/>
              <a:t> </a:t>
            </a:r>
            <a:r>
              <a:rPr sz="2250" spc="-150" dirty="0"/>
              <a:t>R</a:t>
            </a:r>
            <a:r>
              <a:rPr sz="2250" spc="-465" dirty="0"/>
              <a:t> </a:t>
            </a:r>
            <a:r>
              <a:rPr sz="2250" spc="190" dirty="0"/>
              <a:t>EC</a:t>
            </a:r>
            <a:r>
              <a:rPr sz="2250" spc="-470" dirty="0"/>
              <a:t> </a:t>
            </a:r>
            <a:r>
              <a:rPr sz="2250" spc="95" dirty="0"/>
              <a:t>A</a:t>
            </a:r>
            <a:r>
              <a:rPr sz="2250" spc="-490" dirty="0"/>
              <a:t> </a:t>
            </a:r>
            <a:r>
              <a:rPr sz="2250" spc="-229" dirty="0"/>
              <a:t>S</a:t>
            </a:r>
            <a:r>
              <a:rPr sz="2250" spc="-470" dirty="0"/>
              <a:t> </a:t>
            </a:r>
            <a:r>
              <a:rPr sz="2250" spc="-65" dirty="0"/>
              <a:t>T</a:t>
            </a:r>
            <a:r>
              <a:rPr sz="2250" spc="-465" dirty="0"/>
              <a:t> </a:t>
            </a:r>
            <a:r>
              <a:rPr sz="2250" spc="-295" dirty="0"/>
              <a:t>I</a:t>
            </a:r>
            <a:r>
              <a:rPr sz="2250" spc="-470" dirty="0"/>
              <a:t> </a:t>
            </a:r>
            <a:r>
              <a:rPr sz="2250" spc="35" dirty="0"/>
              <a:t>N</a:t>
            </a:r>
            <a:r>
              <a:rPr sz="2250" spc="-475" dirty="0"/>
              <a:t> </a:t>
            </a:r>
            <a:r>
              <a:rPr sz="2250" spc="5" dirty="0"/>
              <a:t>G	</a:t>
            </a:r>
            <a:r>
              <a:rPr sz="2250" spc="-295" dirty="0"/>
              <a:t>I</a:t>
            </a:r>
            <a:r>
              <a:rPr sz="2250" spc="-465" dirty="0"/>
              <a:t> </a:t>
            </a:r>
            <a:r>
              <a:rPr sz="2250" spc="35" dirty="0"/>
              <a:t>N	</a:t>
            </a:r>
            <a:r>
              <a:rPr sz="2250" spc="-150" dirty="0"/>
              <a:t>R</a:t>
            </a:r>
            <a:endParaRPr sz="2250" dirty="0"/>
          </a:p>
        </p:txBody>
      </p:sp>
    </p:spTree>
    <p:extLst>
      <p:ext uri="{BB962C8B-B14F-4D97-AF65-F5344CB8AC3E}">
        <p14:creationId xmlns:p14="http://schemas.microsoft.com/office/powerpoint/2010/main" val="735088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1A58-12D5-4546-995B-9323A3D8C075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095351"/>
            <a:ext cx="7772400" cy="461665"/>
          </a:xfrm>
        </p:spPr>
        <p:txBody>
          <a:bodyPr/>
          <a:lstStyle/>
          <a:p>
            <a:r>
              <a:rPr lang="en-US" dirty="0" smtClean="0"/>
              <a:t>ARIMA MODELS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object 5"/>
          <p:cNvSpPr txBox="1"/>
          <p:nvPr/>
        </p:nvSpPr>
        <p:spPr>
          <a:xfrm>
            <a:off x="332325" y="1459793"/>
            <a:ext cx="9370695" cy="13401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pc="-50" dirty="0">
                <a:solidFill>
                  <a:srgbClr val="04182D"/>
                </a:solidFill>
                <a:latin typeface="Verdana"/>
                <a:cs typeface="Verdana"/>
              </a:rPr>
              <a:t>A</a:t>
            </a:r>
            <a:r>
              <a:rPr spc="-50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pc="-50" dirty="0">
                <a:solidFill>
                  <a:srgbClr val="04182D"/>
                </a:solidFill>
                <a:latin typeface="Verdana"/>
                <a:cs typeface="Verdana"/>
              </a:rPr>
              <a:t>toregressi</a:t>
            </a:r>
            <a:r>
              <a:rPr spc="-50" dirty="0">
                <a:solidFill>
                  <a:srgbClr val="04182D"/>
                </a:solidFill>
                <a:latin typeface="Microsoft Sans Serif"/>
                <a:cs typeface="Microsoft Sans Serif"/>
              </a:rPr>
              <a:t>v</a:t>
            </a:r>
            <a:r>
              <a:rPr spc="-50" dirty="0">
                <a:solidFill>
                  <a:srgbClr val="04182D"/>
                </a:solidFill>
                <a:latin typeface="Verdana"/>
                <a:cs typeface="Verdana"/>
              </a:rPr>
              <a:t>e</a:t>
            </a:r>
            <a:r>
              <a:rPr spc="-155" dirty="0">
                <a:solidFill>
                  <a:srgbClr val="04182D"/>
                </a:solidFill>
                <a:latin typeface="Verdana"/>
                <a:cs typeface="Verdana"/>
              </a:rPr>
              <a:t> </a:t>
            </a:r>
            <a:r>
              <a:rPr spc="5" dirty="0">
                <a:solidFill>
                  <a:srgbClr val="04182D"/>
                </a:solidFill>
                <a:latin typeface="Microsoft Sans Serif"/>
                <a:cs typeface="Microsoft Sans Serif"/>
              </a:rPr>
              <a:t>(</a:t>
            </a:r>
            <a:r>
              <a:rPr spc="5" dirty="0">
                <a:solidFill>
                  <a:srgbClr val="04182D"/>
                </a:solidFill>
                <a:latin typeface="Verdana"/>
                <a:cs typeface="Verdana"/>
              </a:rPr>
              <a:t>AR</a:t>
            </a:r>
            <a:r>
              <a:rPr spc="5" dirty="0">
                <a:solidFill>
                  <a:srgbClr val="04182D"/>
                </a:solidFill>
                <a:latin typeface="Microsoft Sans Serif"/>
                <a:cs typeface="Microsoft Sans Serif"/>
              </a:rPr>
              <a:t>) </a:t>
            </a:r>
            <a:r>
              <a:rPr spc="-70" dirty="0">
                <a:solidFill>
                  <a:srgbClr val="04182D"/>
                </a:solidFill>
                <a:latin typeface="Verdana"/>
                <a:cs typeface="Verdana"/>
              </a:rPr>
              <a:t>models</a:t>
            </a:r>
            <a:r>
              <a:rPr spc="-70" dirty="0">
                <a:solidFill>
                  <a:srgbClr val="04182D"/>
                </a:solidFill>
                <a:latin typeface="Microsoft Sans Serif"/>
                <a:cs typeface="Microsoft Sans Serif"/>
              </a:rPr>
              <a:t>:</a:t>
            </a:r>
            <a:endParaRPr dirty="0">
              <a:latin typeface="Microsoft Sans Serif"/>
              <a:cs typeface="Microsoft Sans Serif"/>
            </a:endParaRPr>
          </a:p>
          <a:p>
            <a:pPr marL="457200" indent="-45720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Char char="•"/>
            </a:pPr>
            <a:endParaRPr dirty="0">
              <a:latin typeface="Microsoft Sans Serif"/>
              <a:cs typeface="Microsoft Sans Serif"/>
            </a:endParaRPr>
          </a:p>
          <a:p>
            <a:pPr marL="736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pc="10" dirty="0">
                <a:solidFill>
                  <a:srgbClr val="04182D"/>
                </a:solidFill>
                <a:latin typeface="Lucida Sans Unicode"/>
                <a:cs typeface="Lucida Sans Unicode"/>
              </a:rPr>
              <a:t>M</a:t>
            </a:r>
            <a:r>
              <a:rPr spc="10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pc="10" dirty="0">
                <a:solidFill>
                  <a:srgbClr val="04182D"/>
                </a:solidFill>
                <a:latin typeface="Lucida Sans Unicode"/>
                <a:cs typeface="Lucida Sans Unicode"/>
              </a:rPr>
              <a:t>ltiple</a:t>
            </a:r>
            <a:r>
              <a:rPr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regression</a:t>
            </a:r>
            <a:r>
              <a:rPr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20" dirty="0">
                <a:solidFill>
                  <a:srgbClr val="04182D"/>
                </a:solidFill>
                <a:latin typeface="Microsoft Sans Serif"/>
                <a:cs typeface="Microsoft Sans Serif"/>
              </a:rPr>
              <a:t>w</a:t>
            </a:r>
            <a:r>
              <a:rPr spc="20" dirty="0">
                <a:solidFill>
                  <a:srgbClr val="04182D"/>
                </a:solidFill>
                <a:latin typeface="Lucida Sans Unicode"/>
                <a:cs typeface="Lucida Sans Unicode"/>
              </a:rPr>
              <a:t>ith</a:t>
            </a:r>
            <a:r>
              <a:rPr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40" dirty="0">
                <a:solidFill>
                  <a:srgbClr val="04182D"/>
                </a:solidFill>
                <a:latin typeface="Lucida Sans Unicode"/>
                <a:cs typeface="Lucida Sans Unicode"/>
              </a:rPr>
              <a:t>lagged</a:t>
            </a:r>
            <a:r>
              <a:rPr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-15" dirty="0">
                <a:solidFill>
                  <a:srgbClr val="04182D"/>
                </a:solidFill>
                <a:latin typeface="Lucida Sans Unicode"/>
                <a:cs typeface="Lucida Sans Unicode"/>
              </a:rPr>
              <a:t>obser</a:t>
            </a:r>
            <a:r>
              <a:rPr spc="-15" dirty="0">
                <a:solidFill>
                  <a:srgbClr val="04182D"/>
                </a:solidFill>
                <a:latin typeface="Microsoft Sans Serif"/>
                <a:cs typeface="Microsoft Sans Serif"/>
              </a:rPr>
              <a:t>v</a:t>
            </a:r>
            <a:r>
              <a:rPr spc="-15" dirty="0">
                <a:solidFill>
                  <a:srgbClr val="04182D"/>
                </a:solidFill>
                <a:latin typeface="Lucida Sans Unicode"/>
                <a:cs typeface="Lucida Sans Unicode"/>
              </a:rPr>
              <a:t>ations</a:t>
            </a:r>
            <a:r>
              <a:rPr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40" dirty="0">
                <a:solidFill>
                  <a:srgbClr val="04182D"/>
                </a:solidFill>
                <a:latin typeface="Lucida Sans Unicode"/>
                <a:cs typeface="Lucida Sans Unicode"/>
              </a:rPr>
              <a:t>as</a:t>
            </a:r>
            <a:r>
              <a:rPr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-25" dirty="0">
                <a:solidFill>
                  <a:srgbClr val="04182D"/>
                </a:solidFill>
                <a:latin typeface="Lucida Sans Unicode"/>
                <a:cs typeface="Lucida Sans Unicode"/>
              </a:rPr>
              <a:t>predictors</a:t>
            </a:r>
            <a:endParaRPr dirty="0">
              <a:latin typeface="Lucida Sans Unicode"/>
              <a:cs typeface="Lucida Sans Unicode"/>
            </a:endParaRPr>
          </a:p>
          <a:p>
            <a:pPr marL="850900" indent="-457200">
              <a:lnSpc>
                <a:spcPct val="100000"/>
              </a:lnSpc>
              <a:spcBef>
                <a:spcPts val="1560"/>
              </a:spcBef>
              <a:buFont typeface="Arial" panose="020B0604020202020204" pitchFamily="34" charset="0"/>
              <a:buChar char="•"/>
              <a:tabLst>
                <a:tab pos="817244" algn="l"/>
              </a:tabLst>
            </a:pPr>
            <a:r>
              <a:rPr i="1" spc="-30" dirty="0">
                <a:solidFill>
                  <a:srgbClr val="04182D"/>
                </a:solidFill>
                <a:latin typeface="Arial"/>
                <a:cs typeface="Arial"/>
              </a:rPr>
              <a:t>y</a:t>
            </a:r>
            <a:r>
              <a:rPr i="1" spc="284" baseline="-12919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i="1" baseline="-12919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pc="170" dirty="0">
                <a:solidFill>
                  <a:srgbClr val="04182D"/>
                </a:solidFill>
                <a:latin typeface="Tahoma"/>
                <a:cs typeface="Tahoma"/>
              </a:rPr>
              <a:t>=</a:t>
            </a:r>
            <a:r>
              <a:rPr spc="-10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i="1" spc="-200" dirty="0">
                <a:solidFill>
                  <a:srgbClr val="04182D"/>
                </a:solidFill>
                <a:latin typeface="Arial"/>
                <a:cs typeface="Arial"/>
              </a:rPr>
              <a:t>c</a:t>
            </a:r>
            <a:r>
              <a:rPr i="1" spc="-1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pc="170" dirty="0">
                <a:solidFill>
                  <a:srgbClr val="04182D"/>
                </a:solidFill>
                <a:latin typeface="Tahoma"/>
                <a:cs typeface="Tahoma"/>
              </a:rPr>
              <a:t>+</a:t>
            </a:r>
            <a:r>
              <a:rPr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i="1" spc="130" dirty="0">
                <a:solidFill>
                  <a:srgbClr val="04182D"/>
                </a:solidFill>
                <a:latin typeface="Arial"/>
                <a:cs typeface="Arial"/>
              </a:rPr>
              <a:t>ϕ</a:t>
            </a:r>
            <a:r>
              <a:rPr spc="97" baseline="-12919" dirty="0">
                <a:solidFill>
                  <a:srgbClr val="04182D"/>
                </a:solidFill>
                <a:latin typeface="Tahoma"/>
                <a:cs typeface="Tahoma"/>
              </a:rPr>
              <a:t>1</a:t>
            </a:r>
            <a:r>
              <a:rPr i="1" spc="-30" dirty="0">
                <a:solidFill>
                  <a:srgbClr val="04182D"/>
                </a:solidFill>
                <a:latin typeface="Arial"/>
                <a:cs typeface="Arial"/>
              </a:rPr>
              <a:t>y</a:t>
            </a:r>
            <a:r>
              <a:rPr i="1" spc="277" baseline="-12919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spc="195" baseline="-12919" dirty="0">
                <a:solidFill>
                  <a:srgbClr val="04182D"/>
                </a:solidFill>
                <a:latin typeface="Tahoma"/>
                <a:cs typeface="Tahoma"/>
              </a:rPr>
              <a:t>−</a:t>
            </a:r>
            <a:r>
              <a:rPr spc="-127" baseline="-12919" dirty="0">
                <a:solidFill>
                  <a:srgbClr val="04182D"/>
                </a:solidFill>
                <a:latin typeface="Tahoma"/>
                <a:cs typeface="Tahoma"/>
              </a:rPr>
              <a:t>1</a:t>
            </a:r>
            <a:r>
              <a:rPr spc="270" baseline="-12919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pc="170" dirty="0">
                <a:solidFill>
                  <a:srgbClr val="04182D"/>
                </a:solidFill>
                <a:latin typeface="Tahoma"/>
                <a:cs typeface="Tahoma"/>
              </a:rPr>
              <a:t>+</a:t>
            </a:r>
            <a:r>
              <a:rPr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i="1" spc="130" dirty="0">
                <a:solidFill>
                  <a:srgbClr val="04182D"/>
                </a:solidFill>
                <a:latin typeface="Arial"/>
                <a:cs typeface="Arial"/>
              </a:rPr>
              <a:t>ϕ</a:t>
            </a:r>
            <a:r>
              <a:rPr spc="97" baseline="-12919" dirty="0">
                <a:solidFill>
                  <a:srgbClr val="04182D"/>
                </a:solidFill>
                <a:latin typeface="Tahoma"/>
                <a:cs typeface="Tahoma"/>
              </a:rPr>
              <a:t>2</a:t>
            </a:r>
            <a:r>
              <a:rPr i="1" spc="-30" dirty="0">
                <a:solidFill>
                  <a:srgbClr val="04182D"/>
                </a:solidFill>
                <a:latin typeface="Arial"/>
                <a:cs typeface="Arial"/>
              </a:rPr>
              <a:t>y</a:t>
            </a:r>
            <a:r>
              <a:rPr i="1" spc="277" baseline="-12919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spc="195" baseline="-12919" dirty="0">
                <a:solidFill>
                  <a:srgbClr val="04182D"/>
                </a:solidFill>
                <a:latin typeface="Tahoma"/>
                <a:cs typeface="Tahoma"/>
              </a:rPr>
              <a:t>−</a:t>
            </a:r>
            <a:r>
              <a:rPr spc="-127" baseline="-12919" dirty="0">
                <a:solidFill>
                  <a:srgbClr val="04182D"/>
                </a:solidFill>
                <a:latin typeface="Tahoma"/>
                <a:cs typeface="Tahoma"/>
              </a:rPr>
              <a:t>2</a:t>
            </a:r>
            <a:r>
              <a:rPr spc="270" baseline="-12919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pc="170" dirty="0">
                <a:solidFill>
                  <a:srgbClr val="04182D"/>
                </a:solidFill>
                <a:latin typeface="Tahoma"/>
                <a:cs typeface="Tahoma"/>
              </a:rPr>
              <a:t>+</a:t>
            </a:r>
            <a:r>
              <a:rPr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pc="-80" dirty="0">
                <a:solidFill>
                  <a:srgbClr val="04182D"/>
                </a:solidFill>
                <a:latin typeface="Tahoma"/>
                <a:cs typeface="Tahoma"/>
              </a:rPr>
              <a:t>..</a:t>
            </a:r>
            <a:r>
              <a:rPr spc="-75" dirty="0">
                <a:solidFill>
                  <a:srgbClr val="04182D"/>
                </a:solidFill>
                <a:latin typeface="Tahoma"/>
                <a:cs typeface="Tahoma"/>
              </a:rPr>
              <a:t>.</a:t>
            </a:r>
            <a:r>
              <a:rPr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pc="170" dirty="0">
                <a:solidFill>
                  <a:srgbClr val="04182D"/>
                </a:solidFill>
                <a:latin typeface="Tahoma"/>
                <a:cs typeface="Tahoma"/>
              </a:rPr>
              <a:t>+</a:t>
            </a:r>
            <a:r>
              <a:rPr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i="1" spc="130" dirty="0">
                <a:solidFill>
                  <a:srgbClr val="04182D"/>
                </a:solidFill>
                <a:latin typeface="Arial"/>
                <a:cs typeface="Arial"/>
              </a:rPr>
              <a:t>ϕ</a:t>
            </a:r>
            <a:r>
              <a:rPr i="1" spc="82" baseline="-12919" dirty="0">
                <a:solidFill>
                  <a:srgbClr val="04182D"/>
                </a:solidFill>
                <a:latin typeface="Arial"/>
                <a:cs typeface="Arial"/>
              </a:rPr>
              <a:t>p</a:t>
            </a:r>
            <a:r>
              <a:rPr i="1" spc="-30" dirty="0">
                <a:solidFill>
                  <a:srgbClr val="04182D"/>
                </a:solidFill>
                <a:latin typeface="Arial"/>
                <a:cs typeface="Arial"/>
              </a:rPr>
              <a:t>y</a:t>
            </a:r>
            <a:r>
              <a:rPr i="1" spc="277" baseline="-12919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spc="195" baseline="-12919" dirty="0">
                <a:solidFill>
                  <a:srgbClr val="04182D"/>
                </a:solidFill>
                <a:latin typeface="Tahoma"/>
                <a:cs typeface="Tahoma"/>
              </a:rPr>
              <a:t>−</a:t>
            </a:r>
            <a:r>
              <a:rPr i="1" spc="-150" baseline="-12919" dirty="0">
                <a:solidFill>
                  <a:srgbClr val="04182D"/>
                </a:solidFill>
                <a:latin typeface="Arial"/>
                <a:cs typeface="Arial"/>
              </a:rPr>
              <a:t>p</a:t>
            </a:r>
            <a:r>
              <a:rPr i="1" spc="382" baseline="-12919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pc="170" dirty="0">
                <a:solidFill>
                  <a:srgbClr val="04182D"/>
                </a:solidFill>
                <a:latin typeface="Tahoma"/>
                <a:cs typeface="Tahoma"/>
              </a:rPr>
              <a:t>+</a:t>
            </a:r>
            <a:r>
              <a:rPr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i="1" spc="-275" dirty="0">
                <a:solidFill>
                  <a:srgbClr val="04182D"/>
                </a:solidFill>
                <a:latin typeface="Arial"/>
                <a:cs typeface="Arial"/>
              </a:rPr>
              <a:t>e</a:t>
            </a:r>
            <a:r>
              <a:rPr i="1" spc="284" baseline="-12919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endParaRPr baseline="-12919" dirty="0">
              <a:latin typeface="Arial"/>
              <a:cs typeface="Arial"/>
            </a:endParaRPr>
          </a:p>
        </p:txBody>
      </p:sp>
      <p:sp>
        <p:nvSpPr>
          <p:cNvPr id="12" name="object 8"/>
          <p:cNvSpPr txBox="1"/>
          <p:nvPr/>
        </p:nvSpPr>
        <p:spPr>
          <a:xfrm>
            <a:off x="332325" y="3196712"/>
            <a:ext cx="8296909" cy="13401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pc="15" dirty="0">
                <a:solidFill>
                  <a:srgbClr val="04182D"/>
                </a:solidFill>
                <a:latin typeface="Verdana"/>
                <a:cs typeface="Verdana"/>
              </a:rPr>
              <a:t>Mo</a:t>
            </a:r>
            <a:r>
              <a:rPr spc="15" dirty="0">
                <a:solidFill>
                  <a:srgbClr val="04182D"/>
                </a:solidFill>
                <a:latin typeface="Microsoft Sans Serif"/>
                <a:cs typeface="Microsoft Sans Serif"/>
              </a:rPr>
              <a:t>v</a:t>
            </a:r>
            <a:r>
              <a:rPr spc="15" dirty="0">
                <a:solidFill>
                  <a:srgbClr val="04182D"/>
                </a:solidFill>
                <a:latin typeface="Verdana"/>
                <a:cs typeface="Verdana"/>
              </a:rPr>
              <a:t>ing</a:t>
            </a:r>
            <a:r>
              <a:rPr spc="-150" dirty="0">
                <a:solidFill>
                  <a:srgbClr val="04182D"/>
                </a:solidFill>
                <a:latin typeface="Verdana"/>
                <a:cs typeface="Verdana"/>
              </a:rPr>
              <a:t> </a:t>
            </a:r>
            <a:r>
              <a:rPr spc="-25" dirty="0">
                <a:solidFill>
                  <a:srgbClr val="04182D"/>
                </a:solidFill>
                <a:latin typeface="Verdana"/>
                <a:cs typeface="Verdana"/>
              </a:rPr>
              <a:t>a</a:t>
            </a:r>
            <a:r>
              <a:rPr spc="-25" dirty="0">
                <a:solidFill>
                  <a:srgbClr val="04182D"/>
                </a:solidFill>
                <a:latin typeface="Microsoft Sans Serif"/>
                <a:cs typeface="Microsoft Sans Serif"/>
              </a:rPr>
              <a:t>v</a:t>
            </a:r>
            <a:r>
              <a:rPr spc="-25" dirty="0">
                <a:solidFill>
                  <a:srgbClr val="04182D"/>
                </a:solidFill>
                <a:latin typeface="Verdana"/>
                <a:cs typeface="Verdana"/>
              </a:rPr>
              <a:t>erage</a:t>
            </a:r>
            <a:r>
              <a:rPr spc="-150" dirty="0">
                <a:solidFill>
                  <a:srgbClr val="04182D"/>
                </a:solidFill>
                <a:latin typeface="Verdana"/>
                <a:cs typeface="Verdana"/>
              </a:rPr>
              <a:t> </a:t>
            </a:r>
            <a:r>
              <a:rPr spc="110" dirty="0">
                <a:solidFill>
                  <a:srgbClr val="04182D"/>
                </a:solidFill>
                <a:latin typeface="Microsoft Sans Serif"/>
                <a:cs typeface="Microsoft Sans Serif"/>
              </a:rPr>
              <a:t>(</a:t>
            </a:r>
            <a:r>
              <a:rPr spc="110" dirty="0">
                <a:solidFill>
                  <a:srgbClr val="04182D"/>
                </a:solidFill>
                <a:latin typeface="Verdana"/>
                <a:cs typeface="Verdana"/>
              </a:rPr>
              <a:t>MA</a:t>
            </a:r>
            <a:r>
              <a:rPr spc="110" dirty="0">
                <a:solidFill>
                  <a:srgbClr val="04182D"/>
                </a:solidFill>
                <a:latin typeface="Microsoft Sans Serif"/>
                <a:cs typeface="Microsoft Sans Serif"/>
              </a:rPr>
              <a:t>)</a:t>
            </a:r>
            <a:r>
              <a:rPr spc="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pc="-70" dirty="0">
                <a:solidFill>
                  <a:srgbClr val="04182D"/>
                </a:solidFill>
                <a:latin typeface="Verdana"/>
                <a:cs typeface="Verdana"/>
              </a:rPr>
              <a:t>models</a:t>
            </a:r>
            <a:r>
              <a:rPr spc="-70" dirty="0">
                <a:solidFill>
                  <a:srgbClr val="04182D"/>
                </a:solidFill>
                <a:latin typeface="Microsoft Sans Serif"/>
                <a:cs typeface="Microsoft Sans Serif"/>
              </a:rPr>
              <a:t>:</a:t>
            </a:r>
            <a:endParaRPr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dirty="0">
              <a:latin typeface="Microsoft Sans Serif"/>
              <a:cs typeface="Microsoft Sans Serif"/>
            </a:endParaRPr>
          </a:p>
          <a:p>
            <a:pPr marL="736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pc="10" dirty="0">
                <a:solidFill>
                  <a:srgbClr val="04182D"/>
                </a:solidFill>
                <a:latin typeface="Lucida Sans Unicode"/>
                <a:cs typeface="Lucida Sans Unicode"/>
              </a:rPr>
              <a:t>M</a:t>
            </a:r>
            <a:r>
              <a:rPr spc="10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pc="10" dirty="0">
                <a:solidFill>
                  <a:srgbClr val="04182D"/>
                </a:solidFill>
                <a:latin typeface="Lucida Sans Unicode"/>
                <a:cs typeface="Lucida Sans Unicode"/>
              </a:rPr>
              <a:t>ltiple</a:t>
            </a:r>
            <a:r>
              <a:rPr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regression</a:t>
            </a:r>
            <a:r>
              <a:rPr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20" dirty="0">
                <a:solidFill>
                  <a:srgbClr val="04182D"/>
                </a:solidFill>
                <a:latin typeface="Microsoft Sans Serif"/>
                <a:cs typeface="Microsoft Sans Serif"/>
              </a:rPr>
              <a:t>w</a:t>
            </a:r>
            <a:r>
              <a:rPr spc="20" dirty="0">
                <a:solidFill>
                  <a:srgbClr val="04182D"/>
                </a:solidFill>
                <a:latin typeface="Lucida Sans Unicode"/>
                <a:cs typeface="Lucida Sans Unicode"/>
              </a:rPr>
              <a:t>ith</a:t>
            </a:r>
            <a:r>
              <a:rPr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40" dirty="0">
                <a:solidFill>
                  <a:srgbClr val="04182D"/>
                </a:solidFill>
                <a:latin typeface="Lucida Sans Unicode"/>
                <a:cs typeface="Lucida Sans Unicode"/>
              </a:rPr>
              <a:t>lagged</a:t>
            </a:r>
            <a:r>
              <a:rPr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-70" dirty="0">
                <a:solidFill>
                  <a:srgbClr val="04182D"/>
                </a:solidFill>
                <a:latin typeface="Lucida Sans Unicode"/>
                <a:cs typeface="Lucida Sans Unicode"/>
              </a:rPr>
              <a:t>errors</a:t>
            </a:r>
            <a:r>
              <a:rPr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40" dirty="0">
                <a:solidFill>
                  <a:srgbClr val="04182D"/>
                </a:solidFill>
                <a:latin typeface="Lucida Sans Unicode"/>
                <a:cs typeface="Lucida Sans Unicode"/>
              </a:rPr>
              <a:t>as</a:t>
            </a:r>
            <a:r>
              <a:rPr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-25" dirty="0">
                <a:solidFill>
                  <a:srgbClr val="04182D"/>
                </a:solidFill>
                <a:latin typeface="Lucida Sans Unicode"/>
                <a:cs typeface="Lucida Sans Unicode"/>
              </a:rPr>
              <a:t>predictors</a:t>
            </a:r>
            <a:endParaRPr dirty="0">
              <a:latin typeface="Lucida Sans Unicode"/>
              <a:cs typeface="Lucida Sans Unicode"/>
            </a:endParaRPr>
          </a:p>
          <a:p>
            <a:pPr marL="850900" indent="-457200">
              <a:lnSpc>
                <a:spcPct val="100000"/>
              </a:lnSpc>
              <a:spcBef>
                <a:spcPts val="1560"/>
              </a:spcBef>
              <a:buFont typeface="Arial" panose="020B0604020202020204" pitchFamily="34" charset="0"/>
              <a:buChar char="•"/>
              <a:tabLst>
                <a:tab pos="817244" algn="l"/>
              </a:tabLst>
            </a:pPr>
            <a:r>
              <a:rPr i="1" spc="-30" dirty="0">
                <a:solidFill>
                  <a:srgbClr val="04182D"/>
                </a:solidFill>
                <a:latin typeface="Arial"/>
                <a:cs typeface="Arial"/>
              </a:rPr>
              <a:t>y</a:t>
            </a:r>
            <a:r>
              <a:rPr i="1" spc="284" baseline="-12919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i="1" baseline="-12919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pc="170" dirty="0">
                <a:solidFill>
                  <a:srgbClr val="04182D"/>
                </a:solidFill>
                <a:latin typeface="Tahoma"/>
                <a:cs typeface="Tahoma"/>
              </a:rPr>
              <a:t>=</a:t>
            </a:r>
            <a:r>
              <a:rPr spc="-10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i="1" spc="-200" dirty="0">
                <a:solidFill>
                  <a:srgbClr val="04182D"/>
                </a:solidFill>
                <a:latin typeface="Arial"/>
                <a:cs typeface="Arial"/>
              </a:rPr>
              <a:t>c</a:t>
            </a:r>
            <a:r>
              <a:rPr i="1" spc="-1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pc="170" dirty="0">
                <a:solidFill>
                  <a:srgbClr val="04182D"/>
                </a:solidFill>
                <a:latin typeface="Tahoma"/>
                <a:cs typeface="Tahoma"/>
              </a:rPr>
              <a:t>+</a:t>
            </a:r>
            <a:r>
              <a:rPr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i="1" spc="-225" dirty="0">
                <a:solidFill>
                  <a:srgbClr val="04182D"/>
                </a:solidFill>
                <a:latin typeface="Arial"/>
                <a:cs typeface="Arial"/>
              </a:rPr>
              <a:t>θ</a:t>
            </a:r>
            <a:r>
              <a:rPr spc="97" baseline="-12919" dirty="0">
                <a:solidFill>
                  <a:srgbClr val="04182D"/>
                </a:solidFill>
                <a:latin typeface="Tahoma"/>
                <a:cs typeface="Tahoma"/>
              </a:rPr>
              <a:t>1</a:t>
            </a:r>
            <a:r>
              <a:rPr i="1" spc="-275" dirty="0">
                <a:solidFill>
                  <a:srgbClr val="04182D"/>
                </a:solidFill>
                <a:latin typeface="Arial"/>
                <a:cs typeface="Arial"/>
              </a:rPr>
              <a:t>e</a:t>
            </a:r>
            <a:r>
              <a:rPr i="1" spc="277" baseline="-12919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spc="195" baseline="-12919" dirty="0">
                <a:solidFill>
                  <a:srgbClr val="04182D"/>
                </a:solidFill>
                <a:latin typeface="Tahoma"/>
                <a:cs typeface="Tahoma"/>
              </a:rPr>
              <a:t>−</a:t>
            </a:r>
            <a:r>
              <a:rPr spc="-127" baseline="-12919" dirty="0">
                <a:solidFill>
                  <a:srgbClr val="04182D"/>
                </a:solidFill>
                <a:latin typeface="Tahoma"/>
                <a:cs typeface="Tahoma"/>
              </a:rPr>
              <a:t>1</a:t>
            </a:r>
            <a:r>
              <a:rPr spc="270" baseline="-12919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pc="170" dirty="0">
                <a:solidFill>
                  <a:srgbClr val="04182D"/>
                </a:solidFill>
                <a:latin typeface="Tahoma"/>
                <a:cs typeface="Tahoma"/>
              </a:rPr>
              <a:t>+</a:t>
            </a:r>
            <a:r>
              <a:rPr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i="1" spc="-225" dirty="0">
                <a:solidFill>
                  <a:srgbClr val="04182D"/>
                </a:solidFill>
                <a:latin typeface="Arial"/>
                <a:cs typeface="Arial"/>
              </a:rPr>
              <a:t>θ</a:t>
            </a:r>
            <a:r>
              <a:rPr spc="97" baseline="-12919" dirty="0">
                <a:solidFill>
                  <a:srgbClr val="04182D"/>
                </a:solidFill>
                <a:latin typeface="Tahoma"/>
                <a:cs typeface="Tahoma"/>
              </a:rPr>
              <a:t>2</a:t>
            </a:r>
            <a:r>
              <a:rPr i="1" spc="-275" dirty="0">
                <a:solidFill>
                  <a:srgbClr val="04182D"/>
                </a:solidFill>
                <a:latin typeface="Arial"/>
                <a:cs typeface="Arial"/>
              </a:rPr>
              <a:t>e</a:t>
            </a:r>
            <a:r>
              <a:rPr i="1" spc="277" baseline="-12919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spc="195" baseline="-12919" dirty="0">
                <a:solidFill>
                  <a:srgbClr val="04182D"/>
                </a:solidFill>
                <a:latin typeface="Tahoma"/>
                <a:cs typeface="Tahoma"/>
              </a:rPr>
              <a:t>−</a:t>
            </a:r>
            <a:r>
              <a:rPr spc="-127" baseline="-12919" dirty="0">
                <a:solidFill>
                  <a:srgbClr val="04182D"/>
                </a:solidFill>
                <a:latin typeface="Tahoma"/>
                <a:cs typeface="Tahoma"/>
              </a:rPr>
              <a:t>2</a:t>
            </a:r>
            <a:r>
              <a:rPr spc="270" baseline="-12919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pc="170" dirty="0">
                <a:solidFill>
                  <a:srgbClr val="04182D"/>
                </a:solidFill>
                <a:latin typeface="Tahoma"/>
                <a:cs typeface="Tahoma"/>
              </a:rPr>
              <a:t>+</a:t>
            </a:r>
            <a:r>
              <a:rPr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pc="-80" dirty="0">
                <a:solidFill>
                  <a:srgbClr val="04182D"/>
                </a:solidFill>
                <a:latin typeface="Tahoma"/>
                <a:cs typeface="Tahoma"/>
              </a:rPr>
              <a:t>..</a:t>
            </a:r>
            <a:r>
              <a:rPr spc="-75" dirty="0">
                <a:solidFill>
                  <a:srgbClr val="04182D"/>
                </a:solidFill>
                <a:latin typeface="Tahoma"/>
                <a:cs typeface="Tahoma"/>
              </a:rPr>
              <a:t>.</a:t>
            </a:r>
            <a:r>
              <a:rPr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pc="170" dirty="0">
                <a:solidFill>
                  <a:srgbClr val="04182D"/>
                </a:solidFill>
                <a:latin typeface="Tahoma"/>
                <a:cs typeface="Tahoma"/>
              </a:rPr>
              <a:t>+</a:t>
            </a:r>
            <a:r>
              <a:rPr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i="1" spc="-225" dirty="0">
                <a:solidFill>
                  <a:srgbClr val="04182D"/>
                </a:solidFill>
                <a:latin typeface="Arial"/>
                <a:cs typeface="Arial"/>
              </a:rPr>
              <a:t>θ</a:t>
            </a:r>
            <a:r>
              <a:rPr i="1" spc="7" baseline="-12919" dirty="0">
                <a:solidFill>
                  <a:srgbClr val="04182D"/>
                </a:solidFill>
                <a:latin typeface="Arial"/>
                <a:cs typeface="Arial"/>
              </a:rPr>
              <a:t>q</a:t>
            </a:r>
            <a:r>
              <a:rPr i="1" spc="-275" dirty="0">
                <a:solidFill>
                  <a:srgbClr val="04182D"/>
                </a:solidFill>
                <a:latin typeface="Arial"/>
                <a:cs typeface="Arial"/>
              </a:rPr>
              <a:t>e</a:t>
            </a:r>
            <a:r>
              <a:rPr i="1" spc="277" baseline="-12919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spc="195" baseline="-12919" dirty="0">
                <a:solidFill>
                  <a:srgbClr val="04182D"/>
                </a:solidFill>
                <a:latin typeface="Tahoma"/>
                <a:cs typeface="Tahoma"/>
              </a:rPr>
              <a:t>−</a:t>
            </a:r>
            <a:r>
              <a:rPr i="1" spc="-337" baseline="-12919" dirty="0">
                <a:solidFill>
                  <a:srgbClr val="04182D"/>
                </a:solidFill>
                <a:latin typeface="Arial"/>
                <a:cs typeface="Arial"/>
              </a:rPr>
              <a:t>q</a:t>
            </a:r>
            <a:endParaRPr baseline="-12919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5530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1A58-12D5-4546-995B-9323A3D8C075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095351"/>
            <a:ext cx="7772400" cy="461665"/>
          </a:xfrm>
        </p:spPr>
        <p:txBody>
          <a:bodyPr/>
          <a:lstStyle/>
          <a:p>
            <a:r>
              <a:rPr lang="en-US" dirty="0" smtClean="0"/>
              <a:t>ARIMA MODELS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object 7"/>
          <p:cNvSpPr txBox="1"/>
          <p:nvPr/>
        </p:nvSpPr>
        <p:spPr>
          <a:xfrm>
            <a:off x="332325" y="3206970"/>
            <a:ext cx="8096250" cy="85792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5" dirty="0">
                <a:solidFill>
                  <a:srgbClr val="04182D"/>
                </a:solidFill>
                <a:latin typeface="Verdana"/>
                <a:cs typeface="Verdana"/>
              </a:rPr>
              <a:t>ARIMA</a:t>
            </a:r>
            <a:r>
              <a:rPr spc="-5" dirty="0">
                <a:solidFill>
                  <a:srgbClr val="04182D"/>
                </a:solidFill>
                <a:latin typeface="Microsoft Sans Serif"/>
                <a:cs typeface="Microsoft Sans Serif"/>
              </a:rPr>
              <a:t>(</a:t>
            </a:r>
            <a:r>
              <a:rPr spc="-5" dirty="0">
                <a:solidFill>
                  <a:srgbClr val="04182D"/>
                </a:solidFill>
                <a:latin typeface="Verdana"/>
                <a:cs typeface="Verdana"/>
              </a:rPr>
              <a:t>p</a:t>
            </a:r>
            <a:r>
              <a:rPr spc="-5" dirty="0">
                <a:solidFill>
                  <a:srgbClr val="04182D"/>
                </a:solidFill>
                <a:latin typeface="Microsoft Sans Serif"/>
                <a:cs typeface="Microsoft Sans Serif"/>
              </a:rPr>
              <a:t>, </a:t>
            </a:r>
            <a:r>
              <a:rPr spc="-45" dirty="0">
                <a:solidFill>
                  <a:srgbClr val="04182D"/>
                </a:solidFill>
                <a:latin typeface="Verdana"/>
                <a:cs typeface="Verdana"/>
              </a:rPr>
              <a:t>d</a:t>
            </a:r>
            <a:r>
              <a:rPr spc="-45" dirty="0">
                <a:solidFill>
                  <a:srgbClr val="04182D"/>
                </a:solidFill>
                <a:latin typeface="Microsoft Sans Serif"/>
                <a:cs typeface="Microsoft Sans Serif"/>
              </a:rPr>
              <a:t>,</a:t>
            </a:r>
            <a:r>
              <a:rPr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pc="10" dirty="0">
                <a:solidFill>
                  <a:srgbClr val="04182D"/>
                </a:solidFill>
                <a:latin typeface="Verdana"/>
                <a:cs typeface="Verdana"/>
              </a:rPr>
              <a:t>q</a:t>
            </a:r>
            <a:r>
              <a:rPr spc="10" dirty="0">
                <a:solidFill>
                  <a:srgbClr val="04182D"/>
                </a:solidFill>
                <a:latin typeface="Microsoft Sans Serif"/>
                <a:cs typeface="Microsoft Sans Serif"/>
              </a:rPr>
              <a:t>)</a:t>
            </a:r>
            <a:r>
              <a:rPr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pc="-70" dirty="0">
                <a:solidFill>
                  <a:srgbClr val="04182D"/>
                </a:solidFill>
                <a:latin typeface="Verdana"/>
                <a:cs typeface="Verdana"/>
              </a:rPr>
              <a:t>models</a:t>
            </a:r>
            <a:r>
              <a:rPr spc="-70" dirty="0">
                <a:solidFill>
                  <a:srgbClr val="04182D"/>
                </a:solidFill>
                <a:latin typeface="Microsoft Sans Serif"/>
                <a:cs typeface="Microsoft Sans Serif"/>
              </a:rPr>
              <a:t>:</a:t>
            </a:r>
            <a:endParaRPr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dirty="0">
              <a:latin typeface="Microsoft Sans Serif"/>
              <a:cs typeface="Microsoft Sans Serif"/>
            </a:endParaRPr>
          </a:p>
          <a:p>
            <a:pPr marL="723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pc="15" dirty="0">
                <a:solidFill>
                  <a:srgbClr val="04182D"/>
                </a:solidFill>
                <a:latin typeface="Lucida Sans Unicode"/>
                <a:cs typeface="Lucida Sans Unicode"/>
              </a:rPr>
              <a:t>Combine</a:t>
            </a:r>
            <a:r>
              <a:rPr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80" dirty="0">
                <a:solidFill>
                  <a:srgbClr val="04182D"/>
                </a:solidFill>
                <a:latin typeface="Lucida Sans Unicode"/>
                <a:cs typeface="Lucida Sans Unicode"/>
              </a:rPr>
              <a:t>ARMA</a:t>
            </a:r>
            <a:r>
              <a:rPr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-20" dirty="0">
                <a:solidFill>
                  <a:srgbClr val="04182D"/>
                </a:solidFill>
                <a:latin typeface="Lucida Sans Unicode"/>
                <a:cs typeface="Lucida Sans Unicode"/>
              </a:rPr>
              <a:t>model</a:t>
            </a:r>
            <a:r>
              <a:rPr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20" dirty="0">
                <a:solidFill>
                  <a:srgbClr val="04182D"/>
                </a:solidFill>
                <a:latin typeface="Microsoft Sans Serif"/>
                <a:cs typeface="Microsoft Sans Serif"/>
              </a:rPr>
              <a:t>w</a:t>
            </a:r>
            <a:r>
              <a:rPr spc="20" dirty="0">
                <a:solidFill>
                  <a:srgbClr val="04182D"/>
                </a:solidFill>
                <a:latin typeface="Lucida Sans Unicode"/>
                <a:cs typeface="Lucida Sans Unicode"/>
              </a:rPr>
              <a:t>ith</a:t>
            </a:r>
            <a:r>
              <a:rPr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d</a:t>
            </a:r>
            <a:r>
              <a:rPr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170" dirty="0">
                <a:solidFill>
                  <a:srgbClr val="04182D"/>
                </a:solidFill>
                <a:latin typeface="Microsoft Sans Serif"/>
                <a:cs typeface="Microsoft Sans Serif"/>
              </a:rPr>
              <a:t>-</a:t>
            </a:r>
            <a:r>
              <a:rPr spc="8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pc="-65" dirty="0">
                <a:solidFill>
                  <a:srgbClr val="04182D"/>
                </a:solidFill>
                <a:latin typeface="Lucida Sans Unicode"/>
                <a:cs typeface="Lucida Sans Unicode"/>
              </a:rPr>
              <a:t>lots</a:t>
            </a:r>
            <a:r>
              <a:rPr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of </a:t>
            </a:r>
            <a:r>
              <a:rPr spc="-30" dirty="0">
                <a:solidFill>
                  <a:srgbClr val="04182D"/>
                </a:solidFill>
                <a:latin typeface="Lucida Sans Unicode"/>
                <a:cs typeface="Lucida Sans Unicode"/>
              </a:rPr>
              <a:t>di</a:t>
            </a:r>
            <a:r>
              <a:rPr spc="87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-5" dirty="0">
                <a:solidFill>
                  <a:srgbClr val="04182D"/>
                </a:solidFill>
                <a:latin typeface="Lucida Sans Unicode"/>
                <a:cs typeface="Lucida Sans Unicode"/>
              </a:rPr>
              <a:t>erencing</a:t>
            </a:r>
            <a:endParaRPr dirty="0">
              <a:latin typeface="Lucida Sans Unicode"/>
              <a:cs typeface="Lucida Sans Unicode"/>
            </a:endParaRPr>
          </a:p>
        </p:txBody>
      </p:sp>
      <p:sp>
        <p:nvSpPr>
          <p:cNvPr id="10" name="object 5"/>
          <p:cNvSpPr txBox="1"/>
          <p:nvPr/>
        </p:nvSpPr>
        <p:spPr>
          <a:xfrm>
            <a:off x="332325" y="1537354"/>
            <a:ext cx="9914255" cy="140762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pc="-50" dirty="0">
                <a:solidFill>
                  <a:srgbClr val="04182D"/>
                </a:solidFill>
                <a:latin typeface="Verdana"/>
                <a:cs typeface="Verdana"/>
              </a:rPr>
              <a:t>A</a:t>
            </a:r>
            <a:r>
              <a:rPr spc="-50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pc="-50" dirty="0">
                <a:solidFill>
                  <a:srgbClr val="04182D"/>
                </a:solidFill>
                <a:latin typeface="Verdana"/>
                <a:cs typeface="Verdana"/>
              </a:rPr>
              <a:t>toregressi</a:t>
            </a:r>
            <a:r>
              <a:rPr spc="-50" dirty="0">
                <a:solidFill>
                  <a:srgbClr val="04182D"/>
                </a:solidFill>
                <a:latin typeface="Microsoft Sans Serif"/>
                <a:cs typeface="Microsoft Sans Serif"/>
              </a:rPr>
              <a:t>v</a:t>
            </a:r>
            <a:r>
              <a:rPr spc="-50" dirty="0">
                <a:solidFill>
                  <a:srgbClr val="04182D"/>
                </a:solidFill>
                <a:latin typeface="Verdana"/>
                <a:cs typeface="Verdana"/>
              </a:rPr>
              <a:t>e</a:t>
            </a:r>
            <a:r>
              <a:rPr spc="-145" dirty="0">
                <a:solidFill>
                  <a:srgbClr val="04182D"/>
                </a:solidFill>
                <a:latin typeface="Verdana"/>
                <a:cs typeface="Verdana"/>
              </a:rPr>
              <a:t> </a:t>
            </a:r>
            <a:r>
              <a:rPr spc="-50" dirty="0">
                <a:solidFill>
                  <a:srgbClr val="04182D"/>
                </a:solidFill>
                <a:latin typeface="Verdana"/>
                <a:cs typeface="Verdana"/>
              </a:rPr>
              <a:t>mo</a:t>
            </a:r>
            <a:r>
              <a:rPr spc="-50" dirty="0">
                <a:solidFill>
                  <a:srgbClr val="04182D"/>
                </a:solidFill>
                <a:latin typeface="Microsoft Sans Serif"/>
                <a:cs typeface="Microsoft Sans Serif"/>
              </a:rPr>
              <a:t>v</a:t>
            </a:r>
            <a:r>
              <a:rPr spc="-50" dirty="0">
                <a:solidFill>
                  <a:srgbClr val="04182D"/>
                </a:solidFill>
                <a:latin typeface="Verdana"/>
                <a:cs typeface="Verdana"/>
              </a:rPr>
              <a:t>ing</a:t>
            </a:r>
            <a:r>
              <a:rPr spc="-145" dirty="0">
                <a:solidFill>
                  <a:srgbClr val="04182D"/>
                </a:solidFill>
                <a:latin typeface="Verdana"/>
                <a:cs typeface="Verdana"/>
              </a:rPr>
              <a:t> </a:t>
            </a:r>
            <a:r>
              <a:rPr spc="-25" dirty="0">
                <a:solidFill>
                  <a:srgbClr val="04182D"/>
                </a:solidFill>
                <a:latin typeface="Verdana"/>
                <a:cs typeface="Verdana"/>
              </a:rPr>
              <a:t>a</a:t>
            </a:r>
            <a:r>
              <a:rPr spc="-25" dirty="0">
                <a:solidFill>
                  <a:srgbClr val="04182D"/>
                </a:solidFill>
                <a:latin typeface="Microsoft Sans Serif"/>
                <a:cs typeface="Microsoft Sans Serif"/>
              </a:rPr>
              <a:t>v</a:t>
            </a:r>
            <a:r>
              <a:rPr spc="-25" dirty="0">
                <a:solidFill>
                  <a:srgbClr val="04182D"/>
                </a:solidFill>
                <a:latin typeface="Verdana"/>
                <a:cs typeface="Verdana"/>
              </a:rPr>
              <a:t>erage</a:t>
            </a:r>
            <a:r>
              <a:rPr spc="-145" dirty="0">
                <a:solidFill>
                  <a:srgbClr val="04182D"/>
                </a:solidFill>
                <a:latin typeface="Verdana"/>
                <a:cs typeface="Verdana"/>
              </a:rPr>
              <a:t> </a:t>
            </a:r>
            <a:r>
              <a:rPr spc="70" dirty="0">
                <a:solidFill>
                  <a:srgbClr val="04182D"/>
                </a:solidFill>
                <a:latin typeface="Microsoft Sans Serif"/>
                <a:cs typeface="Microsoft Sans Serif"/>
              </a:rPr>
              <a:t>(</a:t>
            </a:r>
            <a:r>
              <a:rPr spc="70" dirty="0">
                <a:solidFill>
                  <a:srgbClr val="04182D"/>
                </a:solidFill>
                <a:latin typeface="Verdana"/>
                <a:cs typeface="Verdana"/>
              </a:rPr>
              <a:t>ARMA</a:t>
            </a:r>
            <a:r>
              <a:rPr spc="70" dirty="0">
                <a:solidFill>
                  <a:srgbClr val="04182D"/>
                </a:solidFill>
                <a:latin typeface="Microsoft Sans Serif"/>
                <a:cs typeface="Microsoft Sans Serif"/>
              </a:rPr>
              <a:t>)</a:t>
            </a:r>
            <a:r>
              <a:rPr spc="10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pc="-70" dirty="0">
                <a:solidFill>
                  <a:srgbClr val="04182D"/>
                </a:solidFill>
                <a:latin typeface="Verdana"/>
                <a:cs typeface="Verdana"/>
              </a:rPr>
              <a:t>models</a:t>
            </a:r>
            <a:r>
              <a:rPr spc="-70" dirty="0">
                <a:solidFill>
                  <a:srgbClr val="04182D"/>
                </a:solidFill>
                <a:latin typeface="Microsoft Sans Serif"/>
                <a:cs typeface="Microsoft Sans Serif"/>
              </a:rPr>
              <a:t>:</a:t>
            </a:r>
            <a:endParaRPr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dirty="0">
              <a:latin typeface="Microsoft Sans Serif"/>
              <a:cs typeface="Microsoft Sans Serif"/>
            </a:endParaRPr>
          </a:p>
          <a:p>
            <a:pPr marL="679450" marR="563880" indent="-285750">
              <a:lnSpc>
                <a:spcPct val="128899"/>
              </a:lnSpc>
              <a:buFont typeface="Arial" panose="020B0604020202020204" pitchFamily="34" charset="0"/>
              <a:buChar char="•"/>
            </a:pPr>
            <a:r>
              <a:rPr spc="10" dirty="0">
                <a:solidFill>
                  <a:srgbClr val="04182D"/>
                </a:solidFill>
                <a:latin typeface="Lucida Sans Unicode"/>
                <a:cs typeface="Lucida Sans Unicode"/>
              </a:rPr>
              <a:t>M</a:t>
            </a:r>
            <a:r>
              <a:rPr spc="10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pc="10" dirty="0">
                <a:solidFill>
                  <a:srgbClr val="04182D"/>
                </a:solidFill>
                <a:latin typeface="Lucida Sans Unicode"/>
                <a:cs typeface="Lucida Sans Unicode"/>
              </a:rPr>
              <a:t>ltiple</a:t>
            </a:r>
            <a:r>
              <a:rPr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regression</a:t>
            </a:r>
            <a:r>
              <a:rPr spc="-3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20" dirty="0">
                <a:solidFill>
                  <a:srgbClr val="04182D"/>
                </a:solidFill>
                <a:latin typeface="Microsoft Sans Serif"/>
                <a:cs typeface="Microsoft Sans Serif"/>
              </a:rPr>
              <a:t>w</a:t>
            </a:r>
            <a:r>
              <a:rPr spc="20" dirty="0">
                <a:solidFill>
                  <a:srgbClr val="04182D"/>
                </a:solidFill>
                <a:latin typeface="Lucida Sans Unicode"/>
                <a:cs typeface="Lucida Sans Unicode"/>
              </a:rPr>
              <a:t>ith</a:t>
            </a:r>
            <a:r>
              <a:rPr spc="-3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40" dirty="0">
                <a:solidFill>
                  <a:srgbClr val="04182D"/>
                </a:solidFill>
                <a:latin typeface="Lucida Sans Unicode"/>
                <a:cs typeface="Lucida Sans Unicode"/>
              </a:rPr>
              <a:t>lagged</a:t>
            </a:r>
            <a:r>
              <a:rPr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-15" dirty="0">
                <a:solidFill>
                  <a:srgbClr val="04182D"/>
                </a:solidFill>
                <a:latin typeface="Lucida Sans Unicode"/>
                <a:cs typeface="Lucida Sans Unicode"/>
              </a:rPr>
              <a:t>obser</a:t>
            </a:r>
            <a:r>
              <a:rPr spc="-15" dirty="0">
                <a:solidFill>
                  <a:srgbClr val="04182D"/>
                </a:solidFill>
                <a:latin typeface="Microsoft Sans Serif"/>
                <a:cs typeface="Microsoft Sans Serif"/>
              </a:rPr>
              <a:t>v</a:t>
            </a:r>
            <a:r>
              <a:rPr spc="-15" dirty="0">
                <a:solidFill>
                  <a:srgbClr val="04182D"/>
                </a:solidFill>
                <a:latin typeface="Lucida Sans Unicode"/>
                <a:cs typeface="Lucida Sans Unicode"/>
              </a:rPr>
              <a:t>ations</a:t>
            </a:r>
            <a:r>
              <a:rPr spc="-3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45" dirty="0">
                <a:solidFill>
                  <a:srgbClr val="04182D"/>
                </a:solidFill>
                <a:latin typeface="Lucida Sans Unicode"/>
                <a:cs typeface="Lucida Sans Unicode"/>
              </a:rPr>
              <a:t>and</a:t>
            </a:r>
            <a:r>
              <a:rPr spc="-3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-70" dirty="0">
                <a:solidFill>
                  <a:srgbClr val="04182D"/>
                </a:solidFill>
                <a:latin typeface="Lucida Sans Unicode"/>
                <a:cs typeface="Lucida Sans Unicode"/>
              </a:rPr>
              <a:t>errors</a:t>
            </a:r>
            <a:r>
              <a:rPr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40" dirty="0">
                <a:solidFill>
                  <a:srgbClr val="04182D"/>
                </a:solidFill>
                <a:latin typeface="Lucida Sans Unicode"/>
                <a:cs typeface="Lucida Sans Unicode"/>
              </a:rPr>
              <a:t>as </a:t>
            </a:r>
            <a:r>
              <a:rPr spc="-77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-25" dirty="0">
                <a:solidFill>
                  <a:srgbClr val="04182D"/>
                </a:solidFill>
                <a:latin typeface="Lucida Sans Unicode"/>
                <a:cs typeface="Lucida Sans Unicode"/>
              </a:rPr>
              <a:t>predictors</a:t>
            </a:r>
            <a:endParaRPr dirty="0">
              <a:latin typeface="Lucida Sans Unicode"/>
              <a:cs typeface="Lucida Sans Unicode"/>
            </a:endParaRPr>
          </a:p>
          <a:p>
            <a:pPr marL="679450" indent="-285750">
              <a:lnSpc>
                <a:spcPct val="100000"/>
              </a:lnSpc>
              <a:spcBef>
                <a:spcPts val="1560"/>
              </a:spcBef>
              <a:buFont typeface="Arial" panose="020B0604020202020204" pitchFamily="34" charset="0"/>
              <a:buChar char="•"/>
              <a:tabLst>
                <a:tab pos="817244" algn="l"/>
              </a:tabLst>
            </a:pPr>
            <a:r>
              <a:rPr i="1" spc="80" dirty="0">
                <a:solidFill>
                  <a:srgbClr val="04182D"/>
                </a:solidFill>
                <a:latin typeface="Arial"/>
                <a:cs typeface="Arial"/>
              </a:rPr>
              <a:t>y</a:t>
            </a:r>
            <a:r>
              <a:rPr i="1" spc="120" baseline="-12919" dirty="0">
                <a:solidFill>
                  <a:srgbClr val="04182D"/>
                </a:solidFill>
                <a:latin typeface="Arial"/>
                <a:cs typeface="Arial"/>
              </a:rPr>
              <a:t>t	</a:t>
            </a:r>
            <a:r>
              <a:rPr spc="170" dirty="0">
                <a:solidFill>
                  <a:srgbClr val="04182D"/>
                </a:solidFill>
                <a:latin typeface="Tahoma"/>
                <a:cs typeface="Tahoma"/>
              </a:rPr>
              <a:t>=</a:t>
            </a:r>
            <a:r>
              <a:rPr spc="-10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i="1" spc="-200" dirty="0">
                <a:solidFill>
                  <a:srgbClr val="04182D"/>
                </a:solidFill>
                <a:latin typeface="Arial"/>
                <a:cs typeface="Arial"/>
              </a:rPr>
              <a:t>c</a:t>
            </a:r>
            <a:r>
              <a:rPr i="1" spc="-1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pc="170" dirty="0">
                <a:solidFill>
                  <a:srgbClr val="04182D"/>
                </a:solidFill>
                <a:latin typeface="Tahoma"/>
                <a:cs typeface="Tahoma"/>
              </a:rPr>
              <a:t>+</a:t>
            </a:r>
            <a:r>
              <a:rPr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i="1" spc="65" dirty="0">
                <a:solidFill>
                  <a:srgbClr val="04182D"/>
                </a:solidFill>
                <a:latin typeface="Arial"/>
                <a:cs typeface="Arial"/>
              </a:rPr>
              <a:t>ϕ</a:t>
            </a:r>
            <a:r>
              <a:rPr spc="97" baseline="-12919" dirty="0">
                <a:solidFill>
                  <a:srgbClr val="04182D"/>
                </a:solidFill>
                <a:latin typeface="Tahoma"/>
                <a:cs typeface="Tahoma"/>
              </a:rPr>
              <a:t>1</a:t>
            </a:r>
            <a:r>
              <a:rPr i="1" spc="65" dirty="0">
                <a:solidFill>
                  <a:srgbClr val="04182D"/>
                </a:solidFill>
                <a:latin typeface="Arial"/>
                <a:cs typeface="Arial"/>
              </a:rPr>
              <a:t>y</a:t>
            </a:r>
            <a:r>
              <a:rPr i="1" spc="97" baseline="-12919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spc="97" baseline="-12919" dirty="0">
                <a:solidFill>
                  <a:srgbClr val="04182D"/>
                </a:solidFill>
                <a:latin typeface="Tahoma"/>
                <a:cs typeface="Tahoma"/>
              </a:rPr>
              <a:t>−1</a:t>
            </a:r>
            <a:r>
              <a:rPr spc="270" baseline="-12919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pc="170" dirty="0">
                <a:solidFill>
                  <a:srgbClr val="04182D"/>
                </a:solidFill>
                <a:latin typeface="Tahoma"/>
                <a:cs typeface="Tahoma"/>
              </a:rPr>
              <a:t>+</a:t>
            </a:r>
            <a:r>
              <a:rPr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pc="-75" dirty="0">
                <a:solidFill>
                  <a:srgbClr val="04182D"/>
                </a:solidFill>
                <a:latin typeface="Tahoma"/>
                <a:cs typeface="Tahoma"/>
              </a:rPr>
              <a:t>...</a:t>
            </a:r>
            <a:r>
              <a:rPr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pc="170" dirty="0">
                <a:solidFill>
                  <a:srgbClr val="04182D"/>
                </a:solidFill>
                <a:latin typeface="Tahoma"/>
                <a:cs typeface="Tahoma"/>
              </a:rPr>
              <a:t>+</a:t>
            </a:r>
            <a:r>
              <a:rPr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i="1" spc="60" dirty="0">
                <a:solidFill>
                  <a:srgbClr val="04182D"/>
                </a:solidFill>
                <a:latin typeface="Arial"/>
                <a:cs typeface="Arial"/>
              </a:rPr>
              <a:t>ϕ</a:t>
            </a:r>
            <a:r>
              <a:rPr i="1" spc="89" baseline="-12919" dirty="0">
                <a:solidFill>
                  <a:srgbClr val="04182D"/>
                </a:solidFill>
                <a:latin typeface="Arial"/>
                <a:cs typeface="Arial"/>
              </a:rPr>
              <a:t>p</a:t>
            </a:r>
            <a:r>
              <a:rPr i="1" spc="60" dirty="0">
                <a:solidFill>
                  <a:srgbClr val="04182D"/>
                </a:solidFill>
                <a:latin typeface="Arial"/>
                <a:cs typeface="Arial"/>
              </a:rPr>
              <a:t>y</a:t>
            </a:r>
            <a:r>
              <a:rPr i="1" spc="89" baseline="-12919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spc="89" baseline="-12919" dirty="0">
                <a:solidFill>
                  <a:srgbClr val="04182D"/>
                </a:solidFill>
                <a:latin typeface="Tahoma"/>
                <a:cs typeface="Tahoma"/>
              </a:rPr>
              <a:t>−</a:t>
            </a:r>
            <a:r>
              <a:rPr i="1" spc="89" baseline="-12919" dirty="0">
                <a:solidFill>
                  <a:srgbClr val="04182D"/>
                </a:solidFill>
                <a:latin typeface="Arial"/>
                <a:cs typeface="Arial"/>
              </a:rPr>
              <a:t>p</a:t>
            </a:r>
            <a:r>
              <a:rPr i="1" spc="382" baseline="-12919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pc="170" dirty="0">
                <a:solidFill>
                  <a:srgbClr val="04182D"/>
                </a:solidFill>
                <a:latin typeface="Tahoma"/>
                <a:cs typeface="Tahoma"/>
              </a:rPr>
              <a:t>+</a:t>
            </a:r>
            <a:r>
              <a:rPr spc="-27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i="1" spc="-35" dirty="0">
                <a:solidFill>
                  <a:srgbClr val="04182D"/>
                </a:solidFill>
                <a:latin typeface="Arial"/>
                <a:cs typeface="Arial"/>
              </a:rPr>
              <a:t>θ</a:t>
            </a:r>
            <a:r>
              <a:rPr spc="-52" baseline="-12919" dirty="0">
                <a:solidFill>
                  <a:srgbClr val="04182D"/>
                </a:solidFill>
                <a:latin typeface="Tahoma"/>
                <a:cs typeface="Tahoma"/>
              </a:rPr>
              <a:t>1</a:t>
            </a:r>
            <a:r>
              <a:rPr i="1" spc="-35" dirty="0">
                <a:solidFill>
                  <a:srgbClr val="04182D"/>
                </a:solidFill>
                <a:latin typeface="Arial"/>
                <a:cs typeface="Arial"/>
              </a:rPr>
              <a:t>e</a:t>
            </a:r>
            <a:r>
              <a:rPr i="1" spc="-52" baseline="-12919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spc="-52" baseline="-12919" dirty="0">
                <a:solidFill>
                  <a:srgbClr val="04182D"/>
                </a:solidFill>
                <a:latin typeface="Tahoma"/>
                <a:cs typeface="Tahoma"/>
              </a:rPr>
              <a:t>−1</a:t>
            </a:r>
            <a:r>
              <a:rPr spc="270" baseline="-12919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pc="170" dirty="0">
                <a:solidFill>
                  <a:srgbClr val="04182D"/>
                </a:solidFill>
                <a:latin typeface="Tahoma"/>
                <a:cs typeface="Tahoma"/>
              </a:rPr>
              <a:t>+</a:t>
            </a:r>
            <a:r>
              <a:rPr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pc="-75" dirty="0">
                <a:solidFill>
                  <a:srgbClr val="04182D"/>
                </a:solidFill>
                <a:latin typeface="Tahoma"/>
                <a:cs typeface="Tahoma"/>
              </a:rPr>
              <a:t>...</a:t>
            </a:r>
            <a:r>
              <a:rPr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pc="170" dirty="0">
                <a:solidFill>
                  <a:srgbClr val="04182D"/>
                </a:solidFill>
                <a:latin typeface="Tahoma"/>
                <a:cs typeface="Tahoma"/>
              </a:rPr>
              <a:t>+</a:t>
            </a:r>
            <a:r>
              <a:rPr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i="1" spc="-70" dirty="0">
                <a:solidFill>
                  <a:srgbClr val="04182D"/>
                </a:solidFill>
                <a:latin typeface="Arial"/>
                <a:cs typeface="Arial"/>
              </a:rPr>
              <a:t>θ</a:t>
            </a:r>
            <a:r>
              <a:rPr i="1" spc="-104" baseline="-12919" dirty="0">
                <a:solidFill>
                  <a:srgbClr val="04182D"/>
                </a:solidFill>
                <a:latin typeface="Arial"/>
                <a:cs typeface="Arial"/>
              </a:rPr>
              <a:t>q</a:t>
            </a:r>
            <a:r>
              <a:rPr i="1" spc="-70" dirty="0">
                <a:solidFill>
                  <a:srgbClr val="04182D"/>
                </a:solidFill>
                <a:latin typeface="Arial"/>
                <a:cs typeface="Arial"/>
              </a:rPr>
              <a:t>e</a:t>
            </a:r>
            <a:r>
              <a:rPr i="1" spc="-104" baseline="-12919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spc="-104" baseline="-12919" dirty="0">
                <a:solidFill>
                  <a:srgbClr val="04182D"/>
                </a:solidFill>
                <a:latin typeface="Tahoma"/>
                <a:cs typeface="Tahoma"/>
              </a:rPr>
              <a:t>−</a:t>
            </a:r>
            <a:r>
              <a:rPr i="1" spc="-104" baseline="-12919" dirty="0">
                <a:solidFill>
                  <a:srgbClr val="04182D"/>
                </a:solidFill>
                <a:latin typeface="Arial"/>
                <a:cs typeface="Arial"/>
              </a:rPr>
              <a:t>q</a:t>
            </a:r>
            <a:r>
              <a:rPr i="1" spc="502" baseline="-12919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pc="170" dirty="0">
                <a:solidFill>
                  <a:srgbClr val="04182D"/>
                </a:solidFill>
                <a:latin typeface="Tahoma"/>
                <a:cs typeface="Tahoma"/>
              </a:rPr>
              <a:t>+</a:t>
            </a:r>
            <a:r>
              <a:rPr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i="1" spc="-45" dirty="0">
                <a:solidFill>
                  <a:srgbClr val="04182D"/>
                </a:solidFill>
                <a:latin typeface="Arial"/>
                <a:cs typeface="Arial"/>
              </a:rPr>
              <a:t>e</a:t>
            </a:r>
            <a:r>
              <a:rPr i="1" spc="-67" baseline="-12919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endParaRPr baseline="-12919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9198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1A58-12D5-4546-995B-9323A3D8C075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033796"/>
            <a:ext cx="7772400" cy="523220"/>
          </a:xfrm>
        </p:spPr>
        <p:txBody>
          <a:bodyPr/>
          <a:lstStyle/>
          <a:p>
            <a:r>
              <a:rPr lang="en-US" dirty="0" smtClean="0"/>
              <a:t>US NET ELECTRICIT</a:t>
            </a:r>
            <a:r>
              <a:rPr lang="en-US" sz="2800" dirty="0" smtClean="0">
                <a:latin typeface="Microsoft Sans Serif"/>
                <a:cs typeface="Microsoft Sans Serif"/>
              </a:rPr>
              <a:t>Y </a:t>
            </a:r>
            <a:r>
              <a:rPr lang="en-US" dirty="0" smtClean="0"/>
              <a:t>GENERATION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object 3"/>
          <p:cNvSpPr/>
          <p:nvPr/>
        </p:nvSpPr>
        <p:spPr>
          <a:xfrm>
            <a:off x="263716" y="1455629"/>
            <a:ext cx="5578284" cy="1389171"/>
          </a:xfrm>
          <a:custGeom>
            <a:avLst/>
            <a:gdLst/>
            <a:ahLst/>
            <a:cxnLst/>
            <a:rect l="l" t="t" r="r" b="b"/>
            <a:pathLst>
              <a:path w="9887585" h="1822450">
                <a:moveTo>
                  <a:pt x="9810694" y="1821864"/>
                </a:moveTo>
                <a:lnTo>
                  <a:pt x="76505" y="1821864"/>
                </a:lnTo>
                <a:lnTo>
                  <a:pt x="71180" y="1821340"/>
                </a:lnTo>
                <a:lnTo>
                  <a:pt x="31920" y="1805077"/>
                </a:lnTo>
                <a:lnTo>
                  <a:pt x="4175" y="1766350"/>
                </a:lnTo>
                <a:lnTo>
                  <a:pt x="0" y="1745359"/>
                </a:lnTo>
                <a:lnTo>
                  <a:pt x="0" y="1739983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1745359"/>
                </a:lnTo>
                <a:lnTo>
                  <a:pt x="9870412" y="1789944"/>
                </a:lnTo>
                <a:lnTo>
                  <a:pt x="9831684" y="1817689"/>
                </a:lnTo>
                <a:lnTo>
                  <a:pt x="9816018" y="1821340"/>
                </a:lnTo>
                <a:lnTo>
                  <a:pt x="9810694" y="1821864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4"/>
          <p:cNvSpPr txBox="1"/>
          <p:nvPr/>
        </p:nvSpPr>
        <p:spPr>
          <a:xfrm>
            <a:off x="280988" y="1475899"/>
            <a:ext cx="5796915" cy="12607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2615565" indent="-274955">
              <a:lnSpc>
                <a:spcPct val="141800"/>
              </a:lnSpc>
              <a:spcBef>
                <a:spcPts val="95"/>
              </a:spcBef>
            </a:pP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autoplot(usnetelec)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+ 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xlab(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"Year"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)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+ 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ylab(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"billion</a:t>
            </a:r>
            <a:r>
              <a:rPr sz="1400" spc="-2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kwh"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r>
              <a:rPr sz="1400" spc="-1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+</a:t>
            </a:r>
            <a:endParaRPr sz="1400" dirty="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  <a:spcBef>
                <a:spcPts val="905"/>
              </a:spcBef>
            </a:pP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ggtitle(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"US</a:t>
            </a:r>
            <a:r>
              <a:rPr sz="1400" spc="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net</a:t>
            </a:r>
            <a:r>
              <a:rPr sz="1400" spc="1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electricity</a:t>
            </a:r>
            <a:r>
              <a:rPr sz="1400" spc="1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generation"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1400" dirty="0">
              <a:latin typeface="Courier New"/>
              <a:cs typeface="Courier New"/>
            </a:endParaRPr>
          </a:p>
        </p:txBody>
      </p:sp>
      <p:pic>
        <p:nvPicPr>
          <p:cNvPr id="12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16" y="2912652"/>
            <a:ext cx="5577840" cy="193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567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1A58-12D5-4546-995B-9323A3D8C075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033796"/>
            <a:ext cx="7772400" cy="523220"/>
          </a:xfrm>
        </p:spPr>
        <p:txBody>
          <a:bodyPr/>
          <a:lstStyle/>
          <a:p>
            <a:r>
              <a:rPr lang="en-US" dirty="0" smtClean="0"/>
              <a:t>US NET ELECTRICIT</a:t>
            </a:r>
            <a:r>
              <a:rPr lang="en-US" sz="2800" dirty="0" smtClean="0">
                <a:latin typeface="Microsoft Sans Serif"/>
                <a:cs typeface="Microsoft Sans Serif"/>
              </a:rPr>
              <a:t>Y </a:t>
            </a:r>
            <a:r>
              <a:rPr lang="en-US" dirty="0" smtClean="0"/>
              <a:t>GENERATION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object 3"/>
          <p:cNvSpPr/>
          <p:nvPr/>
        </p:nvSpPr>
        <p:spPr>
          <a:xfrm>
            <a:off x="263716" y="1455630"/>
            <a:ext cx="4942985" cy="713782"/>
          </a:xfrm>
          <a:custGeom>
            <a:avLst/>
            <a:gdLst/>
            <a:ahLst/>
            <a:cxnLst/>
            <a:rect l="l" t="t" r="r" b="b"/>
            <a:pathLst>
              <a:path w="9887585" h="1822450">
                <a:moveTo>
                  <a:pt x="9810694" y="1821864"/>
                </a:moveTo>
                <a:lnTo>
                  <a:pt x="76505" y="1821864"/>
                </a:lnTo>
                <a:lnTo>
                  <a:pt x="71180" y="1821340"/>
                </a:lnTo>
                <a:lnTo>
                  <a:pt x="31920" y="1805077"/>
                </a:lnTo>
                <a:lnTo>
                  <a:pt x="4175" y="1766350"/>
                </a:lnTo>
                <a:lnTo>
                  <a:pt x="0" y="1745359"/>
                </a:lnTo>
                <a:lnTo>
                  <a:pt x="0" y="1739983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1745359"/>
                </a:lnTo>
                <a:lnTo>
                  <a:pt x="9870412" y="1789944"/>
                </a:lnTo>
                <a:lnTo>
                  <a:pt x="9831684" y="1817689"/>
                </a:lnTo>
                <a:lnTo>
                  <a:pt x="9816018" y="1821340"/>
                </a:lnTo>
                <a:lnTo>
                  <a:pt x="9810694" y="1821864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5"/>
          <p:cNvSpPr txBox="1"/>
          <p:nvPr/>
        </p:nvSpPr>
        <p:spPr>
          <a:xfrm>
            <a:off x="349250" y="1366137"/>
            <a:ext cx="3873500" cy="803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1800"/>
              </a:lnSpc>
              <a:spcBef>
                <a:spcPts val="95"/>
              </a:spcBef>
            </a:pPr>
            <a:r>
              <a:rPr sz="1800" spc="-5" dirty="0">
                <a:solidFill>
                  <a:srgbClr val="04182D"/>
                </a:solidFill>
                <a:latin typeface="Courier New"/>
                <a:cs typeface="Courier New"/>
              </a:rPr>
              <a:t>fit 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&lt;- </a:t>
            </a:r>
            <a:r>
              <a:rPr sz="1800" spc="-5" dirty="0">
                <a:solidFill>
                  <a:srgbClr val="04182D"/>
                </a:solidFill>
                <a:latin typeface="Courier New"/>
                <a:cs typeface="Courier New"/>
              </a:rPr>
              <a:t>auto.arima(usnetelec) </a:t>
            </a:r>
            <a:r>
              <a:rPr sz="1800" spc="-107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04182D"/>
                </a:solidFill>
                <a:latin typeface="Courier New"/>
                <a:cs typeface="Courier New"/>
              </a:rPr>
              <a:t>summary(fit)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13" name="object 4"/>
          <p:cNvSpPr/>
          <p:nvPr/>
        </p:nvSpPr>
        <p:spPr>
          <a:xfrm>
            <a:off x="263716" y="2212695"/>
            <a:ext cx="5889658" cy="2631944"/>
          </a:xfrm>
          <a:custGeom>
            <a:avLst/>
            <a:gdLst/>
            <a:ahLst/>
            <a:cxnLst/>
            <a:rect l="l" t="t" r="r" b="b"/>
            <a:pathLst>
              <a:path w="9887585" h="4544695">
                <a:moveTo>
                  <a:pt x="9810694" y="4544427"/>
                </a:moveTo>
                <a:lnTo>
                  <a:pt x="76505" y="4544427"/>
                </a:lnTo>
                <a:lnTo>
                  <a:pt x="71180" y="4543902"/>
                </a:lnTo>
                <a:lnTo>
                  <a:pt x="31920" y="4527639"/>
                </a:lnTo>
                <a:lnTo>
                  <a:pt x="4175" y="4488911"/>
                </a:lnTo>
                <a:lnTo>
                  <a:pt x="0" y="4467921"/>
                </a:lnTo>
                <a:lnTo>
                  <a:pt x="0" y="4462545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4467921"/>
                </a:lnTo>
                <a:lnTo>
                  <a:pt x="9870412" y="4512505"/>
                </a:lnTo>
                <a:lnTo>
                  <a:pt x="9831684" y="4540250"/>
                </a:lnTo>
                <a:lnTo>
                  <a:pt x="9816018" y="4543902"/>
                </a:lnTo>
                <a:lnTo>
                  <a:pt x="9810694" y="4544427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6"/>
          <p:cNvSpPr txBox="1"/>
          <p:nvPr/>
        </p:nvSpPr>
        <p:spPr>
          <a:xfrm>
            <a:off x="349250" y="2254131"/>
            <a:ext cx="3186430" cy="5493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1800"/>
              </a:lnSpc>
              <a:spcBef>
                <a:spcPts val="95"/>
              </a:spcBef>
            </a:pP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Series: </a:t>
            </a:r>
            <a:r>
              <a:rPr sz="800" spc="-5" dirty="0" err="1">
                <a:solidFill>
                  <a:srgbClr val="FFFFFF"/>
                </a:solidFill>
                <a:latin typeface="Courier New"/>
                <a:cs typeface="Courier New"/>
              </a:rPr>
              <a:t>usnetelec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endParaRPr lang="en-US" sz="800" dirty="0" smtClean="0">
              <a:solidFill>
                <a:srgbClr val="FFFFFF"/>
              </a:solidFill>
              <a:latin typeface="Courier New"/>
              <a:cs typeface="Courier New"/>
            </a:endParaRPr>
          </a:p>
          <a:p>
            <a:pPr marL="12700" marR="5080">
              <a:lnSpc>
                <a:spcPct val="141800"/>
              </a:lnSpc>
              <a:spcBef>
                <a:spcPts val="95"/>
              </a:spcBef>
            </a:pPr>
            <a:r>
              <a:rPr sz="800" spc="-5" dirty="0" smtClean="0">
                <a:solidFill>
                  <a:srgbClr val="FFFFFF"/>
                </a:solidFill>
                <a:latin typeface="Courier New"/>
                <a:cs typeface="Courier New"/>
              </a:rPr>
              <a:t>ARIMA(2,1,2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) with drift </a:t>
            </a:r>
            <a:endParaRPr lang="en-US" sz="800" spc="-5" dirty="0" smtClean="0">
              <a:solidFill>
                <a:srgbClr val="FFFFFF"/>
              </a:solidFill>
              <a:latin typeface="Courier New"/>
              <a:cs typeface="Courier New"/>
            </a:endParaRPr>
          </a:p>
          <a:p>
            <a:pPr marL="12700" marR="5080">
              <a:lnSpc>
                <a:spcPct val="141800"/>
              </a:lnSpc>
              <a:spcBef>
                <a:spcPts val="95"/>
              </a:spcBef>
            </a:pPr>
            <a:r>
              <a:rPr sz="800" spc="-1070" dirty="0" smtClean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Coefficients:</a:t>
            </a:r>
            <a:endParaRPr sz="800" dirty="0">
              <a:latin typeface="Courier New"/>
              <a:cs typeface="Courier New"/>
            </a:endParaRPr>
          </a:p>
        </p:txBody>
      </p:sp>
      <p:sp>
        <p:nvSpPr>
          <p:cNvPr id="15" name="object 12"/>
          <p:cNvSpPr txBox="1"/>
          <p:nvPr/>
        </p:nvSpPr>
        <p:spPr>
          <a:xfrm>
            <a:off x="349250" y="3457159"/>
            <a:ext cx="5231995" cy="12994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516380">
              <a:lnSpc>
                <a:spcPct val="141800"/>
              </a:lnSpc>
              <a:spcBef>
                <a:spcPts val="95"/>
              </a:spcBef>
              <a:tabLst>
                <a:tab pos="1661160" algn="l"/>
                <a:tab pos="3447415" algn="l"/>
                <a:tab pos="3859529" algn="l"/>
              </a:tabLst>
            </a:pP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sigma^2</a:t>
            </a:r>
            <a:r>
              <a:rPr sz="800" spc="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estimated</a:t>
            </a:r>
            <a:r>
              <a:rPr sz="800" spc="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as</a:t>
            </a:r>
            <a:r>
              <a:rPr sz="800" spc="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2262:	log likelihood=-283.3 </a:t>
            </a:r>
            <a:r>
              <a:rPr sz="800" spc="-10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AIC=578.7	AICc=580.5	BIC=590.6</a:t>
            </a:r>
            <a:endParaRPr sz="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Training set</a:t>
            </a: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error</a:t>
            </a: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measures:</a:t>
            </a:r>
            <a:endParaRPr sz="800" dirty="0">
              <a:latin typeface="Courier New"/>
              <a:cs typeface="Courier New"/>
            </a:endParaRPr>
          </a:p>
          <a:p>
            <a:pPr marL="12700" marR="5080" indent="2335530">
              <a:lnSpc>
                <a:spcPct val="141800"/>
              </a:lnSpc>
              <a:tabLst>
                <a:tab pos="2898140" algn="l"/>
                <a:tab pos="3859529" algn="l"/>
                <a:tab pos="4958715" algn="l"/>
                <a:tab pos="5645785" algn="l"/>
                <a:tab pos="6607809" algn="l"/>
                <a:tab pos="7706995" algn="l"/>
              </a:tabLst>
            </a:pP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M</a:t>
            </a: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E	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RMS</a:t>
            </a: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E	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MA</a:t>
            </a: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E	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MP</a:t>
            </a: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E	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MAP</a:t>
            </a: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E	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MAS</a:t>
            </a: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E	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ACF</a:t>
            </a: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1  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Training</a:t>
            </a:r>
            <a:r>
              <a:rPr sz="800" spc="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set</a:t>
            </a:r>
            <a:r>
              <a:rPr sz="800" spc="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0.0464</a:t>
            </a:r>
            <a:r>
              <a:rPr sz="800" spc="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44.89</a:t>
            </a:r>
            <a:r>
              <a:rPr sz="800" spc="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32.33</a:t>
            </a:r>
            <a:r>
              <a:rPr sz="800" spc="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-0.6177</a:t>
            </a:r>
            <a:r>
              <a:rPr sz="800" spc="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2.101</a:t>
            </a:r>
            <a:r>
              <a:rPr sz="800" spc="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0.4581</a:t>
            </a:r>
            <a:r>
              <a:rPr sz="800" spc="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0.02249</a:t>
            </a:r>
            <a:endParaRPr sz="800" dirty="0">
              <a:latin typeface="Courier New"/>
              <a:cs typeface="Courier New"/>
            </a:endParaRPr>
          </a:p>
        </p:txBody>
      </p:sp>
      <p:sp>
        <p:nvSpPr>
          <p:cNvPr id="16" name="object 8"/>
          <p:cNvSpPr txBox="1"/>
          <p:nvPr/>
        </p:nvSpPr>
        <p:spPr>
          <a:xfrm>
            <a:off x="670064" y="2682702"/>
            <a:ext cx="850265" cy="72840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0"/>
              </a:spcBef>
            </a:pP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ar1</a:t>
            </a:r>
            <a:endParaRPr sz="800" dirty="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900"/>
              </a:spcBef>
            </a:pP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-1.303</a:t>
            </a:r>
            <a:endParaRPr sz="800" dirty="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905"/>
              </a:spcBef>
            </a:pP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0.212</a:t>
            </a:r>
            <a:endParaRPr sz="800" dirty="0">
              <a:latin typeface="Courier New"/>
              <a:cs typeface="Courier New"/>
            </a:endParaRPr>
          </a:p>
        </p:txBody>
      </p:sp>
      <p:sp>
        <p:nvSpPr>
          <p:cNvPr id="17" name="object 7"/>
          <p:cNvSpPr txBox="1"/>
          <p:nvPr/>
        </p:nvSpPr>
        <p:spPr>
          <a:xfrm>
            <a:off x="519886" y="3285352"/>
            <a:ext cx="575310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s.e</a:t>
            </a: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.</a:t>
            </a:r>
            <a:endParaRPr sz="800" dirty="0">
              <a:latin typeface="Courier New"/>
              <a:cs typeface="Courier New"/>
            </a:endParaRPr>
          </a:p>
        </p:txBody>
      </p:sp>
      <p:sp>
        <p:nvSpPr>
          <p:cNvPr id="18" name="object 9"/>
          <p:cNvSpPr txBox="1"/>
          <p:nvPr/>
        </p:nvSpPr>
        <p:spPr>
          <a:xfrm>
            <a:off x="1291417" y="2671881"/>
            <a:ext cx="850265" cy="72840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0"/>
              </a:spcBef>
            </a:pP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ar2</a:t>
            </a:r>
            <a:endParaRPr sz="800" dirty="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900"/>
              </a:spcBef>
            </a:pP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-0.433</a:t>
            </a:r>
            <a:endParaRPr sz="800" dirty="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905"/>
              </a:spcBef>
            </a:pP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0.208</a:t>
            </a:r>
            <a:endParaRPr sz="800" dirty="0">
              <a:latin typeface="Courier New"/>
              <a:cs typeface="Courier New"/>
            </a:endParaRPr>
          </a:p>
        </p:txBody>
      </p:sp>
      <p:sp>
        <p:nvSpPr>
          <p:cNvPr id="19" name="object 10"/>
          <p:cNvSpPr txBox="1"/>
          <p:nvPr/>
        </p:nvSpPr>
        <p:spPr>
          <a:xfrm>
            <a:off x="2360653" y="2803449"/>
            <a:ext cx="1674495" cy="600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74320">
              <a:lnSpc>
                <a:spcPct val="141800"/>
              </a:lnSpc>
              <a:spcBef>
                <a:spcPts val="95"/>
              </a:spcBef>
              <a:tabLst>
                <a:tab pos="974090" algn="l"/>
                <a:tab pos="1249045" algn="l"/>
              </a:tabLst>
            </a:pP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ma</a:t>
            </a: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1		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ma</a:t>
            </a: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2  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1.52</a:t>
            </a: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8	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0.83</a:t>
            </a: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4</a:t>
            </a:r>
            <a:endParaRPr sz="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  <a:tabLst>
                <a:tab pos="974090" algn="l"/>
              </a:tabLst>
            </a:pP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0.14</a:t>
            </a: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2	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0.11</a:t>
            </a: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9</a:t>
            </a:r>
            <a:endParaRPr sz="800" dirty="0">
              <a:latin typeface="Courier New"/>
              <a:cs typeface="Courier New"/>
            </a:endParaRPr>
          </a:p>
        </p:txBody>
      </p:sp>
      <p:sp>
        <p:nvSpPr>
          <p:cNvPr id="20" name="object 11"/>
          <p:cNvSpPr txBox="1"/>
          <p:nvPr/>
        </p:nvSpPr>
        <p:spPr>
          <a:xfrm>
            <a:off x="3872612" y="2803449"/>
            <a:ext cx="850265" cy="600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37160">
              <a:lnSpc>
                <a:spcPct val="141800"/>
              </a:lnSpc>
              <a:spcBef>
                <a:spcPts val="95"/>
              </a:spcBef>
            </a:pP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drif</a:t>
            </a: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t  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66.15</a:t>
            </a: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9</a:t>
            </a:r>
            <a:endParaRPr sz="800" dirty="0">
              <a:latin typeface="Courier New"/>
              <a:cs typeface="Courier New"/>
            </a:endParaRPr>
          </a:p>
          <a:p>
            <a:pPr marL="149860">
              <a:lnSpc>
                <a:spcPct val="100000"/>
              </a:lnSpc>
              <a:spcBef>
                <a:spcPts val="905"/>
              </a:spcBef>
            </a:pP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7.55</a:t>
            </a: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9</a:t>
            </a:r>
            <a:endParaRPr sz="8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5694127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1A58-12D5-4546-995B-9323A3D8C075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033796"/>
            <a:ext cx="7772400" cy="523220"/>
          </a:xfrm>
        </p:spPr>
        <p:txBody>
          <a:bodyPr/>
          <a:lstStyle/>
          <a:p>
            <a:r>
              <a:rPr lang="en-US" dirty="0" smtClean="0"/>
              <a:t>US NET ELECTRICIT</a:t>
            </a:r>
            <a:r>
              <a:rPr lang="en-US" sz="2800" dirty="0" smtClean="0">
                <a:latin typeface="Microsoft Sans Serif"/>
                <a:cs typeface="Microsoft Sans Serif"/>
              </a:rPr>
              <a:t>Y </a:t>
            </a:r>
            <a:r>
              <a:rPr lang="en-US" dirty="0" smtClean="0"/>
              <a:t>GENERATION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object 3"/>
          <p:cNvSpPr/>
          <p:nvPr/>
        </p:nvSpPr>
        <p:spPr>
          <a:xfrm>
            <a:off x="238125" y="1484030"/>
            <a:ext cx="5512435" cy="680050"/>
          </a:xfrm>
          <a:custGeom>
            <a:avLst/>
            <a:gdLst/>
            <a:ahLst/>
            <a:cxnLst/>
            <a:rect l="l" t="t" r="r" b="b"/>
            <a:pathLst>
              <a:path w="9887585" h="819150">
                <a:moveTo>
                  <a:pt x="9810694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742310"/>
                </a:lnTo>
                <a:lnTo>
                  <a:pt x="9870412" y="786895"/>
                </a:lnTo>
                <a:lnTo>
                  <a:pt x="9831684" y="814639"/>
                </a:lnTo>
                <a:lnTo>
                  <a:pt x="9816018" y="818291"/>
                </a:lnTo>
                <a:lnTo>
                  <a:pt x="9810694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4"/>
          <p:cNvSpPr txBox="1"/>
          <p:nvPr/>
        </p:nvSpPr>
        <p:spPr>
          <a:xfrm>
            <a:off x="319405" y="1694212"/>
            <a:ext cx="5700395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solidFill>
                  <a:srgbClr val="04182D"/>
                </a:solidFill>
                <a:latin typeface="Courier New"/>
                <a:cs typeface="Courier New"/>
              </a:rPr>
              <a:t>fit %&gt;% forecast()</a:t>
            </a:r>
            <a:r>
              <a:rPr sz="16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4182D"/>
                </a:solidFill>
                <a:latin typeface="Courier New"/>
                <a:cs typeface="Courier New"/>
              </a:rPr>
              <a:t>%&gt;% autoplot()</a:t>
            </a:r>
            <a:endParaRPr sz="1600" dirty="0">
              <a:latin typeface="Courier New"/>
              <a:cs typeface="Courier New"/>
            </a:endParaRPr>
          </a:p>
        </p:txBody>
      </p:sp>
      <p:pic>
        <p:nvPicPr>
          <p:cNvPr id="14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125" y="2301276"/>
            <a:ext cx="6924675" cy="257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0647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1A58-12D5-4546-995B-9323A3D8C075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2" y="1000796"/>
            <a:ext cx="7772400" cy="523220"/>
          </a:xfrm>
        </p:spPr>
        <p:txBody>
          <a:bodyPr/>
          <a:lstStyle/>
          <a:p>
            <a:r>
              <a:rPr lang="en-US" dirty="0" smtClean="0"/>
              <a:t>HO</a:t>
            </a:r>
            <a:r>
              <a:rPr lang="en-US" sz="2800" dirty="0" smtClean="0">
                <a:latin typeface="Microsoft Sans Serif"/>
                <a:cs typeface="Microsoft Sans Serif"/>
              </a:rPr>
              <a:t>W </a:t>
            </a:r>
            <a:r>
              <a:rPr lang="en-US" dirty="0" smtClean="0"/>
              <a:t>DOES A</a:t>
            </a:r>
            <a:r>
              <a:rPr lang="en-US" sz="2800" dirty="0" smtClean="0">
                <a:latin typeface="Microsoft Sans Serif"/>
                <a:cs typeface="Microsoft Sans Serif"/>
              </a:rPr>
              <a:t>U</a:t>
            </a:r>
            <a:r>
              <a:rPr lang="en-US" dirty="0" smtClean="0"/>
              <a:t>TO</a:t>
            </a:r>
            <a:r>
              <a:rPr lang="en-US" sz="2800" dirty="0" smtClean="0">
                <a:latin typeface="Microsoft Sans Serif"/>
                <a:cs typeface="Microsoft Sans Serif"/>
              </a:rPr>
              <a:t>.</a:t>
            </a:r>
            <a:r>
              <a:rPr lang="en-US" dirty="0" smtClean="0"/>
              <a:t>ARIMA</a:t>
            </a:r>
            <a:r>
              <a:rPr lang="en-US" sz="2800" dirty="0" smtClean="0">
                <a:latin typeface="Microsoft Sans Serif"/>
                <a:cs typeface="Microsoft Sans Serif"/>
              </a:rPr>
              <a:t>() W</a:t>
            </a:r>
            <a:r>
              <a:rPr lang="en-US" dirty="0" smtClean="0"/>
              <a:t>ORK</a:t>
            </a:r>
            <a:r>
              <a:rPr lang="en-US" sz="2800" dirty="0" smtClean="0">
                <a:latin typeface="Microsoft Sans Serif"/>
                <a:cs typeface="Microsoft Sans Serif"/>
              </a:rPr>
              <a:t>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object 7"/>
          <p:cNvSpPr txBox="1"/>
          <p:nvPr/>
        </p:nvSpPr>
        <p:spPr>
          <a:xfrm>
            <a:off x="453189" y="1524016"/>
            <a:ext cx="9465310" cy="26168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000" spc="-25" dirty="0">
                <a:solidFill>
                  <a:srgbClr val="04182D"/>
                </a:solidFill>
                <a:latin typeface="Verdana"/>
                <a:cs typeface="Verdana"/>
              </a:rPr>
              <a:t>H</a:t>
            </a:r>
            <a:r>
              <a:rPr sz="2000" spc="-25" dirty="0">
                <a:solidFill>
                  <a:srgbClr val="04182D"/>
                </a:solidFill>
                <a:latin typeface="Microsoft Sans Serif"/>
                <a:cs typeface="Microsoft Sans Serif"/>
              </a:rPr>
              <a:t>y</a:t>
            </a:r>
            <a:r>
              <a:rPr sz="2000" spc="-25" dirty="0">
                <a:solidFill>
                  <a:srgbClr val="04182D"/>
                </a:solidFill>
                <a:latin typeface="Verdana"/>
                <a:cs typeface="Verdana"/>
              </a:rPr>
              <a:t>ndman</a:t>
            </a:r>
            <a:r>
              <a:rPr sz="2000" spc="-25" dirty="0">
                <a:solidFill>
                  <a:srgbClr val="04182D"/>
                </a:solidFill>
                <a:latin typeface="Microsoft Sans Serif"/>
                <a:cs typeface="Microsoft Sans Serif"/>
              </a:rPr>
              <a:t>-</a:t>
            </a:r>
            <a:r>
              <a:rPr sz="2000" spc="-25" dirty="0">
                <a:solidFill>
                  <a:srgbClr val="04182D"/>
                </a:solidFill>
                <a:latin typeface="Verdana"/>
                <a:cs typeface="Verdana"/>
              </a:rPr>
              <a:t>Khandakar</a:t>
            </a:r>
            <a:r>
              <a:rPr sz="2000" spc="-165" dirty="0">
                <a:solidFill>
                  <a:srgbClr val="04182D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04182D"/>
                </a:solidFill>
                <a:latin typeface="Verdana"/>
                <a:cs typeface="Verdana"/>
              </a:rPr>
              <a:t>algorithm</a:t>
            </a:r>
            <a:r>
              <a:rPr sz="2000" spc="-35" dirty="0">
                <a:solidFill>
                  <a:srgbClr val="04182D"/>
                </a:solidFill>
                <a:latin typeface="Microsoft Sans Serif"/>
                <a:cs typeface="Microsoft Sans Serif"/>
              </a:rPr>
              <a:t>:</a:t>
            </a:r>
            <a:endParaRPr sz="2000" dirty="0">
              <a:latin typeface="Microsoft Sans Serif"/>
              <a:cs typeface="Microsoft Sans Serif"/>
            </a:endParaRPr>
          </a:p>
          <a:p>
            <a:pPr marL="749300" marR="1610995" indent="-342900">
              <a:lnSpc>
                <a:spcPct val="151900"/>
              </a:lnSpc>
              <a:spcBef>
                <a:spcPts val="1830"/>
              </a:spcBef>
              <a:buFont typeface="Arial" panose="020B0604020202020204" pitchFamily="34" charset="0"/>
              <a:buChar char="•"/>
            </a:pPr>
            <a:r>
              <a:rPr sz="2000" spc="50" dirty="0">
                <a:solidFill>
                  <a:srgbClr val="04182D"/>
                </a:solidFill>
                <a:latin typeface="Lucida Sans Unicode"/>
                <a:cs typeface="Lucida Sans Unicode"/>
              </a:rPr>
              <a:t>Select</a:t>
            </a:r>
            <a:r>
              <a:rPr sz="20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5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z="2000" spc="-5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2000" spc="-5" dirty="0">
                <a:solidFill>
                  <a:srgbClr val="04182D"/>
                </a:solidFill>
                <a:latin typeface="Lucida Sans Unicode"/>
                <a:cs typeface="Lucida Sans Unicode"/>
              </a:rPr>
              <a:t>mber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of </a:t>
            </a:r>
            <a:r>
              <a:rPr sz="2000" spc="-30" dirty="0">
                <a:solidFill>
                  <a:srgbClr val="04182D"/>
                </a:solidFill>
                <a:latin typeface="Lucida Sans Unicode"/>
                <a:cs typeface="Lucida Sans Unicode"/>
              </a:rPr>
              <a:t>di</a:t>
            </a:r>
            <a:r>
              <a:rPr sz="2000" spc="12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erences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d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60" dirty="0">
                <a:solidFill>
                  <a:srgbClr val="04182D"/>
                </a:solidFill>
                <a:latin typeface="Microsoft Sans Serif"/>
                <a:cs typeface="Microsoft Sans Serif"/>
              </a:rPr>
              <a:t>v</a:t>
            </a:r>
            <a:r>
              <a:rPr sz="2000" spc="60" dirty="0">
                <a:solidFill>
                  <a:srgbClr val="04182D"/>
                </a:solidFill>
                <a:latin typeface="Lucida Sans Unicode"/>
                <a:cs typeface="Lucida Sans Unicode"/>
              </a:rPr>
              <a:t>ia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2000" dirty="0">
                <a:solidFill>
                  <a:srgbClr val="04182D"/>
                </a:solidFill>
                <a:latin typeface="Lucida Sans Unicode"/>
                <a:cs typeface="Lucida Sans Unicode"/>
              </a:rPr>
              <a:t>nit</a:t>
            </a:r>
            <a:r>
              <a:rPr sz="20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root </a:t>
            </a:r>
            <a:r>
              <a:rPr sz="2000" spc="-30" dirty="0">
                <a:solidFill>
                  <a:srgbClr val="04182D"/>
                </a:solidFill>
                <a:latin typeface="Lucida Sans Unicode"/>
                <a:cs typeface="Lucida Sans Unicode"/>
              </a:rPr>
              <a:t>tests </a:t>
            </a:r>
            <a:r>
              <a:rPr sz="2000" spc="-78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50" dirty="0">
                <a:solidFill>
                  <a:srgbClr val="04182D"/>
                </a:solidFill>
                <a:latin typeface="Lucida Sans Unicode"/>
                <a:cs typeface="Lucida Sans Unicode"/>
              </a:rPr>
              <a:t>Select</a:t>
            </a:r>
            <a:r>
              <a:rPr sz="20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5" dirty="0">
                <a:solidFill>
                  <a:srgbClr val="04182D"/>
                </a:solidFill>
                <a:latin typeface="Lucida Sans Unicode"/>
                <a:cs typeface="Lucida Sans Unicode"/>
              </a:rPr>
              <a:t>p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45" dirty="0">
                <a:solidFill>
                  <a:srgbClr val="04182D"/>
                </a:solidFill>
                <a:latin typeface="Lucida Sans Unicode"/>
                <a:cs typeface="Lucida Sans Unicode"/>
              </a:rPr>
              <a:t>and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5" dirty="0">
                <a:solidFill>
                  <a:srgbClr val="04182D"/>
                </a:solidFill>
                <a:latin typeface="Lucida Sans Unicode"/>
                <a:cs typeface="Lucida Sans Unicode"/>
              </a:rPr>
              <a:t>q</a:t>
            </a:r>
            <a:r>
              <a:rPr sz="20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90" dirty="0">
                <a:solidFill>
                  <a:srgbClr val="04182D"/>
                </a:solidFill>
                <a:latin typeface="Lucida Sans Unicode"/>
                <a:cs typeface="Lucida Sans Unicode"/>
              </a:rPr>
              <a:t>b</a:t>
            </a:r>
            <a:r>
              <a:rPr sz="2000" spc="90" dirty="0">
                <a:solidFill>
                  <a:srgbClr val="04182D"/>
                </a:solidFill>
                <a:latin typeface="Microsoft Sans Serif"/>
                <a:cs typeface="Microsoft Sans Serif"/>
              </a:rPr>
              <a:t>y</a:t>
            </a:r>
            <a:r>
              <a:rPr sz="2000" spc="8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minimi</a:t>
            </a:r>
            <a:r>
              <a:rPr sz="2000" spc="-35" dirty="0">
                <a:solidFill>
                  <a:srgbClr val="04182D"/>
                </a:solidFill>
                <a:latin typeface="Microsoft Sans Serif"/>
                <a:cs typeface="Microsoft Sans Serif"/>
              </a:rPr>
              <a:t>z</a:t>
            </a:r>
            <a:r>
              <a:rPr sz="2000"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ing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i="1" spc="215" dirty="0">
                <a:solidFill>
                  <a:srgbClr val="04182D"/>
                </a:solidFill>
                <a:latin typeface="Arial"/>
                <a:cs typeface="Arial"/>
              </a:rPr>
              <a:t>AIC</a:t>
            </a:r>
            <a:r>
              <a:rPr sz="2000" i="1" spc="322" baseline="-12919" dirty="0">
                <a:solidFill>
                  <a:srgbClr val="04182D"/>
                </a:solidFill>
                <a:latin typeface="Arial"/>
                <a:cs typeface="Arial"/>
              </a:rPr>
              <a:t>c</a:t>
            </a:r>
            <a:endParaRPr sz="2000" baseline="-12919" dirty="0">
              <a:latin typeface="Arial"/>
              <a:cs typeface="Arial"/>
            </a:endParaRPr>
          </a:p>
          <a:p>
            <a:pPr marL="749300" indent="-342900">
              <a:lnSpc>
                <a:spcPct val="100000"/>
              </a:lnSpc>
              <a:spcBef>
                <a:spcPts val="1939"/>
              </a:spcBef>
              <a:buFont typeface="Arial" panose="020B0604020202020204" pitchFamily="34" charset="0"/>
              <a:buChar char="•"/>
            </a:pPr>
            <a:r>
              <a:rPr sz="2000" spc="35" dirty="0">
                <a:solidFill>
                  <a:srgbClr val="04182D"/>
                </a:solidFill>
                <a:latin typeface="Lucida Sans Unicode"/>
                <a:cs typeface="Lucida Sans Unicode"/>
              </a:rPr>
              <a:t>Estimate</a:t>
            </a:r>
            <a:r>
              <a:rPr sz="2000"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10" dirty="0">
                <a:solidFill>
                  <a:srgbClr val="04182D"/>
                </a:solidFill>
                <a:latin typeface="Lucida Sans Unicode"/>
                <a:cs typeface="Lucida Sans Unicode"/>
              </a:rPr>
              <a:t>parameters</a:t>
            </a:r>
            <a:r>
              <a:rPr sz="2000" spc="-3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20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2000" spc="-20" dirty="0">
                <a:solidFill>
                  <a:srgbClr val="04182D"/>
                </a:solidFill>
                <a:latin typeface="Lucida Sans Unicode"/>
                <a:cs typeface="Lucida Sans Unicode"/>
              </a:rPr>
              <a:t>sing</a:t>
            </a:r>
            <a:r>
              <a:rPr sz="2000"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i="1" spc="90" dirty="0">
                <a:solidFill>
                  <a:srgbClr val="04182D"/>
                </a:solidFill>
                <a:latin typeface="Arial"/>
                <a:cs typeface="Arial"/>
              </a:rPr>
              <a:t>ma</a:t>
            </a:r>
            <a:r>
              <a:rPr sz="2000" i="1" spc="90" dirty="0">
                <a:solidFill>
                  <a:srgbClr val="04182D"/>
                </a:solidFill>
                <a:latin typeface="Georgia"/>
                <a:cs typeface="Georgia"/>
              </a:rPr>
              <a:t>x</a:t>
            </a:r>
            <a:r>
              <a:rPr sz="2000" i="1" spc="90" dirty="0">
                <a:solidFill>
                  <a:srgbClr val="04182D"/>
                </a:solidFill>
                <a:latin typeface="Arial"/>
                <a:cs typeface="Arial"/>
              </a:rPr>
              <a:t>im</a:t>
            </a:r>
            <a:r>
              <a:rPr sz="2000" i="1" spc="90" dirty="0">
                <a:solidFill>
                  <a:srgbClr val="04182D"/>
                </a:solidFill>
                <a:latin typeface="Georgia"/>
                <a:cs typeface="Georgia"/>
              </a:rPr>
              <a:t>u</a:t>
            </a:r>
            <a:r>
              <a:rPr sz="2000" i="1" spc="90" dirty="0">
                <a:solidFill>
                  <a:srgbClr val="04182D"/>
                </a:solidFill>
                <a:latin typeface="Arial"/>
                <a:cs typeface="Arial"/>
              </a:rPr>
              <a:t>m</a:t>
            </a:r>
            <a:r>
              <a:rPr sz="2000" i="1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000" i="1" spc="60" dirty="0">
                <a:solidFill>
                  <a:srgbClr val="04182D"/>
                </a:solidFill>
                <a:latin typeface="Arial"/>
                <a:cs typeface="Arial"/>
              </a:rPr>
              <a:t>likelihood</a:t>
            </a:r>
            <a:r>
              <a:rPr sz="2000" i="1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000" i="1" spc="85" dirty="0">
                <a:solidFill>
                  <a:srgbClr val="04182D"/>
                </a:solidFill>
                <a:latin typeface="Arial"/>
                <a:cs typeface="Arial"/>
              </a:rPr>
              <a:t>estimation</a:t>
            </a:r>
            <a:endParaRPr sz="2000" dirty="0">
              <a:latin typeface="Arial"/>
              <a:cs typeface="Arial"/>
            </a:endParaRPr>
          </a:p>
          <a:p>
            <a:pPr marL="749300" indent="-342900">
              <a:lnSpc>
                <a:spcPct val="100000"/>
              </a:lnSpc>
              <a:spcBef>
                <a:spcPts val="2140"/>
              </a:spcBef>
              <a:buFont typeface="Arial" panose="020B0604020202020204" pitchFamily="34" charset="0"/>
              <a:buChar char="•"/>
            </a:pPr>
            <a:r>
              <a:rPr sz="2000" spc="-20" dirty="0">
                <a:solidFill>
                  <a:srgbClr val="04182D"/>
                </a:solidFill>
                <a:latin typeface="Lucida Sans Unicode"/>
                <a:cs typeface="Lucida Sans Unicode"/>
              </a:rPr>
              <a:t>Use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04182D"/>
                </a:solidFill>
                <a:latin typeface="Lucida Sans Unicode"/>
                <a:cs typeface="Lucida Sans Unicode"/>
              </a:rPr>
              <a:t>step</a:t>
            </a:r>
            <a:r>
              <a:rPr sz="2000" dirty="0">
                <a:solidFill>
                  <a:srgbClr val="04182D"/>
                </a:solidFill>
                <a:latin typeface="Microsoft Sans Serif"/>
                <a:cs typeface="Microsoft Sans Serif"/>
              </a:rPr>
              <a:t>w</a:t>
            </a:r>
            <a:r>
              <a:rPr sz="2000" dirty="0">
                <a:solidFill>
                  <a:srgbClr val="04182D"/>
                </a:solidFill>
                <a:latin typeface="Lucida Sans Unicode"/>
                <a:cs typeface="Lucida Sans Unicode"/>
              </a:rPr>
              <a:t>ise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20" dirty="0">
                <a:solidFill>
                  <a:srgbClr val="04182D"/>
                </a:solidFill>
                <a:latin typeface="Lucida Sans Unicode"/>
                <a:cs typeface="Lucida Sans Unicode"/>
              </a:rPr>
              <a:t>search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04182D"/>
                </a:solidFill>
                <a:latin typeface="Lucida Sans Unicode"/>
                <a:cs typeface="Lucida Sans Unicode"/>
              </a:rPr>
              <a:t>to</a:t>
            </a:r>
            <a:r>
              <a:rPr sz="20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10" dirty="0">
                <a:solidFill>
                  <a:srgbClr val="04182D"/>
                </a:solidFill>
                <a:latin typeface="Lucida Sans Unicode"/>
                <a:cs typeface="Lucida Sans Unicode"/>
              </a:rPr>
              <a:t>tra</a:t>
            </a:r>
            <a:r>
              <a:rPr sz="2000" spc="10" dirty="0">
                <a:solidFill>
                  <a:srgbClr val="04182D"/>
                </a:solidFill>
                <a:latin typeface="Microsoft Sans Serif"/>
                <a:cs typeface="Microsoft Sans Serif"/>
              </a:rPr>
              <a:t>v</a:t>
            </a:r>
            <a:r>
              <a:rPr sz="2000" spc="10" dirty="0">
                <a:solidFill>
                  <a:srgbClr val="04182D"/>
                </a:solidFill>
                <a:latin typeface="Lucida Sans Unicode"/>
                <a:cs typeface="Lucida Sans Unicode"/>
              </a:rPr>
              <a:t>erse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20" dirty="0">
                <a:solidFill>
                  <a:srgbClr val="04182D"/>
                </a:solidFill>
                <a:latin typeface="Lucida Sans Unicode"/>
                <a:cs typeface="Lucida Sans Unicode"/>
              </a:rPr>
              <a:t>model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40" dirty="0">
                <a:solidFill>
                  <a:srgbClr val="04182D"/>
                </a:solidFill>
                <a:latin typeface="Lucida Sans Unicode"/>
                <a:cs typeface="Lucida Sans Unicode"/>
              </a:rPr>
              <a:t>space</a:t>
            </a:r>
            <a:r>
              <a:rPr sz="2000" spc="40" dirty="0">
                <a:solidFill>
                  <a:srgbClr val="04182D"/>
                </a:solidFill>
                <a:latin typeface="Microsoft Sans Serif"/>
                <a:cs typeface="Microsoft Sans Serif"/>
              </a:rPr>
              <a:t>,</a:t>
            </a:r>
            <a:r>
              <a:rPr sz="2000" spc="8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04182D"/>
                </a:solidFill>
                <a:latin typeface="Lucida Sans Unicode"/>
                <a:cs typeface="Lucida Sans Unicode"/>
              </a:rPr>
              <a:t>to</a:t>
            </a:r>
            <a:r>
              <a:rPr sz="20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60" dirty="0">
                <a:solidFill>
                  <a:srgbClr val="04182D"/>
                </a:solidFill>
                <a:latin typeface="Lucida Sans Unicode"/>
                <a:cs typeface="Lucida Sans Unicode"/>
              </a:rPr>
              <a:t>sa</a:t>
            </a:r>
            <a:r>
              <a:rPr sz="2000" spc="60" dirty="0">
                <a:solidFill>
                  <a:srgbClr val="04182D"/>
                </a:solidFill>
                <a:latin typeface="Microsoft Sans Serif"/>
                <a:cs typeface="Microsoft Sans Serif"/>
              </a:rPr>
              <a:t>v</a:t>
            </a:r>
            <a:r>
              <a:rPr sz="2000" spc="60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time</a:t>
            </a:r>
            <a:endParaRPr sz="2000" dirty="0">
              <a:latin typeface="Lucida Sans Unicode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10976573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15C1E33-7843-DD4E-A777-43ECB6153BE3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3" name="object 2"/>
          <p:cNvSpPr txBox="1">
            <a:spLocks noGrp="1"/>
          </p:cNvSpPr>
          <p:nvPr>
            <p:ph idx="1"/>
          </p:nvPr>
        </p:nvSpPr>
        <p:spPr>
          <a:xfrm>
            <a:off x="457200" y="1587752"/>
            <a:ext cx="7772400" cy="1143000"/>
          </a:xfrm>
          <a:prstGeom prst="rect">
            <a:avLst/>
          </a:prstGeom>
        </p:spPr>
        <p:txBody>
          <a:bodyPr vert="horz" wrap="square" lIns="0" tIns="3568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10"/>
              </a:spcBef>
            </a:pPr>
            <a:r>
              <a:rPr sz="6400" spc="-440" dirty="0"/>
              <a:t>L</a:t>
            </a:r>
            <a:r>
              <a:rPr sz="6400" spc="-365" dirty="0"/>
              <a:t>e</a:t>
            </a:r>
            <a:r>
              <a:rPr sz="6400" spc="-225" dirty="0"/>
              <a:t>t</a:t>
            </a:r>
            <a:r>
              <a:rPr sz="7000" spc="-150" dirty="0">
                <a:latin typeface="Microsoft Sans Serif"/>
                <a:cs typeface="Microsoft Sans Serif"/>
              </a:rPr>
              <a:t>'</a:t>
            </a:r>
            <a:r>
              <a:rPr sz="6400" spc="-360" dirty="0"/>
              <a:t>s</a:t>
            </a:r>
            <a:r>
              <a:rPr sz="6400" spc="-685" dirty="0"/>
              <a:t> </a:t>
            </a:r>
            <a:r>
              <a:rPr sz="6400" spc="-265" dirty="0"/>
              <a:t>p</a:t>
            </a:r>
            <a:r>
              <a:rPr sz="6400" spc="-484" dirty="0"/>
              <a:t>r</a:t>
            </a:r>
            <a:r>
              <a:rPr sz="6400" spc="-55" dirty="0"/>
              <a:t>a</a:t>
            </a:r>
            <a:r>
              <a:rPr sz="6400" spc="160" dirty="0"/>
              <a:t>c</a:t>
            </a:r>
            <a:r>
              <a:rPr sz="6400" spc="-225" dirty="0"/>
              <a:t>t</a:t>
            </a:r>
            <a:r>
              <a:rPr sz="6400" spc="-120" dirty="0"/>
              <a:t>i</a:t>
            </a:r>
            <a:r>
              <a:rPr sz="6400" spc="160" dirty="0"/>
              <a:t>c</a:t>
            </a:r>
            <a:r>
              <a:rPr sz="6400" spc="-300" dirty="0"/>
              <a:t>e</a:t>
            </a:r>
            <a:r>
              <a:rPr sz="7000" spc="-140" dirty="0">
                <a:latin typeface="Microsoft Sans Serif"/>
                <a:cs typeface="Microsoft Sans Serif"/>
              </a:rPr>
              <a:t>!</a:t>
            </a:r>
            <a:endParaRPr sz="7000" dirty="0">
              <a:latin typeface="Microsoft Sans Serif"/>
              <a:cs typeface="Microsoft Sans Serif"/>
            </a:endParaRPr>
          </a:p>
          <a:p>
            <a:pPr marR="53975" algn="ctr">
              <a:lnSpc>
                <a:spcPct val="100000"/>
              </a:lnSpc>
              <a:spcBef>
                <a:spcPts val="865"/>
              </a:spcBef>
              <a:tabLst>
                <a:tab pos="2611755" algn="l"/>
                <a:tab pos="3120390" algn="l"/>
              </a:tabLst>
            </a:pPr>
            <a:r>
              <a:rPr sz="2250" spc="65" dirty="0"/>
              <a:t>F</a:t>
            </a:r>
            <a:r>
              <a:rPr sz="2250" spc="-470" dirty="0"/>
              <a:t> </a:t>
            </a:r>
            <a:r>
              <a:rPr sz="2250" spc="55" dirty="0"/>
              <a:t>O</a:t>
            </a:r>
            <a:r>
              <a:rPr sz="2250" spc="-475" dirty="0"/>
              <a:t> </a:t>
            </a:r>
            <a:r>
              <a:rPr sz="2250" spc="-150" dirty="0"/>
              <a:t>R</a:t>
            </a:r>
            <a:r>
              <a:rPr sz="2250" spc="-465" dirty="0"/>
              <a:t> </a:t>
            </a:r>
            <a:r>
              <a:rPr sz="2250" spc="190" dirty="0"/>
              <a:t>EC</a:t>
            </a:r>
            <a:r>
              <a:rPr sz="2250" spc="-470" dirty="0"/>
              <a:t> </a:t>
            </a:r>
            <a:r>
              <a:rPr sz="2250" spc="95" dirty="0"/>
              <a:t>A</a:t>
            </a:r>
            <a:r>
              <a:rPr sz="2250" spc="-490" dirty="0"/>
              <a:t> </a:t>
            </a:r>
            <a:r>
              <a:rPr sz="2250" spc="-229" dirty="0"/>
              <a:t>S</a:t>
            </a:r>
            <a:r>
              <a:rPr sz="2250" spc="-470" dirty="0"/>
              <a:t> </a:t>
            </a:r>
            <a:r>
              <a:rPr sz="2250" spc="-65" dirty="0"/>
              <a:t>T</a:t>
            </a:r>
            <a:r>
              <a:rPr sz="2250" spc="-465" dirty="0"/>
              <a:t> </a:t>
            </a:r>
            <a:r>
              <a:rPr sz="2250" spc="-295" dirty="0"/>
              <a:t>I</a:t>
            </a:r>
            <a:r>
              <a:rPr sz="2250" spc="-470" dirty="0"/>
              <a:t> </a:t>
            </a:r>
            <a:r>
              <a:rPr sz="2250" spc="35" dirty="0"/>
              <a:t>N</a:t>
            </a:r>
            <a:r>
              <a:rPr sz="2250" spc="-475" dirty="0"/>
              <a:t> </a:t>
            </a:r>
            <a:r>
              <a:rPr sz="2250" spc="5" dirty="0"/>
              <a:t>G	</a:t>
            </a:r>
            <a:r>
              <a:rPr sz="2250" spc="-295" dirty="0"/>
              <a:t>I</a:t>
            </a:r>
            <a:r>
              <a:rPr sz="2250" spc="-465" dirty="0"/>
              <a:t> </a:t>
            </a:r>
            <a:r>
              <a:rPr sz="2250" spc="35" dirty="0"/>
              <a:t>N	</a:t>
            </a:r>
            <a:r>
              <a:rPr sz="2250" spc="-150" dirty="0"/>
              <a:t>R</a:t>
            </a:r>
            <a:endParaRPr sz="2250" dirty="0"/>
          </a:p>
        </p:txBody>
      </p:sp>
    </p:spTree>
    <p:extLst>
      <p:ext uri="{BB962C8B-B14F-4D97-AF65-F5344CB8AC3E}">
        <p14:creationId xmlns:p14="http://schemas.microsoft.com/office/powerpoint/2010/main" val="2397140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15C1E33-7843-DD4E-A777-43ECB6153BE3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5" name="object 6"/>
          <p:cNvSpPr/>
          <p:nvPr/>
        </p:nvSpPr>
        <p:spPr>
          <a:xfrm>
            <a:off x="419048" y="3767333"/>
            <a:ext cx="4017460" cy="943031"/>
          </a:xfrm>
          <a:custGeom>
            <a:avLst/>
            <a:gdLst/>
            <a:ahLst/>
            <a:cxnLst/>
            <a:rect l="l" t="t" r="r" b="b"/>
            <a:pathLst>
              <a:path w="6141720" h="1699259">
                <a:moveTo>
                  <a:pt x="6064612" y="1699042"/>
                </a:moveTo>
                <a:lnTo>
                  <a:pt x="0" y="1699042"/>
                </a:lnTo>
                <a:lnTo>
                  <a:pt x="0" y="0"/>
                </a:lnTo>
                <a:lnTo>
                  <a:pt x="6064612" y="0"/>
                </a:lnTo>
                <a:lnTo>
                  <a:pt x="6069936" y="524"/>
                </a:lnTo>
                <a:lnTo>
                  <a:pt x="6109196" y="16786"/>
                </a:lnTo>
                <a:lnTo>
                  <a:pt x="6136941" y="55514"/>
                </a:lnTo>
                <a:lnTo>
                  <a:pt x="6141117" y="76505"/>
                </a:lnTo>
                <a:lnTo>
                  <a:pt x="6141117" y="1622537"/>
                </a:lnTo>
                <a:lnTo>
                  <a:pt x="6124330" y="1667122"/>
                </a:lnTo>
                <a:lnTo>
                  <a:pt x="6085602" y="1694867"/>
                </a:lnTo>
                <a:lnTo>
                  <a:pt x="6064612" y="1699042"/>
                </a:lnTo>
                <a:close/>
              </a:path>
            </a:pathLst>
          </a:custGeom>
          <a:solidFill>
            <a:srgbClr val="7833FF"/>
          </a:solidFill>
        </p:spPr>
        <p:txBody>
          <a:bodyPr wrap="square" lIns="0" tIns="0" rIns="0" bIns="0" rtlCol="0"/>
          <a:lstStyle/>
          <a:p>
            <a:pPr marL="12700" algn="ctr">
              <a:lnSpc>
                <a:spcPct val="100000"/>
              </a:lnSpc>
              <a:spcBef>
                <a:spcPts val="690"/>
              </a:spcBef>
            </a:pPr>
            <a:r>
              <a:rPr lang="en-US" sz="1600" spc="-21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a hid  A sg ha 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78100"/>
              </a:lnSpc>
              <a:spcBef>
                <a:spcPts val="1040"/>
              </a:spcBef>
            </a:pPr>
            <a:r>
              <a:rPr lang="en-US" sz="1600" spc="-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Professor, School of Economics, QAU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object 3"/>
          <p:cNvGrpSpPr/>
          <p:nvPr/>
        </p:nvGrpSpPr>
        <p:grpSpPr>
          <a:xfrm>
            <a:off x="5811677" y="3593110"/>
            <a:ext cx="982980" cy="982980"/>
            <a:chOff x="7287459" y="4974305"/>
            <a:chExt cx="982980" cy="982980"/>
          </a:xfrm>
        </p:grpSpPr>
        <p:sp>
          <p:nvSpPr>
            <p:cNvPr id="17" name="object 4"/>
            <p:cNvSpPr/>
            <p:nvPr/>
          </p:nvSpPr>
          <p:spPr>
            <a:xfrm>
              <a:off x="7287459" y="4974305"/>
              <a:ext cx="982980" cy="982980"/>
            </a:xfrm>
            <a:custGeom>
              <a:avLst/>
              <a:gdLst/>
              <a:ahLst/>
              <a:cxnLst/>
              <a:rect l="l" t="t" r="r" b="b"/>
              <a:pathLst>
                <a:path w="982979" h="982979">
                  <a:moveTo>
                    <a:pt x="491289" y="982578"/>
                  </a:moveTo>
                  <a:lnTo>
                    <a:pt x="443134" y="980213"/>
                  </a:lnTo>
                  <a:lnTo>
                    <a:pt x="395443" y="973138"/>
                  </a:lnTo>
                  <a:lnTo>
                    <a:pt x="348675" y="961423"/>
                  </a:lnTo>
                  <a:lnTo>
                    <a:pt x="303281" y="945181"/>
                  </a:lnTo>
                  <a:lnTo>
                    <a:pt x="259697" y="924568"/>
                  </a:lnTo>
                  <a:lnTo>
                    <a:pt x="218343" y="899781"/>
                  </a:lnTo>
                  <a:lnTo>
                    <a:pt x="179618" y="871061"/>
                  </a:lnTo>
                  <a:lnTo>
                    <a:pt x="143895" y="838683"/>
                  </a:lnTo>
                  <a:lnTo>
                    <a:pt x="111517" y="802960"/>
                  </a:lnTo>
                  <a:lnTo>
                    <a:pt x="82797" y="764235"/>
                  </a:lnTo>
                  <a:lnTo>
                    <a:pt x="58010" y="722881"/>
                  </a:lnTo>
                  <a:lnTo>
                    <a:pt x="37397" y="679297"/>
                  </a:lnTo>
                  <a:lnTo>
                    <a:pt x="21154" y="633903"/>
                  </a:lnTo>
                  <a:lnTo>
                    <a:pt x="9439" y="587135"/>
                  </a:lnTo>
                  <a:lnTo>
                    <a:pt x="2365" y="539444"/>
                  </a:lnTo>
                  <a:lnTo>
                    <a:pt x="0" y="491289"/>
                  </a:lnTo>
                  <a:lnTo>
                    <a:pt x="591" y="467182"/>
                  </a:lnTo>
                  <a:lnTo>
                    <a:pt x="5317" y="419202"/>
                  </a:lnTo>
                  <a:lnTo>
                    <a:pt x="14722" y="371915"/>
                  </a:lnTo>
                  <a:lnTo>
                    <a:pt x="28718" y="325778"/>
                  </a:lnTo>
                  <a:lnTo>
                    <a:pt x="47168" y="281235"/>
                  </a:lnTo>
                  <a:lnTo>
                    <a:pt x="69896" y="238716"/>
                  </a:lnTo>
                  <a:lnTo>
                    <a:pt x="96681" y="198628"/>
                  </a:lnTo>
                  <a:lnTo>
                    <a:pt x="127267" y="161359"/>
                  </a:lnTo>
                  <a:lnTo>
                    <a:pt x="161359" y="127267"/>
                  </a:lnTo>
                  <a:lnTo>
                    <a:pt x="198628" y="96681"/>
                  </a:lnTo>
                  <a:lnTo>
                    <a:pt x="238716" y="69896"/>
                  </a:lnTo>
                  <a:lnTo>
                    <a:pt x="281235" y="47168"/>
                  </a:lnTo>
                  <a:lnTo>
                    <a:pt x="325778" y="28718"/>
                  </a:lnTo>
                  <a:lnTo>
                    <a:pt x="371915" y="14722"/>
                  </a:lnTo>
                  <a:lnTo>
                    <a:pt x="419202" y="5317"/>
                  </a:lnTo>
                  <a:lnTo>
                    <a:pt x="467182" y="591"/>
                  </a:lnTo>
                  <a:lnTo>
                    <a:pt x="491289" y="0"/>
                  </a:lnTo>
                  <a:lnTo>
                    <a:pt x="515395" y="591"/>
                  </a:lnTo>
                  <a:lnTo>
                    <a:pt x="563376" y="5317"/>
                  </a:lnTo>
                  <a:lnTo>
                    <a:pt x="610663" y="14722"/>
                  </a:lnTo>
                  <a:lnTo>
                    <a:pt x="656799" y="28718"/>
                  </a:lnTo>
                  <a:lnTo>
                    <a:pt x="701342" y="47168"/>
                  </a:lnTo>
                  <a:lnTo>
                    <a:pt x="743862" y="69896"/>
                  </a:lnTo>
                  <a:lnTo>
                    <a:pt x="783950" y="96681"/>
                  </a:lnTo>
                  <a:lnTo>
                    <a:pt x="821219" y="127267"/>
                  </a:lnTo>
                  <a:lnTo>
                    <a:pt x="855311" y="161359"/>
                  </a:lnTo>
                  <a:lnTo>
                    <a:pt x="885896" y="198628"/>
                  </a:lnTo>
                  <a:lnTo>
                    <a:pt x="912682" y="238716"/>
                  </a:lnTo>
                  <a:lnTo>
                    <a:pt x="935410" y="281235"/>
                  </a:lnTo>
                  <a:lnTo>
                    <a:pt x="953860" y="325778"/>
                  </a:lnTo>
                  <a:lnTo>
                    <a:pt x="967855" y="371915"/>
                  </a:lnTo>
                  <a:lnTo>
                    <a:pt x="977261" y="419202"/>
                  </a:lnTo>
                  <a:lnTo>
                    <a:pt x="981987" y="467182"/>
                  </a:lnTo>
                  <a:lnTo>
                    <a:pt x="982578" y="491289"/>
                  </a:lnTo>
                  <a:lnTo>
                    <a:pt x="981987" y="515395"/>
                  </a:lnTo>
                  <a:lnTo>
                    <a:pt x="977261" y="563376"/>
                  </a:lnTo>
                  <a:lnTo>
                    <a:pt x="967855" y="610663"/>
                  </a:lnTo>
                  <a:lnTo>
                    <a:pt x="953860" y="656799"/>
                  </a:lnTo>
                  <a:lnTo>
                    <a:pt x="935410" y="701342"/>
                  </a:lnTo>
                  <a:lnTo>
                    <a:pt x="912682" y="743862"/>
                  </a:lnTo>
                  <a:lnTo>
                    <a:pt x="885897" y="783950"/>
                  </a:lnTo>
                  <a:lnTo>
                    <a:pt x="855311" y="821219"/>
                  </a:lnTo>
                  <a:lnTo>
                    <a:pt x="821219" y="855311"/>
                  </a:lnTo>
                  <a:lnTo>
                    <a:pt x="783950" y="885896"/>
                  </a:lnTo>
                  <a:lnTo>
                    <a:pt x="743862" y="912682"/>
                  </a:lnTo>
                  <a:lnTo>
                    <a:pt x="701342" y="935410"/>
                  </a:lnTo>
                  <a:lnTo>
                    <a:pt x="656799" y="953860"/>
                  </a:lnTo>
                  <a:lnTo>
                    <a:pt x="610663" y="967855"/>
                  </a:lnTo>
                  <a:lnTo>
                    <a:pt x="563376" y="977261"/>
                  </a:lnTo>
                  <a:lnTo>
                    <a:pt x="515395" y="981987"/>
                  </a:lnTo>
                  <a:lnTo>
                    <a:pt x="491289" y="982578"/>
                  </a:lnTo>
                  <a:close/>
                </a:path>
              </a:pathLst>
            </a:custGeom>
            <a:solidFill>
              <a:srgbClr val="0418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/>
            <p:cNvSpPr/>
            <p:nvPr/>
          </p:nvSpPr>
          <p:spPr>
            <a:xfrm>
              <a:off x="7464603" y="5201056"/>
              <a:ext cx="627380" cy="483870"/>
            </a:xfrm>
            <a:custGeom>
              <a:avLst/>
              <a:gdLst/>
              <a:ahLst/>
              <a:cxnLst/>
              <a:rect l="l" t="t" r="r" b="b"/>
              <a:pathLst>
                <a:path w="627379" h="483870">
                  <a:moveTo>
                    <a:pt x="626770" y="209892"/>
                  </a:moveTo>
                  <a:lnTo>
                    <a:pt x="621728" y="172161"/>
                  </a:lnTo>
                  <a:lnTo>
                    <a:pt x="607174" y="136652"/>
                  </a:lnTo>
                  <a:lnTo>
                    <a:pt x="590003" y="112458"/>
                  </a:lnTo>
                  <a:lnTo>
                    <a:pt x="590003" y="225552"/>
                  </a:lnTo>
                  <a:lnTo>
                    <a:pt x="584238" y="264845"/>
                  </a:lnTo>
                  <a:lnTo>
                    <a:pt x="567677" y="297535"/>
                  </a:lnTo>
                  <a:lnTo>
                    <a:pt x="541426" y="323824"/>
                  </a:lnTo>
                  <a:lnTo>
                    <a:pt x="513664" y="339826"/>
                  </a:lnTo>
                  <a:lnTo>
                    <a:pt x="511086" y="338315"/>
                  </a:lnTo>
                  <a:lnTo>
                    <a:pt x="507263" y="336384"/>
                  </a:lnTo>
                  <a:lnTo>
                    <a:pt x="497928" y="332270"/>
                  </a:lnTo>
                  <a:lnTo>
                    <a:pt x="488137" y="328650"/>
                  </a:lnTo>
                  <a:lnTo>
                    <a:pt x="480415" y="326072"/>
                  </a:lnTo>
                  <a:lnTo>
                    <a:pt x="477278" y="325081"/>
                  </a:lnTo>
                  <a:lnTo>
                    <a:pt x="491871" y="322554"/>
                  </a:lnTo>
                  <a:lnTo>
                    <a:pt x="523989" y="309994"/>
                  </a:lnTo>
                  <a:lnTo>
                    <a:pt x="556107" y="279996"/>
                  </a:lnTo>
                  <a:lnTo>
                    <a:pt x="559600" y="266877"/>
                  </a:lnTo>
                  <a:lnTo>
                    <a:pt x="570712" y="225132"/>
                  </a:lnTo>
                  <a:lnTo>
                    <a:pt x="565543" y="206857"/>
                  </a:lnTo>
                  <a:lnTo>
                    <a:pt x="555434" y="171069"/>
                  </a:lnTo>
                  <a:lnTo>
                    <a:pt x="521817" y="142836"/>
                  </a:lnTo>
                  <a:lnTo>
                    <a:pt x="488200" y="132054"/>
                  </a:lnTo>
                  <a:lnTo>
                    <a:pt x="472922" y="130327"/>
                  </a:lnTo>
                  <a:lnTo>
                    <a:pt x="460756" y="130327"/>
                  </a:lnTo>
                  <a:lnTo>
                    <a:pt x="460756" y="236321"/>
                  </a:lnTo>
                  <a:lnTo>
                    <a:pt x="456069" y="253936"/>
                  </a:lnTo>
                  <a:lnTo>
                    <a:pt x="445770" y="263004"/>
                  </a:lnTo>
                  <a:lnTo>
                    <a:pt x="435457" y="266357"/>
                  </a:lnTo>
                  <a:lnTo>
                    <a:pt x="430771" y="266852"/>
                  </a:lnTo>
                  <a:lnTo>
                    <a:pt x="419481" y="266865"/>
                  </a:lnTo>
                  <a:lnTo>
                    <a:pt x="419481" y="365620"/>
                  </a:lnTo>
                  <a:lnTo>
                    <a:pt x="415442" y="366306"/>
                  </a:lnTo>
                  <a:lnTo>
                    <a:pt x="365125" y="368846"/>
                  </a:lnTo>
                  <a:lnTo>
                    <a:pt x="365125" y="345084"/>
                  </a:lnTo>
                  <a:lnTo>
                    <a:pt x="399707" y="345084"/>
                  </a:lnTo>
                  <a:lnTo>
                    <a:pt x="402234" y="346786"/>
                  </a:lnTo>
                  <a:lnTo>
                    <a:pt x="408178" y="351599"/>
                  </a:lnTo>
                  <a:lnTo>
                    <a:pt x="414096" y="358038"/>
                  </a:lnTo>
                  <a:lnTo>
                    <a:pt x="419481" y="365620"/>
                  </a:lnTo>
                  <a:lnTo>
                    <a:pt x="419481" y="266865"/>
                  </a:lnTo>
                  <a:lnTo>
                    <a:pt x="366014" y="266877"/>
                  </a:lnTo>
                  <a:lnTo>
                    <a:pt x="366052" y="206857"/>
                  </a:lnTo>
                  <a:lnTo>
                    <a:pt x="430771" y="206895"/>
                  </a:lnTo>
                  <a:lnTo>
                    <a:pt x="435457" y="207124"/>
                  </a:lnTo>
                  <a:lnTo>
                    <a:pt x="445770" y="209969"/>
                  </a:lnTo>
                  <a:lnTo>
                    <a:pt x="456069" y="218617"/>
                  </a:lnTo>
                  <a:lnTo>
                    <a:pt x="460756" y="236321"/>
                  </a:lnTo>
                  <a:lnTo>
                    <a:pt x="460756" y="130327"/>
                  </a:lnTo>
                  <a:lnTo>
                    <a:pt x="258229" y="130327"/>
                  </a:lnTo>
                  <a:lnTo>
                    <a:pt x="258229" y="354812"/>
                  </a:lnTo>
                  <a:lnTo>
                    <a:pt x="256603" y="354457"/>
                  </a:lnTo>
                  <a:lnTo>
                    <a:pt x="212369" y="337515"/>
                  </a:lnTo>
                  <a:lnTo>
                    <a:pt x="175488" y="315290"/>
                  </a:lnTo>
                  <a:lnTo>
                    <a:pt x="147370" y="288645"/>
                  </a:lnTo>
                  <a:lnTo>
                    <a:pt x="123151" y="225552"/>
                  </a:lnTo>
                  <a:lnTo>
                    <a:pt x="129451" y="192646"/>
                  </a:lnTo>
                  <a:lnTo>
                    <a:pt x="175488" y="135801"/>
                  </a:lnTo>
                  <a:lnTo>
                    <a:pt x="212369" y="113588"/>
                  </a:lnTo>
                  <a:lnTo>
                    <a:pt x="256603" y="96647"/>
                  </a:lnTo>
                  <a:lnTo>
                    <a:pt x="306743" y="85852"/>
                  </a:lnTo>
                  <a:lnTo>
                    <a:pt x="361353" y="82067"/>
                  </a:lnTo>
                  <a:lnTo>
                    <a:pt x="415442" y="84785"/>
                  </a:lnTo>
                  <a:lnTo>
                    <a:pt x="464210" y="93091"/>
                  </a:lnTo>
                  <a:lnTo>
                    <a:pt x="506577" y="107200"/>
                  </a:lnTo>
                  <a:lnTo>
                    <a:pt x="541426" y="127292"/>
                  </a:lnTo>
                  <a:lnTo>
                    <a:pt x="584238" y="186258"/>
                  </a:lnTo>
                  <a:lnTo>
                    <a:pt x="590003" y="225552"/>
                  </a:lnTo>
                  <a:lnTo>
                    <a:pt x="590003" y="112458"/>
                  </a:lnTo>
                  <a:lnTo>
                    <a:pt x="583984" y="103962"/>
                  </a:lnTo>
                  <a:lnTo>
                    <a:pt x="560882" y="82067"/>
                  </a:lnTo>
                  <a:lnTo>
                    <a:pt x="553072" y="74663"/>
                  </a:lnTo>
                  <a:lnTo>
                    <a:pt x="515302" y="49364"/>
                  </a:lnTo>
                  <a:lnTo>
                    <a:pt x="471563" y="28663"/>
                  </a:lnTo>
                  <a:lnTo>
                    <a:pt x="422744" y="13131"/>
                  </a:lnTo>
                  <a:lnTo>
                    <a:pt x="369722" y="3390"/>
                  </a:lnTo>
                  <a:lnTo>
                    <a:pt x="313385" y="0"/>
                  </a:lnTo>
                  <a:lnTo>
                    <a:pt x="257060" y="3390"/>
                  </a:lnTo>
                  <a:lnTo>
                    <a:pt x="204038" y="13131"/>
                  </a:lnTo>
                  <a:lnTo>
                    <a:pt x="155219" y="28663"/>
                  </a:lnTo>
                  <a:lnTo>
                    <a:pt x="111480" y="49364"/>
                  </a:lnTo>
                  <a:lnTo>
                    <a:pt x="73698" y="74663"/>
                  </a:lnTo>
                  <a:lnTo>
                    <a:pt x="42786" y="103962"/>
                  </a:lnTo>
                  <a:lnTo>
                    <a:pt x="19608" y="136652"/>
                  </a:lnTo>
                  <a:lnTo>
                    <a:pt x="5041" y="172161"/>
                  </a:lnTo>
                  <a:lnTo>
                    <a:pt x="0" y="209892"/>
                  </a:lnTo>
                  <a:lnTo>
                    <a:pt x="5041" y="247611"/>
                  </a:lnTo>
                  <a:lnTo>
                    <a:pt x="19608" y="283121"/>
                  </a:lnTo>
                  <a:lnTo>
                    <a:pt x="42786" y="315823"/>
                  </a:lnTo>
                  <a:lnTo>
                    <a:pt x="73698" y="345122"/>
                  </a:lnTo>
                  <a:lnTo>
                    <a:pt x="111480" y="370408"/>
                  </a:lnTo>
                  <a:lnTo>
                    <a:pt x="155219" y="391121"/>
                  </a:lnTo>
                  <a:lnTo>
                    <a:pt x="204038" y="406641"/>
                  </a:lnTo>
                  <a:lnTo>
                    <a:pt x="257060" y="416394"/>
                  </a:lnTo>
                  <a:lnTo>
                    <a:pt x="258229" y="416471"/>
                  </a:lnTo>
                  <a:lnTo>
                    <a:pt x="258229" y="483298"/>
                  </a:lnTo>
                  <a:lnTo>
                    <a:pt x="365150" y="483260"/>
                  </a:lnTo>
                  <a:lnTo>
                    <a:pt x="365137" y="416674"/>
                  </a:lnTo>
                  <a:lnTo>
                    <a:pt x="369722" y="416394"/>
                  </a:lnTo>
                  <a:lnTo>
                    <a:pt x="422744" y="406641"/>
                  </a:lnTo>
                  <a:lnTo>
                    <a:pt x="439648" y="401269"/>
                  </a:lnTo>
                  <a:lnTo>
                    <a:pt x="483362" y="483336"/>
                  </a:lnTo>
                  <a:lnTo>
                    <a:pt x="604177" y="483285"/>
                  </a:lnTo>
                  <a:lnTo>
                    <a:pt x="530987" y="359905"/>
                  </a:lnTo>
                  <a:lnTo>
                    <a:pt x="553072" y="345122"/>
                  </a:lnTo>
                  <a:lnTo>
                    <a:pt x="583984" y="315823"/>
                  </a:lnTo>
                  <a:lnTo>
                    <a:pt x="607174" y="283121"/>
                  </a:lnTo>
                  <a:lnTo>
                    <a:pt x="621728" y="247611"/>
                  </a:lnTo>
                  <a:lnTo>
                    <a:pt x="626770" y="2098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2"/>
          <p:cNvSpPr txBox="1">
            <a:spLocks noGrp="1"/>
          </p:cNvSpPr>
          <p:nvPr>
            <p:ph type="title"/>
          </p:nvPr>
        </p:nvSpPr>
        <p:spPr>
          <a:xfrm>
            <a:off x="987630" y="1266741"/>
            <a:ext cx="6897756" cy="2060821"/>
          </a:xfrm>
          <a:prstGeom prst="rect">
            <a:avLst/>
          </a:prstGeom>
        </p:spPr>
        <p:txBody>
          <a:bodyPr vert="horz" wrap="square" lIns="0" tIns="3568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10"/>
              </a:spcBef>
            </a:pPr>
            <a:r>
              <a:rPr lang="en-US" sz="4400" dirty="0" smtClean="0"/>
              <a:t>SEASONAL ARIMA  MODELS</a:t>
            </a:r>
            <a:r>
              <a:rPr lang="en-US" sz="4400" dirty="0" smtClean="0">
                <a:latin typeface="Microsoft Sans Serif"/>
                <a:cs typeface="Microsoft Sans Serif"/>
              </a:rPr>
              <a:t/>
            </a:r>
            <a:br>
              <a:rPr lang="en-US" sz="4400" dirty="0" smtClean="0">
                <a:latin typeface="Microsoft Sans Serif"/>
                <a:cs typeface="Microsoft Sans Serif"/>
              </a:rPr>
            </a:br>
            <a:r>
              <a:rPr sz="2250" spc="65" dirty="0" smtClean="0"/>
              <a:t>F</a:t>
            </a:r>
            <a:r>
              <a:rPr sz="2250" spc="-470" dirty="0" smtClean="0"/>
              <a:t> </a:t>
            </a:r>
            <a:r>
              <a:rPr sz="2250" spc="55" dirty="0"/>
              <a:t>O</a:t>
            </a:r>
            <a:r>
              <a:rPr sz="2250" spc="-475" dirty="0"/>
              <a:t> </a:t>
            </a:r>
            <a:r>
              <a:rPr sz="2250" spc="-150" dirty="0"/>
              <a:t>R</a:t>
            </a:r>
            <a:r>
              <a:rPr sz="2250" spc="-465" dirty="0"/>
              <a:t> </a:t>
            </a:r>
            <a:r>
              <a:rPr sz="2250" spc="190" dirty="0"/>
              <a:t>EC</a:t>
            </a:r>
            <a:r>
              <a:rPr sz="2250" spc="-470" dirty="0"/>
              <a:t> </a:t>
            </a:r>
            <a:r>
              <a:rPr sz="2250" spc="95" dirty="0"/>
              <a:t>A</a:t>
            </a:r>
            <a:r>
              <a:rPr sz="2250" spc="-490" dirty="0"/>
              <a:t> </a:t>
            </a:r>
            <a:r>
              <a:rPr sz="2250" spc="-229" dirty="0"/>
              <a:t>S</a:t>
            </a:r>
            <a:r>
              <a:rPr sz="2250" spc="-470" dirty="0"/>
              <a:t> </a:t>
            </a:r>
            <a:r>
              <a:rPr sz="2250" spc="-65" dirty="0"/>
              <a:t>T</a:t>
            </a:r>
            <a:r>
              <a:rPr sz="2250" spc="-465" dirty="0"/>
              <a:t> </a:t>
            </a:r>
            <a:r>
              <a:rPr sz="2250" spc="-295" dirty="0"/>
              <a:t>I</a:t>
            </a:r>
            <a:r>
              <a:rPr sz="2250" spc="-470" dirty="0"/>
              <a:t> </a:t>
            </a:r>
            <a:r>
              <a:rPr sz="2250" spc="35" dirty="0"/>
              <a:t>N</a:t>
            </a:r>
            <a:r>
              <a:rPr sz="2250" spc="-475" dirty="0"/>
              <a:t> </a:t>
            </a:r>
            <a:r>
              <a:rPr sz="2250" spc="5" dirty="0"/>
              <a:t>G	</a:t>
            </a:r>
            <a:r>
              <a:rPr sz="2250" spc="-295" dirty="0"/>
              <a:t>I</a:t>
            </a:r>
            <a:r>
              <a:rPr sz="2250" spc="-465" dirty="0"/>
              <a:t> </a:t>
            </a:r>
            <a:r>
              <a:rPr sz="2250" spc="35" dirty="0"/>
              <a:t>N	</a:t>
            </a:r>
            <a:r>
              <a:rPr sz="2250" spc="-150" dirty="0"/>
              <a:t>R</a:t>
            </a:r>
            <a:endParaRPr sz="2250" dirty="0"/>
          </a:p>
        </p:txBody>
      </p:sp>
    </p:spTree>
    <p:extLst>
      <p:ext uri="{BB962C8B-B14F-4D97-AF65-F5344CB8AC3E}">
        <p14:creationId xmlns:p14="http://schemas.microsoft.com/office/powerpoint/2010/main" val="20135536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1A58-12D5-4546-995B-9323A3D8C075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2" y="1062351"/>
            <a:ext cx="7772400" cy="461665"/>
          </a:xfrm>
        </p:spPr>
        <p:txBody>
          <a:bodyPr/>
          <a:lstStyle/>
          <a:p>
            <a:r>
              <a:rPr lang="en-US" dirty="0" smtClean="0"/>
              <a:t>ARIMA MODELS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1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576" y="1665568"/>
            <a:ext cx="6625037" cy="1098577"/>
          </a:xfrm>
          <a:prstGeom prst="rect">
            <a:avLst/>
          </a:prstGeom>
        </p:spPr>
      </p:pic>
      <p:sp>
        <p:nvSpPr>
          <p:cNvPr id="12" name="object 5"/>
          <p:cNvSpPr txBox="1"/>
          <p:nvPr/>
        </p:nvSpPr>
        <p:spPr>
          <a:xfrm>
            <a:off x="562576" y="2905697"/>
            <a:ext cx="5594384" cy="165583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sz="2400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d</a:t>
            </a:r>
            <a:r>
              <a:rPr sz="2400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400" spc="10" dirty="0">
                <a:solidFill>
                  <a:srgbClr val="04182D"/>
                </a:solidFill>
                <a:latin typeface="Microsoft Sans Serif"/>
                <a:cs typeface="Microsoft Sans Serif"/>
              </a:rPr>
              <a:t>=</a:t>
            </a:r>
            <a:r>
              <a:rPr sz="2400" spc="80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24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z="2400" spc="25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24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mber</a:t>
            </a:r>
            <a:r>
              <a:rPr sz="2400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of</a:t>
            </a:r>
            <a:r>
              <a:rPr sz="24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400"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lag</a:t>
            </a:r>
            <a:r>
              <a:rPr sz="2400" spc="-35" dirty="0">
                <a:solidFill>
                  <a:srgbClr val="04182D"/>
                </a:solidFill>
                <a:latin typeface="Microsoft Sans Serif"/>
                <a:cs typeface="Microsoft Sans Serif"/>
              </a:rPr>
              <a:t>-1</a:t>
            </a:r>
            <a:r>
              <a:rPr sz="2400" spc="7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2400" spc="-30" dirty="0">
                <a:solidFill>
                  <a:srgbClr val="04182D"/>
                </a:solidFill>
                <a:latin typeface="Lucida Sans Unicode"/>
                <a:cs typeface="Lucida Sans Unicode"/>
              </a:rPr>
              <a:t>di</a:t>
            </a:r>
            <a:r>
              <a:rPr sz="2400" spc="86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400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erences</a:t>
            </a:r>
            <a:endParaRPr sz="2400" dirty="0">
              <a:latin typeface="Lucida Sans Unicode"/>
              <a:cs typeface="Lucida Sans Unicode"/>
            </a:endParaRPr>
          </a:p>
          <a:p>
            <a:pPr marL="355600" marR="5080" indent="-342900">
              <a:lnSpc>
                <a:spcPct val="171900"/>
              </a:lnSpc>
              <a:buFont typeface="Arial" panose="020B0604020202020204" pitchFamily="34" charset="0"/>
              <a:buChar char="•"/>
            </a:pPr>
            <a:r>
              <a:rPr sz="2400" spc="-5" dirty="0">
                <a:solidFill>
                  <a:srgbClr val="04182D"/>
                </a:solidFill>
                <a:latin typeface="Lucida Sans Unicode"/>
                <a:cs typeface="Lucida Sans Unicode"/>
              </a:rPr>
              <a:t>p </a:t>
            </a:r>
            <a:r>
              <a:rPr sz="2400" spc="10" dirty="0">
                <a:solidFill>
                  <a:srgbClr val="04182D"/>
                </a:solidFill>
                <a:latin typeface="Microsoft Sans Serif"/>
                <a:cs typeface="Microsoft Sans Serif"/>
              </a:rPr>
              <a:t>= </a:t>
            </a:r>
            <a:r>
              <a:rPr sz="24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z="2400" spc="25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24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mber </a:t>
            </a:r>
            <a:r>
              <a:rPr sz="2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of </a:t>
            </a:r>
            <a:r>
              <a:rPr sz="2400" dirty="0">
                <a:solidFill>
                  <a:srgbClr val="04182D"/>
                </a:solidFill>
                <a:latin typeface="Lucida Sans Unicode"/>
                <a:cs typeface="Lucida Sans Unicode"/>
              </a:rPr>
              <a:t>ordinar</a:t>
            </a:r>
            <a:r>
              <a:rPr sz="2400" dirty="0">
                <a:solidFill>
                  <a:srgbClr val="04182D"/>
                </a:solidFill>
                <a:latin typeface="Microsoft Sans Serif"/>
                <a:cs typeface="Microsoft Sans Serif"/>
              </a:rPr>
              <a:t>y </a:t>
            </a:r>
            <a:r>
              <a:rPr sz="2400" spc="30" dirty="0">
                <a:solidFill>
                  <a:srgbClr val="04182D"/>
                </a:solidFill>
                <a:latin typeface="Lucida Sans Unicode"/>
                <a:cs typeface="Lucida Sans Unicode"/>
              </a:rPr>
              <a:t>AR </a:t>
            </a:r>
            <a:r>
              <a:rPr sz="2400" spc="-10" dirty="0">
                <a:solidFill>
                  <a:srgbClr val="04182D"/>
                </a:solidFill>
                <a:latin typeface="Lucida Sans Unicode"/>
                <a:cs typeface="Lucida Sans Unicode"/>
              </a:rPr>
              <a:t>lags</a:t>
            </a:r>
            <a:r>
              <a:rPr sz="2400" spc="-10" dirty="0">
                <a:solidFill>
                  <a:srgbClr val="04182D"/>
                </a:solidFill>
                <a:latin typeface="Microsoft Sans Serif"/>
                <a:cs typeface="Microsoft Sans Serif"/>
              </a:rPr>
              <a:t>: </a:t>
            </a:r>
            <a:endParaRPr lang="en-US" sz="2400" spc="-5" dirty="0">
              <a:solidFill>
                <a:srgbClr val="04182D"/>
              </a:solidFill>
              <a:latin typeface="Microsoft Sans Serif"/>
              <a:cs typeface="Microsoft Sans Serif"/>
            </a:endParaRPr>
          </a:p>
          <a:p>
            <a:pPr marL="355600" marR="5080" indent="-342900">
              <a:lnSpc>
                <a:spcPct val="171900"/>
              </a:lnSpc>
              <a:buFont typeface="Arial" panose="020B0604020202020204" pitchFamily="34" charset="0"/>
              <a:buChar char="•"/>
            </a:pPr>
            <a:r>
              <a:rPr sz="2400" spc="-5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q</a:t>
            </a:r>
            <a:r>
              <a:rPr sz="2400" spc="-55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400" spc="10" dirty="0">
                <a:solidFill>
                  <a:srgbClr val="04182D"/>
                </a:solidFill>
                <a:latin typeface="Microsoft Sans Serif"/>
                <a:cs typeface="Microsoft Sans Serif"/>
              </a:rPr>
              <a:t>=</a:t>
            </a:r>
            <a:r>
              <a:rPr sz="2400" spc="7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24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z="2400" spc="25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24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mber</a:t>
            </a:r>
            <a:r>
              <a:rPr sz="24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of</a:t>
            </a:r>
            <a:r>
              <a:rPr sz="2400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4182D"/>
                </a:solidFill>
                <a:latin typeface="Lucida Sans Unicode"/>
                <a:cs typeface="Lucida Sans Unicode"/>
              </a:rPr>
              <a:t>ordinar</a:t>
            </a:r>
            <a:r>
              <a:rPr sz="2400" dirty="0">
                <a:solidFill>
                  <a:srgbClr val="04182D"/>
                </a:solidFill>
                <a:latin typeface="Microsoft Sans Serif"/>
                <a:cs typeface="Microsoft Sans Serif"/>
              </a:rPr>
              <a:t>y</a:t>
            </a:r>
            <a:r>
              <a:rPr sz="2400" spc="80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2400" spc="125" dirty="0">
                <a:solidFill>
                  <a:srgbClr val="04182D"/>
                </a:solidFill>
                <a:latin typeface="Lucida Sans Unicode"/>
                <a:cs typeface="Lucida Sans Unicode"/>
              </a:rPr>
              <a:t>MA</a:t>
            </a:r>
            <a:r>
              <a:rPr sz="2400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4182D"/>
                </a:solidFill>
                <a:latin typeface="Lucida Sans Unicode"/>
                <a:cs typeface="Lucida Sans Unicode"/>
              </a:rPr>
              <a:t>lags</a:t>
            </a:r>
            <a:r>
              <a:rPr sz="2400" spc="-10" dirty="0">
                <a:solidFill>
                  <a:srgbClr val="04182D"/>
                </a:solidFill>
                <a:latin typeface="Microsoft Sans Serif"/>
                <a:cs typeface="Microsoft Sans Serif"/>
              </a:rPr>
              <a:t>: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9734952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1A58-12D5-4546-995B-9323A3D8C075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2" y="1062351"/>
            <a:ext cx="7772400" cy="461665"/>
          </a:xfrm>
        </p:spPr>
        <p:txBody>
          <a:bodyPr/>
          <a:lstStyle/>
          <a:p>
            <a:r>
              <a:rPr lang="en-US" dirty="0" smtClean="0"/>
              <a:t>ARIMA MODELS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object 5"/>
          <p:cNvSpPr txBox="1"/>
          <p:nvPr/>
        </p:nvSpPr>
        <p:spPr>
          <a:xfrm>
            <a:off x="562576" y="2905697"/>
            <a:ext cx="5594384" cy="165583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sz="2400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d</a:t>
            </a:r>
            <a:r>
              <a:rPr sz="2400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400" spc="10" dirty="0">
                <a:solidFill>
                  <a:srgbClr val="04182D"/>
                </a:solidFill>
                <a:latin typeface="Microsoft Sans Serif"/>
                <a:cs typeface="Microsoft Sans Serif"/>
              </a:rPr>
              <a:t>=</a:t>
            </a:r>
            <a:r>
              <a:rPr sz="2400" spc="80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24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z="2400" spc="25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24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mber</a:t>
            </a:r>
            <a:r>
              <a:rPr sz="2400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of</a:t>
            </a:r>
            <a:r>
              <a:rPr sz="24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400"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lag</a:t>
            </a:r>
            <a:r>
              <a:rPr sz="2400" spc="-35" dirty="0">
                <a:solidFill>
                  <a:srgbClr val="04182D"/>
                </a:solidFill>
                <a:latin typeface="Microsoft Sans Serif"/>
                <a:cs typeface="Microsoft Sans Serif"/>
              </a:rPr>
              <a:t>-1</a:t>
            </a:r>
            <a:r>
              <a:rPr sz="2400" spc="7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2400" spc="-30" dirty="0">
                <a:solidFill>
                  <a:srgbClr val="04182D"/>
                </a:solidFill>
                <a:latin typeface="Lucida Sans Unicode"/>
                <a:cs typeface="Lucida Sans Unicode"/>
              </a:rPr>
              <a:t>di</a:t>
            </a:r>
            <a:r>
              <a:rPr sz="2400" spc="86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400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erences</a:t>
            </a:r>
            <a:endParaRPr sz="2400" dirty="0">
              <a:latin typeface="Lucida Sans Unicode"/>
              <a:cs typeface="Lucida Sans Unicode"/>
            </a:endParaRPr>
          </a:p>
          <a:p>
            <a:pPr marL="355600" marR="5080" indent="-342900">
              <a:lnSpc>
                <a:spcPct val="171900"/>
              </a:lnSpc>
              <a:buFont typeface="Arial" panose="020B0604020202020204" pitchFamily="34" charset="0"/>
              <a:buChar char="•"/>
            </a:pPr>
            <a:r>
              <a:rPr sz="2400" spc="-5" dirty="0">
                <a:solidFill>
                  <a:srgbClr val="04182D"/>
                </a:solidFill>
                <a:latin typeface="Lucida Sans Unicode"/>
                <a:cs typeface="Lucida Sans Unicode"/>
              </a:rPr>
              <a:t>p </a:t>
            </a:r>
            <a:r>
              <a:rPr sz="2400" spc="10" dirty="0">
                <a:solidFill>
                  <a:srgbClr val="04182D"/>
                </a:solidFill>
                <a:latin typeface="Microsoft Sans Serif"/>
                <a:cs typeface="Microsoft Sans Serif"/>
              </a:rPr>
              <a:t>= </a:t>
            </a:r>
            <a:r>
              <a:rPr sz="24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z="2400" spc="25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24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mber </a:t>
            </a:r>
            <a:r>
              <a:rPr sz="2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of </a:t>
            </a:r>
            <a:r>
              <a:rPr sz="2400" dirty="0">
                <a:solidFill>
                  <a:srgbClr val="04182D"/>
                </a:solidFill>
                <a:latin typeface="Lucida Sans Unicode"/>
                <a:cs typeface="Lucida Sans Unicode"/>
              </a:rPr>
              <a:t>ordinar</a:t>
            </a:r>
            <a:r>
              <a:rPr sz="2400" dirty="0">
                <a:solidFill>
                  <a:srgbClr val="04182D"/>
                </a:solidFill>
                <a:latin typeface="Microsoft Sans Serif"/>
                <a:cs typeface="Microsoft Sans Serif"/>
              </a:rPr>
              <a:t>y </a:t>
            </a:r>
            <a:r>
              <a:rPr sz="2400" spc="30" dirty="0">
                <a:solidFill>
                  <a:srgbClr val="04182D"/>
                </a:solidFill>
                <a:latin typeface="Lucida Sans Unicode"/>
                <a:cs typeface="Lucida Sans Unicode"/>
              </a:rPr>
              <a:t>AR </a:t>
            </a:r>
            <a:r>
              <a:rPr sz="2400" spc="-10" dirty="0">
                <a:solidFill>
                  <a:srgbClr val="04182D"/>
                </a:solidFill>
                <a:latin typeface="Lucida Sans Unicode"/>
                <a:cs typeface="Lucida Sans Unicode"/>
              </a:rPr>
              <a:t>lags</a:t>
            </a:r>
            <a:r>
              <a:rPr sz="2400" spc="-10" dirty="0">
                <a:solidFill>
                  <a:srgbClr val="04182D"/>
                </a:solidFill>
                <a:latin typeface="Microsoft Sans Serif"/>
                <a:cs typeface="Microsoft Sans Serif"/>
              </a:rPr>
              <a:t>: </a:t>
            </a:r>
            <a:endParaRPr lang="en-US" sz="2400" spc="-5" dirty="0">
              <a:solidFill>
                <a:srgbClr val="04182D"/>
              </a:solidFill>
              <a:latin typeface="Microsoft Sans Serif"/>
              <a:cs typeface="Microsoft Sans Serif"/>
            </a:endParaRPr>
          </a:p>
          <a:p>
            <a:pPr marL="355600" marR="5080" indent="-342900">
              <a:lnSpc>
                <a:spcPct val="171900"/>
              </a:lnSpc>
              <a:buFont typeface="Arial" panose="020B0604020202020204" pitchFamily="34" charset="0"/>
              <a:buChar char="•"/>
            </a:pPr>
            <a:r>
              <a:rPr sz="2400" spc="-5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q</a:t>
            </a:r>
            <a:r>
              <a:rPr sz="2400" spc="-55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400" spc="10" dirty="0">
                <a:solidFill>
                  <a:srgbClr val="04182D"/>
                </a:solidFill>
                <a:latin typeface="Microsoft Sans Serif"/>
                <a:cs typeface="Microsoft Sans Serif"/>
              </a:rPr>
              <a:t>=</a:t>
            </a:r>
            <a:r>
              <a:rPr sz="2400" spc="7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24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z="2400" spc="25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24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mber</a:t>
            </a:r>
            <a:r>
              <a:rPr sz="24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of</a:t>
            </a:r>
            <a:r>
              <a:rPr sz="2400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4182D"/>
                </a:solidFill>
                <a:latin typeface="Lucida Sans Unicode"/>
                <a:cs typeface="Lucida Sans Unicode"/>
              </a:rPr>
              <a:t>ordinar</a:t>
            </a:r>
            <a:r>
              <a:rPr sz="2400" dirty="0">
                <a:solidFill>
                  <a:srgbClr val="04182D"/>
                </a:solidFill>
                <a:latin typeface="Microsoft Sans Serif"/>
                <a:cs typeface="Microsoft Sans Serif"/>
              </a:rPr>
              <a:t>y</a:t>
            </a:r>
            <a:r>
              <a:rPr sz="2400" spc="80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2400" spc="125" dirty="0">
                <a:solidFill>
                  <a:srgbClr val="04182D"/>
                </a:solidFill>
                <a:latin typeface="Lucida Sans Unicode"/>
                <a:cs typeface="Lucida Sans Unicode"/>
              </a:rPr>
              <a:t>MA</a:t>
            </a:r>
            <a:r>
              <a:rPr sz="2400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4182D"/>
                </a:solidFill>
                <a:latin typeface="Lucida Sans Unicode"/>
                <a:cs typeface="Lucida Sans Unicode"/>
              </a:rPr>
              <a:t>lags</a:t>
            </a:r>
            <a:r>
              <a:rPr sz="2400" spc="-10" dirty="0">
                <a:solidFill>
                  <a:srgbClr val="04182D"/>
                </a:solidFill>
                <a:latin typeface="Microsoft Sans Serif"/>
                <a:cs typeface="Microsoft Sans Serif"/>
              </a:rPr>
              <a:t>:</a:t>
            </a:r>
            <a:endParaRPr sz="2400" dirty="0">
              <a:latin typeface="Microsoft Sans Serif"/>
              <a:cs typeface="Microsoft Sans Serif"/>
            </a:endParaRPr>
          </a:p>
        </p:txBody>
      </p:sp>
      <p:pic>
        <p:nvPicPr>
          <p:cNvPr id="8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028" y="1665568"/>
            <a:ext cx="6625037" cy="109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0928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1A58-12D5-4546-995B-9323A3D8C075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024405"/>
            <a:ext cx="7772400" cy="369332"/>
          </a:xfrm>
        </p:spPr>
        <p:txBody>
          <a:bodyPr/>
          <a:lstStyle/>
          <a:p>
            <a:r>
              <a:rPr lang="en-US" sz="1800" dirty="0" smtClean="0"/>
              <a:t>ARIMA MODELS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11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552" y="1367413"/>
            <a:ext cx="4927425" cy="609584"/>
          </a:xfrm>
          <a:prstGeom prst="rect">
            <a:avLst/>
          </a:prstGeom>
        </p:spPr>
      </p:pic>
      <p:sp>
        <p:nvSpPr>
          <p:cNvPr id="8" name="object 5"/>
          <p:cNvSpPr txBox="1"/>
          <p:nvPr/>
        </p:nvSpPr>
        <p:spPr>
          <a:xfrm>
            <a:off x="323816" y="1850571"/>
            <a:ext cx="8029575" cy="1767792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209550" indent="-171450" algn="just">
              <a:lnSpc>
                <a:spcPct val="200000"/>
              </a:lnSpc>
              <a:spcBef>
                <a:spcPts val="1365"/>
              </a:spcBef>
              <a:buFont typeface="Arial" panose="020B0604020202020204" pitchFamily="34" charset="0"/>
              <a:buChar char="•"/>
            </a:pPr>
            <a:r>
              <a:rPr sz="1200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d</a:t>
            </a:r>
            <a:r>
              <a:rPr sz="1200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200" spc="10" dirty="0">
                <a:solidFill>
                  <a:srgbClr val="04182D"/>
                </a:solidFill>
                <a:latin typeface="Microsoft Sans Serif"/>
                <a:cs typeface="Microsoft Sans Serif"/>
              </a:rPr>
              <a:t>=</a:t>
            </a:r>
            <a:r>
              <a:rPr sz="1200" spc="80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2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z="1200" spc="25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12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mber</a:t>
            </a:r>
            <a:r>
              <a:rPr sz="1200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2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of</a:t>
            </a:r>
            <a:r>
              <a:rPr sz="12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200"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lag</a:t>
            </a:r>
            <a:r>
              <a:rPr sz="1200" spc="-35" dirty="0">
                <a:solidFill>
                  <a:srgbClr val="04182D"/>
                </a:solidFill>
                <a:latin typeface="Microsoft Sans Serif"/>
                <a:cs typeface="Microsoft Sans Serif"/>
              </a:rPr>
              <a:t>-1</a:t>
            </a:r>
            <a:r>
              <a:rPr sz="1200" spc="7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200" spc="-30" dirty="0">
                <a:solidFill>
                  <a:srgbClr val="04182D"/>
                </a:solidFill>
                <a:latin typeface="Lucida Sans Unicode"/>
                <a:cs typeface="Lucida Sans Unicode"/>
              </a:rPr>
              <a:t>di</a:t>
            </a:r>
            <a:r>
              <a:rPr sz="1200" spc="86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200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erences</a:t>
            </a:r>
            <a:endParaRPr sz="1200" dirty="0">
              <a:latin typeface="Lucida Sans Unicode"/>
              <a:cs typeface="Lucida Sans Unicode"/>
            </a:endParaRPr>
          </a:p>
          <a:p>
            <a:pPr marL="209550" marR="30480" indent="-171450" algn="just">
              <a:lnSpc>
                <a:spcPct val="200000"/>
              </a:lnSpc>
              <a:spcBef>
                <a:spcPts val="330"/>
              </a:spcBef>
              <a:buFont typeface="Arial" panose="020B0604020202020204" pitchFamily="34" charset="0"/>
              <a:buChar char="•"/>
            </a:pPr>
            <a:r>
              <a:rPr sz="1200" spc="-5" dirty="0">
                <a:solidFill>
                  <a:srgbClr val="04182D"/>
                </a:solidFill>
                <a:latin typeface="Lucida Sans Unicode"/>
                <a:cs typeface="Lucida Sans Unicode"/>
              </a:rPr>
              <a:t>p</a:t>
            </a:r>
            <a:r>
              <a:rPr sz="12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200" spc="10" dirty="0">
                <a:solidFill>
                  <a:srgbClr val="04182D"/>
                </a:solidFill>
                <a:latin typeface="Microsoft Sans Serif"/>
                <a:cs typeface="Microsoft Sans Serif"/>
              </a:rPr>
              <a:t>=</a:t>
            </a:r>
            <a:r>
              <a:rPr sz="1200" spc="8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2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z="1200" spc="25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12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mber</a:t>
            </a:r>
            <a:r>
              <a:rPr sz="12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of </a:t>
            </a:r>
            <a:r>
              <a:rPr sz="1200" dirty="0">
                <a:solidFill>
                  <a:srgbClr val="04182D"/>
                </a:solidFill>
                <a:latin typeface="Lucida Sans Unicode"/>
                <a:cs typeface="Lucida Sans Unicode"/>
              </a:rPr>
              <a:t>ordinar</a:t>
            </a:r>
            <a:r>
              <a:rPr sz="1200" dirty="0">
                <a:solidFill>
                  <a:srgbClr val="04182D"/>
                </a:solidFill>
                <a:latin typeface="Microsoft Sans Serif"/>
                <a:cs typeface="Microsoft Sans Serif"/>
              </a:rPr>
              <a:t>y</a:t>
            </a:r>
            <a:r>
              <a:rPr sz="1200" spc="8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200" spc="30" dirty="0">
                <a:solidFill>
                  <a:srgbClr val="04182D"/>
                </a:solidFill>
                <a:latin typeface="Lucida Sans Unicode"/>
                <a:cs typeface="Lucida Sans Unicode"/>
              </a:rPr>
              <a:t>AR</a:t>
            </a:r>
            <a:r>
              <a:rPr sz="12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04182D"/>
                </a:solidFill>
                <a:latin typeface="Lucida Sans Unicode"/>
                <a:cs typeface="Lucida Sans Unicode"/>
              </a:rPr>
              <a:t>lags</a:t>
            </a:r>
            <a:r>
              <a:rPr sz="1200" spc="-10" dirty="0">
                <a:solidFill>
                  <a:srgbClr val="04182D"/>
                </a:solidFill>
                <a:latin typeface="Microsoft Sans Serif"/>
                <a:cs typeface="Microsoft Sans Serif"/>
              </a:rPr>
              <a:t>:</a:t>
            </a:r>
            <a:r>
              <a:rPr sz="1200" spc="21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200" i="1" spc="55" dirty="0">
                <a:solidFill>
                  <a:srgbClr val="04182D"/>
                </a:solidFill>
                <a:latin typeface="Arial"/>
                <a:cs typeface="Arial"/>
              </a:rPr>
              <a:t>y</a:t>
            </a:r>
            <a:r>
              <a:rPr sz="1200" i="1" spc="82" baseline="-12919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sz="1200" spc="82" baseline="-12919" dirty="0">
                <a:solidFill>
                  <a:srgbClr val="04182D"/>
                </a:solidFill>
                <a:latin typeface="Tahoma"/>
                <a:cs typeface="Tahoma"/>
              </a:rPr>
              <a:t>−1</a:t>
            </a:r>
            <a:r>
              <a:rPr sz="1200" spc="55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1200" spc="-4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1200" i="1" spc="55" dirty="0">
                <a:solidFill>
                  <a:srgbClr val="04182D"/>
                </a:solidFill>
                <a:latin typeface="Arial"/>
                <a:cs typeface="Arial"/>
              </a:rPr>
              <a:t>y</a:t>
            </a:r>
            <a:r>
              <a:rPr sz="1200" i="1" spc="82" baseline="-12919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sz="1200" spc="82" baseline="-12919" dirty="0">
                <a:solidFill>
                  <a:srgbClr val="04182D"/>
                </a:solidFill>
                <a:latin typeface="Tahoma"/>
                <a:cs typeface="Tahoma"/>
              </a:rPr>
              <a:t>−2</a:t>
            </a:r>
            <a:r>
              <a:rPr sz="1200" spc="55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1200" spc="-4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1200" spc="-75" dirty="0">
                <a:solidFill>
                  <a:srgbClr val="04182D"/>
                </a:solidFill>
                <a:latin typeface="Tahoma"/>
                <a:cs typeface="Tahoma"/>
              </a:rPr>
              <a:t>...,</a:t>
            </a:r>
            <a:r>
              <a:rPr sz="1200" spc="-4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1200" i="1" spc="45" dirty="0">
                <a:solidFill>
                  <a:srgbClr val="04182D"/>
                </a:solidFill>
                <a:latin typeface="Arial"/>
                <a:cs typeface="Arial"/>
              </a:rPr>
              <a:t>y</a:t>
            </a:r>
            <a:r>
              <a:rPr sz="1200" i="1" spc="67" baseline="-12919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sz="1200" spc="67" baseline="-12919" dirty="0">
                <a:solidFill>
                  <a:srgbClr val="04182D"/>
                </a:solidFill>
                <a:latin typeface="Tahoma"/>
                <a:cs typeface="Tahoma"/>
              </a:rPr>
              <a:t>−</a:t>
            </a:r>
            <a:r>
              <a:rPr sz="1200" i="1" spc="67" baseline="-12919" dirty="0">
                <a:solidFill>
                  <a:srgbClr val="04182D"/>
                </a:solidFill>
                <a:latin typeface="Arial"/>
                <a:cs typeface="Arial"/>
              </a:rPr>
              <a:t>p </a:t>
            </a:r>
            <a:r>
              <a:rPr sz="1200" i="1" spc="-885" baseline="-12919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endParaRPr lang="en-US" sz="1200" i="1" spc="-885" baseline="-12919" dirty="0" smtClean="0">
              <a:solidFill>
                <a:srgbClr val="04182D"/>
              </a:solidFill>
              <a:latin typeface="Arial"/>
              <a:cs typeface="Arial"/>
            </a:endParaRPr>
          </a:p>
          <a:p>
            <a:pPr marL="209550" marR="30480" indent="-171450" algn="just">
              <a:lnSpc>
                <a:spcPct val="200000"/>
              </a:lnSpc>
              <a:spcBef>
                <a:spcPts val="330"/>
              </a:spcBef>
              <a:buFont typeface="Arial" panose="020B0604020202020204" pitchFamily="34" charset="0"/>
              <a:buChar char="•"/>
            </a:pPr>
            <a:r>
              <a:rPr sz="1200" spc="-5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q</a:t>
            </a:r>
            <a:r>
              <a:rPr sz="1200" spc="-45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200" spc="10" dirty="0">
                <a:solidFill>
                  <a:srgbClr val="04182D"/>
                </a:solidFill>
                <a:latin typeface="Microsoft Sans Serif"/>
                <a:cs typeface="Microsoft Sans Serif"/>
              </a:rPr>
              <a:t>=</a:t>
            </a:r>
            <a:r>
              <a:rPr sz="1200" spc="8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200" spc="90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z="1200" spc="110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12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m</a:t>
            </a:r>
            <a:r>
              <a:rPr sz="1200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b</a:t>
            </a:r>
            <a:r>
              <a:rPr sz="1200" spc="60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sz="1200" spc="-80" dirty="0">
                <a:solidFill>
                  <a:srgbClr val="04182D"/>
                </a:solidFill>
                <a:latin typeface="Lucida Sans Unicode"/>
                <a:cs typeface="Lucida Sans Unicode"/>
              </a:rPr>
              <a:t>r</a:t>
            </a:r>
            <a:r>
              <a:rPr sz="12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04182D"/>
                </a:solidFill>
                <a:latin typeface="Lucida Sans Unicode"/>
                <a:cs typeface="Lucida Sans Unicode"/>
              </a:rPr>
              <a:t>o</a:t>
            </a:r>
            <a:r>
              <a:rPr sz="1200" spc="-75" dirty="0">
                <a:solidFill>
                  <a:srgbClr val="04182D"/>
                </a:solidFill>
                <a:latin typeface="Lucida Sans Unicode"/>
                <a:cs typeface="Lucida Sans Unicode"/>
              </a:rPr>
              <a:t>f</a:t>
            </a:r>
            <a:r>
              <a:rPr sz="12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o</a:t>
            </a:r>
            <a:r>
              <a:rPr sz="1200" spc="-145" dirty="0">
                <a:solidFill>
                  <a:srgbClr val="04182D"/>
                </a:solidFill>
                <a:latin typeface="Lucida Sans Unicode"/>
                <a:cs typeface="Lucida Sans Unicode"/>
              </a:rPr>
              <a:t>r</a:t>
            </a:r>
            <a:r>
              <a:rPr sz="1200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d</a:t>
            </a:r>
            <a:r>
              <a:rPr sz="1200" spc="-65" dirty="0">
                <a:solidFill>
                  <a:srgbClr val="04182D"/>
                </a:solidFill>
                <a:latin typeface="Lucida Sans Unicode"/>
                <a:cs typeface="Lucida Sans Unicode"/>
              </a:rPr>
              <a:t>i</a:t>
            </a:r>
            <a:r>
              <a:rPr sz="1200" spc="-60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z="1200"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z="1200" spc="-80" dirty="0">
                <a:solidFill>
                  <a:srgbClr val="04182D"/>
                </a:solidFill>
                <a:latin typeface="Lucida Sans Unicode"/>
                <a:cs typeface="Lucida Sans Unicode"/>
              </a:rPr>
              <a:t>r</a:t>
            </a:r>
            <a:r>
              <a:rPr sz="1200" spc="210" dirty="0">
                <a:solidFill>
                  <a:srgbClr val="04182D"/>
                </a:solidFill>
                <a:latin typeface="Microsoft Sans Serif"/>
                <a:cs typeface="Microsoft Sans Serif"/>
              </a:rPr>
              <a:t>y</a:t>
            </a:r>
            <a:r>
              <a:rPr sz="1200" spc="8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200" spc="185" dirty="0">
                <a:solidFill>
                  <a:srgbClr val="04182D"/>
                </a:solidFill>
                <a:latin typeface="Lucida Sans Unicode"/>
                <a:cs typeface="Lucida Sans Unicode"/>
              </a:rPr>
              <a:t>M</a:t>
            </a:r>
            <a:r>
              <a:rPr sz="1200" spc="60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z="12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200" spc="-120" dirty="0">
                <a:solidFill>
                  <a:srgbClr val="04182D"/>
                </a:solidFill>
                <a:latin typeface="Lucida Sans Unicode"/>
                <a:cs typeface="Lucida Sans Unicode"/>
              </a:rPr>
              <a:t>l</a:t>
            </a:r>
            <a:r>
              <a:rPr sz="1200"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z="1200" spc="45" dirty="0">
                <a:solidFill>
                  <a:srgbClr val="04182D"/>
                </a:solidFill>
                <a:latin typeface="Lucida Sans Unicode"/>
                <a:cs typeface="Lucida Sans Unicode"/>
              </a:rPr>
              <a:t>g</a:t>
            </a:r>
            <a:r>
              <a:rPr sz="1200" spc="-114" dirty="0">
                <a:solidFill>
                  <a:srgbClr val="04182D"/>
                </a:solidFill>
                <a:latin typeface="Lucida Sans Unicode"/>
                <a:cs typeface="Lucida Sans Unicode"/>
              </a:rPr>
              <a:t>s</a:t>
            </a:r>
            <a:r>
              <a:rPr sz="1200" spc="-55" dirty="0">
                <a:solidFill>
                  <a:srgbClr val="04182D"/>
                </a:solidFill>
                <a:latin typeface="Microsoft Sans Serif"/>
                <a:cs typeface="Microsoft Sans Serif"/>
              </a:rPr>
              <a:t>:</a:t>
            </a:r>
            <a:r>
              <a:rPr sz="1200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200" spc="200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200" i="1" spc="-105" dirty="0">
                <a:solidFill>
                  <a:srgbClr val="04182D"/>
                </a:solidFill>
                <a:latin typeface="Arial"/>
                <a:cs typeface="Arial"/>
              </a:rPr>
              <a:t>ϵ</a:t>
            </a:r>
            <a:r>
              <a:rPr sz="1200" i="1" spc="277" baseline="-12919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sz="1200" spc="195" baseline="-12919" dirty="0">
                <a:solidFill>
                  <a:srgbClr val="04182D"/>
                </a:solidFill>
                <a:latin typeface="Tahoma"/>
                <a:cs typeface="Tahoma"/>
              </a:rPr>
              <a:t>−</a:t>
            </a:r>
            <a:r>
              <a:rPr sz="1200" spc="104" baseline="-12919" dirty="0">
                <a:solidFill>
                  <a:srgbClr val="04182D"/>
                </a:solidFill>
                <a:latin typeface="Tahoma"/>
                <a:cs typeface="Tahoma"/>
              </a:rPr>
              <a:t>1</a:t>
            </a:r>
            <a:r>
              <a:rPr sz="1200" spc="-75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1200" spc="-4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1200" i="1" spc="-105" dirty="0">
                <a:solidFill>
                  <a:srgbClr val="04182D"/>
                </a:solidFill>
                <a:latin typeface="Arial"/>
                <a:cs typeface="Arial"/>
              </a:rPr>
              <a:t>ϵ</a:t>
            </a:r>
            <a:r>
              <a:rPr sz="1200" i="1" spc="277" baseline="-12919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sz="1200" spc="195" baseline="-12919" dirty="0">
                <a:solidFill>
                  <a:srgbClr val="04182D"/>
                </a:solidFill>
                <a:latin typeface="Tahoma"/>
                <a:cs typeface="Tahoma"/>
              </a:rPr>
              <a:t>−</a:t>
            </a:r>
            <a:r>
              <a:rPr sz="1200" spc="104" baseline="-12919" dirty="0">
                <a:solidFill>
                  <a:srgbClr val="04182D"/>
                </a:solidFill>
                <a:latin typeface="Tahoma"/>
                <a:cs typeface="Tahoma"/>
              </a:rPr>
              <a:t>2</a:t>
            </a:r>
            <a:r>
              <a:rPr sz="1200" spc="-75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1200" spc="-4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1200" spc="-80" dirty="0">
                <a:solidFill>
                  <a:srgbClr val="04182D"/>
                </a:solidFill>
                <a:latin typeface="Tahoma"/>
                <a:cs typeface="Tahoma"/>
              </a:rPr>
              <a:t>...</a:t>
            </a:r>
            <a:r>
              <a:rPr sz="1200" spc="-75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1200" spc="-4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1200" i="1" spc="-105" dirty="0">
                <a:solidFill>
                  <a:srgbClr val="04182D"/>
                </a:solidFill>
                <a:latin typeface="Arial"/>
                <a:cs typeface="Arial"/>
              </a:rPr>
              <a:t>ϵ</a:t>
            </a:r>
            <a:r>
              <a:rPr sz="1200" i="1" spc="277" baseline="-12919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sz="1200" spc="195" baseline="-12919" dirty="0">
                <a:solidFill>
                  <a:srgbClr val="04182D"/>
                </a:solidFill>
                <a:latin typeface="Tahoma"/>
                <a:cs typeface="Tahoma"/>
              </a:rPr>
              <a:t>−</a:t>
            </a:r>
            <a:r>
              <a:rPr sz="1200" i="1" spc="-225" baseline="-12919" dirty="0">
                <a:solidFill>
                  <a:srgbClr val="04182D"/>
                </a:solidFill>
                <a:latin typeface="Arial"/>
                <a:cs typeface="Arial"/>
              </a:rPr>
              <a:t>q  </a:t>
            </a:r>
            <a:endParaRPr lang="en-US" sz="1200" i="1" spc="-225" baseline="-12919" dirty="0" smtClean="0">
              <a:solidFill>
                <a:srgbClr val="04182D"/>
              </a:solidFill>
              <a:latin typeface="Arial"/>
              <a:cs typeface="Arial"/>
            </a:endParaRPr>
          </a:p>
          <a:p>
            <a:pPr marL="209550" marR="30480" indent="-171450" algn="just">
              <a:lnSpc>
                <a:spcPct val="200000"/>
              </a:lnSpc>
              <a:spcBef>
                <a:spcPts val="330"/>
              </a:spcBef>
              <a:buFont typeface="Arial" panose="020B0604020202020204" pitchFamily="34" charset="0"/>
              <a:buChar char="•"/>
            </a:pPr>
            <a:r>
              <a:rPr sz="1200" spc="45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D</a:t>
            </a:r>
            <a:r>
              <a:rPr sz="1200" spc="-50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200" spc="10" dirty="0">
                <a:solidFill>
                  <a:srgbClr val="04182D"/>
                </a:solidFill>
                <a:latin typeface="Microsoft Sans Serif"/>
                <a:cs typeface="Microsoft Sans Serif"/>
              </a:rPr>
              <a:t>=</a:t>
            </a:r>
            <a:r>
              <a:rPr sz="1200" spc="8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2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z="1200" spc="25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12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mber</a:t>
            </a:r>
            <a:r>
              <a:rPr sz="12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of</a:t>
            </a:r>
            <a:r>
              <a:rPr sz="12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200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seasonal</a:t>
            </a:r>
            <a:r>
              <a:rPr sz="12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200" spc="-30" dirty="0">
                <a:solidFill>
                  <a:srgbClr val="04182D"/>
                </a:solidFill>
                <a:latin typeface="Lucida Sans Unicode"/>
                <a:cs typeface="Lucida Sans Unicode"/>
              </a:rPr>
              <a:t>di</a:t>
            </a:r>
            <a:r>
              <a:rPr sz="1200" spc="12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200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erences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9" name="object 10"/>
          <p:cNvSpPr txBox="1"/>
          <p:nvPr/>
        </p:nvSpPr>
        <p:spPr>
          <a:xfrm>
            <a:off x="364456" y="3696195"/>
            <a:ext cx="5003165" cy="20069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sz="1200" spc="190" dirty="0">
                <a:solidFill>
                  <a:srgbClr val="04182D"/>
                </a:solidFill>
                <a:latin typeface="Lucida Sans Unicode"/>
                <a:cs typeface="Lucida Sans Unicode"/>
              </a:rPr>
              <a:t>P</a:t>
            </a:r>
            <a:r>
              <a:rPr sz="1200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200" spc="10" dirty="0">
                <a:solidFill>
                  <a:srgbClr val="04182D"/>
                </a:solidFill>
                <a:latin typeface="Microsoft Sans Serif"/>
                <a:cs typeface="Microsoft Sans Serif"/>
              </a:rPr>
              <a:t>=</a:t>
            </a:r>
            <a:r>
              <a:rPr sz="1200" spc="80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2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z="1200" spc="25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12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mber</a:t>
            </a:r>
            <a:r>
              <a:rPr sz="1200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2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of</a:t>
            </a:r>
            <a:r>
              <a:rPr sz="12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200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seasonal</a:t>
            </a:r>
            <a:r>
              <a:rPr sz="1200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200" spc="30" dirty="0">
                <a:solidFill>
                  <a:srgbClr val="04182D"/>
                </a:solidFill>
                <a:latin typeface="Lucida Sans Unicode"/>
                <a:cs typeface="Lucida Sans Unicode"/>
              </a:rPr>
              <a:t>AR</a:t>
            </a:r>
            <a:r>
              <a:rPr sz="12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04182D"/>
                </a:solidFill>
                <a:latin typeface="Lucida Sans Unicode"/>
                <a:cs typeface="Lucida Sans Unicode"/>
              </a:rPr>
              <a:t>lags</a:t>
            </a:r>
            <a:r>
              <a:rPr sz="1200" spc="-10" dirty="0">
                <a:solidFill>
                  <a:srgbClr val="04182D"/>
                </a:solidFill>
                <a:latin typeface="Microsoft Sans Serif"/>
                <a:cs typeface="Microsoft Sans Serif"/>
              </a:rPr>
              <a:t>:</a:t>
            </a:r>
            <a:endParaRPr sz="1200" dirty="0">
              <a:latin typeface="Microsoft Sans Serif"/>
              <a:cs typeface="Microsoft Sans Serif"/>
            </a:endParaRPr>
          </a:p>
        </p:txBody>
      </p:sp>
      <p:sp>
        <p:nvSpPr>
          <p:cNvPr id="10" name="object 13"/>
          <p:cNvSpPr txBox="1"/>
          <p:nvPr/>
        </p:nvSpPr>
        <p:spPr>
          <a:xfrm>
            <a:off x="323816" y="4050164"/>
            <a:ext cx="8736965" cy="64120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09550" indent="-171450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sz="1200"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Q</a:t>
            </a:r>
            <a:r>
              <a:rPr sz="12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200" spc="10" dirty="0">
                <a:solidFill>
                  <a:srgbClr val="04182D"/>
                </a:solidFill>
                <a:latin typeface="Microsoft Sans Serif"/>
                <a:cs typeface="Microsoft Sans Serif"/>
              </a:rPr>
              <a:t>=</a:t>
            </a:r>
            <a:r>
              <a:rPr sz="1200" spc="8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200" spc="90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z="1200" spc="110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12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m</a:t>
            </a:r>
            <a:r>
              <a:rPr sz="1200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b</a:t>
            </a:r>
            <a:r>
              <a:rPr sz="1200" spc="60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sz="1200" spc="-80" dirty="0">
                <a:solidFill>
                  <a:srgbClr val="04182D"/>
                </a:solidFill>
                <a:latin typeface="Lucida Sans Unicode"/>
                <a:cs typeface="Lucida Sans Unicode"/>
              </a:rPr>
              <a:t>r</a:t>
            </a:r>
            <a:r>
              <a:rPr sz="12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04182D"/>
                </a:solidFill>
                <a:latin typeface="Lucida Sans Unicode"/>
                <a:cs typeface="Lucida Sans Unicode"/>
              </a:rPr>
              <a:t>o</a:t>
            </a:r>
            <a:r>
              <a:rPr sz="1200" spc="-75" dirty="0">
                <a:solidFill>
                  <a:srgbClr val="04182D"/>
                </a:solidFill>
                <a:latin typeface="Lucida Sans Unicode"/>
                <a:cs typeface="Lucida Sans Unicode"/>
              </a:rPr>
              <a:t>f</a:t>
            </a:r>
            <a:r>
              <a:rPr sz="12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200" spc="-114" dirty="0">
                <a:solidFill>
                  <a:srgbClr val="04182D"/>
                </a:solidFill>
                <a:latin typeface="Lucida Sans Unicode"/>
                <a:cs typeface="Lucida Sans Unicode"/>
              </a:rPr>
              <a:t>s</a:t>
            </a:r>
            <a:r>
              <a:rPr sz="1200" spc="90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sz="1200"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z="1200" spc="-114" dirty="0">
                <a:solidFill>
                  <a:srgbClr val="04182D"/>
                </a:solidFill>
                <a:latin typeface="Lucida Sans Unicode"/>
                <a:cs typeface="Lucida Sans Unicode"/>
              </a:rPr>
              <a:t>s</a:t>
            </a:r>
            <a:r>
              <a:rPr sz="12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o</a:t>
            </a:r>
            <a:r>
              <a:rPr sz="1200" spc="-60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z="1200"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z="1200" spc="-95" dirty="0">
                <a:solidFill>
                  <a:srgbClr val="04182D"/>
                </a:solidFill>
                <a:latin typeface="Lucida Sans Unicode"/>
                <a:cs typeface="Lucida Sans Unicode"/>
              </a:rPr>
              <a:t>l</a:t>
            </a:r>
            <a:r>
              <a:rPr sz="12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200" spc="185" dirty="0">
                <a:solidFill>
                  <a:srgbClr val="04182D"/>
                </a:solidFill>
                <a:latin typeface="Lucida Sans Unicode"/>
                <a:cs typeface="Lucida Sans Unicode"/>
              </a:rPr>
              <a:t>M</a:t>
            </a:r>
            <a:r>
              <a:rPr sz="1200" spc="60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z="12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200" spc="-120" dirty="0">
                <a:solidFill>
                  <a:srgbClr val="04182D"/>
                </a:solidFill>
                <a:latin typeface="Lucida Sans Unicode"/>
                <a:cs typeface="Lucida Sans Unicode"/>
              </a:rPr>
              <a:t>l</a:t>
            </a:r>
            <a:r>
              <a:rPr sz="1200"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z="1200" spc="45" dirty="0">
                <a:solidFill>
                  <a:srgbClr val="04182D"/>
                </a:solidFill>
                <a:latin typeface="Lucida Sans Unicode"/>
                <a:cs typeface="Lucida Sans Unicode"/>
              </a:rPr>
              <a:t>g</a:t>
            </a:r>
            <a:r>
              <a:rPr sz="1200" spc="-114" dirty="0">
                <a:solidFill>
                  <a:srgbClr val="04182D"/>
                </a:solidFill>
                <a:latin typeface="Lucida Sans Unicode"/>
                <a:cs typeface="Lucida Sans Unicode"/>
              </a:rPr>
              <a:t>s</a:t>
            </a:r>
            <a:r>
              <a:rPr sz="1200" spc="-55" dirty="0">
                <a:solidFill>
                  <a:srgbClr val="04182D"/>
                </a:solidFill>
                <a:latin typeface="Microsoft Sans Serif"/>
                <a:cs typeface="Microsoft Sans Serif"/>
              </a:rPr>
              <a:t>:</a:t>
            </a:r>
            <a:r>
              <a:rPr sz="1200" spc="114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200" i="1" spc="-105" dirty="0">
                <a:solidFill>
                  <a:srgbClr val="04182D"/>
                </a:solidFill>
                <a:latin typeface="Arial"/>
                <a:cs typeface="Arial"/>
              </a:rPr>
              <a:t>ϵ</a:t>
            </a:r>
            <a:r>
              <a:rPr sz="1200" i="1" spc="277" baseline="-12919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sz="1200" spc="195" baseline="-12919" dirty="0">
                <a:solidFill>
                  <a:srgbClr val="04182D"/>
                </a:solidFill>
                <a:latin typeface="Tahoma"/>
                <a:cs typeface="Tahoma"/>
              </a:rPr>
              <a:t>−</a:t>
            </a:r>
            <a:r>
              <a:rPr sz="1200" i="1" spc="427" baseline="-12919" dirty="0">
                <a:solidFill>
                  <a:srgbClr val="04182D"/>
                </a:solidFill>
                <a:latin typeface="Arial"/>
                <a:cs typeface="Arial"/>
              </a:rPr>
              <a:t>m</a:t>
            </a:r>
            <a:r>
              <a:rPr sz="1200" spc="-75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1200" spc="-4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1200" i="1" spc="-105" dirty="0">
                <a:solidFill>
                  <a:srgbClr val="04182D"/>
                </a:solidFill>
                <a:latin typeface="Arial"/>
                <a:cs typeface="Arial"/>
              </a:rPr>
              <a:t>ϵ</a:t>
            </a:r>
            <a:r>
              <a:rPr sz="1200" i="1" spc="277" baseline="-12919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sz="1200" spc="195" baseline="-12919" dirty="0">
                <a:solidFill>
                  <a:srgbClr val="04182D"/>
                </a:solidFill>
                <a:latin typeface="Tahoma"/>
                <a:cs typeface="Tahoma"/>
              </a:rPr>
              <a:t>−</a:t>
            </a:r>
            <a:r>
              <a:rPr sz="1200" spc="-135" baseline="-12919" dirty="0">
                <a:solidFill>
                  <a:srgbClr val="04182D"/>
                </a:solidFill>
                <a:latin typeface="Tahoma"/>
                <a:cs typeface="Tahoma"/>
              </a:rPr>
              <a:t>2</a:t>
            </a:r>
            <a:r>
              <a:rPr sz="1200" i="1" spc="427" baseline="-12919" dirty="0">
                <a:solidFill>
                  <a:srgbClr val="04182D"/>
                </a:solidFill>
                <a:latin typeface="Arial"/>
                <a:cs typeface="Arial"/>
              </a:rPr>
              <a:t>m</a:t>
            </a:r>
            <a:r>
              <a:rPr sz="1200" spc="-75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1200" spc="-4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1200" spc="-80" dirty="0">
                <a:solidFill>
                  <a:srgbClr val="04182D"/>
                </a:solidFill>
                <a:latin typeface="Tahoma"/>
                <a:cs typeface="Tahoma"/>
              </a:rPr>
              <a:t>...</a:t>
            </a:r>
            <a:r>
              <a:rPr sz="1200" spc="-75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1200" spc="-4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1200" i="1" spc="-105" dirty="0">
                <a:solidFill>
                  <a:srgbClr val="04182D"/>
                </a:solidFill>
                <a:latin typeface="Arial"/>
                <a:cs typeface="Arial"/>
              </a:rPr>
              <a:t>ϵ</a:t>
            </a:r>
            <a:r>
              <a:rPr sz="1200" i="1" spc="277" baseline="-12919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sz="1200" spc="195" baseline="-12919" dirty="0">
                <a:solidFill>
                  <a:srgbClr val="04182D"/>
                </a:solidFill>
                <a:latin typeface="Tahoma"/>
                <a:cs typeface="Tahoma"/>
              </a:rPr>
              <a:t>−</a:t>
            </a:r>
            <a:r>
              <a:rPr sz="1200" i="1" spc="75" baseline="-12919" dirty="0">
                <a:solidFill>
                  <a:srgbClr val="04182D"/>
                </a:solidFill>
                <a:latin typeface="Arial"/>
                <a:cs typeface="Arial"/>
              </a:rPr>
              <a:t>Q</a:t>
            </a:r>
            <a:r>
              <a:rPr sz="1200" i="1" spc="187" baseline="-12919" dirty="0">
                <a:solidFill>
                  <a:srgbClr val="04182D"/>
                </a:solidFill>
                <a:latin typeface="Arial"/>
                <a:cs typeface="Arial"/>
              </a:rPr>
              <a:t>m</a:t>
            </a:r>
            <a:endParaRPr sz="1200" baseline="-12919" dirty="0">
              <a:latin typeface="Arial"/>
              <a:cs typeface="Arial"/>
            </a:endParaRPr>
          </a:p>
          <a:p>
            <a:pPr marL="209550" indent="-171450">
              <a:lnSpc>
                <a:spcPct val="100000"/>
              </a:lnSpc>
              <a:spcBef>
                <a:spcPts val="2035"/>
              </a:spcBef>
              <a:buFont typeface="Arial" panose="020B0604020202020204" pitchFamily="34" charset="0"/>
              <a:buChar char="•"/>
            </a:pPr>
            <a:r>
              <a:rPr sz="1200"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m</a:t>
            </a:r>
            <a:r>
              <a:rPr sz="12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200" spc="10" dirty="0">
                <a:solidFill>
                  <a:srgbClr val="04182D"/>
                </a:solidFill>
                <a:latin typeface="Microsoft Sans Serif"/>
                <a:cs typeface="Microsoft Sans Serif"/>
              </a:rPr>
              <a:t>=</a:t>
            </a:r>
            <a:r>
              <a:rPr sz="1200" spc="8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2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z="1200" spc="25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12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mber</a:t>
            </a:r>
            <a:r>
              <a:rPr sz="12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2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of </a:t>
            </a:r>
            <a:r>
              <a:rPr sz="1200" spc="-15" dirty="0">
                <a:solidFill>
                  <a:srgbClr val="04182D"/>
                </a:solidFill>
                <a:latin typeface="Lucida Sans Unicode"/>
                <a:cs typeface="Lucida Sans Unicode"/>
              </a:rPr>
              <a:t>obser</a:t>
            </a:r>
            <a:r>
              <a:rPr sz="1200" spc="-15" dirty="0">
                <a:solidFill>
                  <a:srgbClr val="04182D"/>
                </a:solidFill>
                <a:latin typeface="Microsoft Sans Serif"/>
                <a:cs typeface="Microsoft Sans Serif"/>
              </a:rPr>
              <a:t>v</a:t>
            </a:r>
            <a:r>
              <a:rPr sz="1200" spc="-15" dirty="0">
                <a:solidFill>
                  <a:srgbClr val="04182D"/>
                </a:solidFill>
                <a:latin typeface="Lucida Sans Unicode"/>
                <a:cs typeface="Lucida Sans Unicode"/>
              </a:rPr>
              <a:t>ations</a:t>
            </a:r>
            <a:r>
              <a:rPr sz="12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04182D"/>
                </a:solidFill>
                <a:latin typeface="Lucida Sans Unicode"/>
                <a:cs typeface="Lucida Sans Unicode"/>
              </a:rPr>
              <a:t>per</a:t>
            </a:r>
            <a:r>
              <a:rPr sz="12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200" spc="100" dirty="0">
                <a:solidFill>
                  <a:srgbClr val="04182D"/>
                </a:solidFill>
                <a:latin typeface="Microsoft Sans Serif"/>
                <a:cs typeface="Microsoft Sans Serif"/>
              </a:rPr>
              <a:t>y</a:t>
            </a:r>
            <a:r>
              <a:rPr sz="1200" spc="100" dirty="0">
                <a:solidFill>
                  <a:srgbClr val="04182D"/>
                </a:solidFill>
                <a:latin typeface="Lucida Sans Unicode"/>
                <a:cs typeface="Lucida Sans Unicode"/>
              </a:rPr>
              <a:t>ear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13" name="object 11"/>
          <p:cNvSpPr txBox="1"/>
          <p:nvPr/>
        </p:nvSpPr>
        <p:spPr>
          <a:xfrm>
            <a:off x="2866038" y="3696528"/>
            <a:ext cx="3589020" cy="18466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100" i="1" spc="-44" baseline="8960" dirty="0">
                <a:solidFill>
                  <a:srgbClr val="04182D"/>
                </a:solidFill>
                <a:latin typeface="Arial"/>
                <a:cs typeface="Arial"/>
              </a:rPr>
              <a:t>y</a:t>
            </a:r>
            <a:r>
              <a:rPr sz="1100" i="1" spc="185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sz="1100" spc="130" dirty="0">
                <a:solidFill>
                  <a:srgbClr val="04182D"/>
                </a:solidFill>
                <a:latin typeface="Tahoma"/>
                <a:cs typeface="Tahoma"/>
              </a:rPr>
              <a:t>−</a:t>
            </a:r>
            <a:r>
              <a:rPr sz="1100" i="1" spc="285" dirty="0">
                <a:solidFill>
                  <a:srgbClr val="04182D"/>
                </a:solidFill>
                <a:latin typeface="Arial"/>
                <a:cs typeface="Arial"/>
              </a:rPr>
              <a:t>m</a:t>
            </a:r>
            <a:r>
              <a:rPr sz="1100" spc="-112" baseline="8960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1100" spc="-682" baseline="89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1100" i="1" spc="-44" baseline="8960" dirty="0">
                <a:solidFill>
                  <a:srgbClr val="04182D"/>
                </a:solidFill>
                <a:latin typeface="Arial"/>
                <a:cs typeface="Arial"/>
              </a:rPr>
              <a:t>y</a:t>
            </a:r>
            <a:r>
              <a:rPr sz="1100" i="1" spc="185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sz="1100" spc="130" dirty="0">
                <a:solidFill>
                  <a:srgbClr val="04182D"/>
                </a:solidFill>
                <a:latin typeface="Tahoma"/>
                <a:cs typeface="Tahoma"/>
              </a:rPr>
              <a:t>−</a:t>
            </a:r>
            <a:r>
              <a:rPr sz="1100" spc="-90" dirty="0">
                <a:solidFill>
                  <a:srgbClr val="04182D"/>
                </a:solidFill>
                <a:latin typeface="Tahoma"/>
                <a:cs typeface="Tahoma"/>
              </a:rPr>
              <a:t>2</a:t>
            </a:r>
            <a:r>
              <a:rPr sz="1100" i="1" spc="285" dirty="0">
                <a:solidFill>
                  <a:srgbClr val="04182D"/>
                </a:solidFill>
                <a:latin typeface="Arial"/>
                <a:cs typeface="Arial"/>
              </a:rPr>
              <a:t>m</a:t>
            </a:r>
            <a:r>
              <a:rPr sz="1100" spc="-112" baseline="8960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1100" spc="-682" baseline="89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1100" spc="-120" baseline="8960" dirty="0">
                <a:solidFill>
                  <a:srgbClr val="04182D"/>
                </a:solidFill>
                <a:latin typeface="Tahoma"/>
                <a:cs typeface="Tahoma"/>
              </a:rPr>
              <a:t>...</a:t>
            </a:r>
            <a:r>
              <a:rPr sz="1100" spc="-112" baseline="8960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1100" spc="-682" baseline="89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1100" i="1" spc="-44" baseline="8960" dirty="0">
                <a:solidFill>
                  <a:srgbClr val="04182D"/>
                </a:solidFill>
                <a:latin typeface="Arial"/>
                <a:cs typeface="Arial"/>
              </a:rPr>
              <a:t>y</a:t>
            </a:r>
            <a:r>
              <a:rPr sz="1100" i="1" spc="185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sz="1100" spc="130" dirty="0">
                <a:solidFill>
                  <a:srgbClr val="04182D"/>
                </a:solidFill>
                <a:latin typeface="Tahoma"/>
                <a:cs typeface="Tahoma"/>
              </a:rPr>
              <a:t>−</a:t>
            </a:r>
            <a:r>
              <a:rPr sz="1100" i="1" spc="265" dirty="0">
                <a:solidFill>
                  <a:srgbClr val="04182D"/>
                </a:solidFill>
                <a:latin typeface="Arial"/>
                <a:cs typeface="Arial"/>
              </a:rPr>
              <a:t>P</a:t>
            </a:r>
            <a:r>
              <a:rPr sz="1100" i="1" spc="125" dirty="0">
                <a:solidFill>
                  <a:srgbClr val="04182D"/>
                </a:solidFill>
                <a:latin typeface="Arial"/>
                <a:cs typeface="Arial"/>
              </a:rPr>
              <a:t>m</a:t>
            </a:r>
            <a:endParaRPr sz="11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03152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1A58-12D5-4546-995B-9323A3D8C075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923453" y="4844639"/>
            <a:ext cx="2133600" cy="186148"/>
          </a:xfrm>
        </p:spPr>
        <p:txBody>
          <a:bodyPr/>
          <a:lstStyle/>
          <a:p>
            <a:fld id="{42782948-4DBE-204D-AB9E-B65E067054AE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123906"/>
            <a:ext cx="7772400" cy="400110"/>
          </a:xfrm>
        </p:spPr>
        <p:txBody>
          <a:bodyPr/>
          <a:lstStyle/>
          <a:p>
            <a:r>
              <a:rPr lang="en-US" sz="2000" dirty="0" smtClean="0"/>
              <a:t>E</a:t>
            </a:r>
            <a:r>
              <a:rPr lang="en-US" sz="2000" dirty="0" smtClean="0">
                <a:latin typeface="Microsoft Sans Serif"/>
                <a:cs typeface="Microsoft Sans Serif"/>
              </a:rPr>
              <a:t>X</a:t>
            </a:r>
            <a:r>
              <a:rPr lang="en-US" sz="2000" dirty="0" smtClean="0"/>
              <a:t>AMPLE</a:t>
            </a:r>
            <a:r>
              <a:rPr lang="en-US" sz="2000" dirty="0" smtClean="0">
                <a:latin typeface="Microsoft Sans Serif"/>
                <a:cs typeface="Microsoft Sans Serif"/>
              </a:rPr>
              <a:t>: </a:t>
            </a:r>
            <a:r>
              <a:rPr lang="en-US" sz="2000" dirty="0" smtClean="0"/>
              <a:t>MONTHL</a:t>
            </a:r>
            <a:r>
              <a:rPr lang="en-US" sz="2000" dirty="0" smtClean="0">
                <a:latin typeface="Microsoft Sans Serif"/>
                <a:cs typeface="Microsoft Sans Serif"/>
              </a:rPr>
              <a:t>Y </a:t>
            </a:r>
            <a:r>
              <a:rPr lang="en-US" sz="2000" dirty="0" smtClean="0"/>
              <a:t>RETAIL DEBIT CARD </a:t>
            </a:r>
            <a:r>
              <a:rPr lang="en-US" sz="2000" dirty="0" smtClean="0">
                <a:latin typeface="Microsoft Sans Serif"/>
                <a:cs typeface="Microsoft Sans Serif"/>
              </a:rPr>
              <a:t>U</a:t>
            </a:r>
            <a:r>
              <a:rPr lang="en-US" sz="2000" dirty="0" smtClean="0"/>
              <a:t>SAGE IN  ICELAND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3" name="object 11"/>
          <p:cNvSpPr txBox="1"/>
          <p:nvPr/>
        </p:nvSpPr>
        <p:spPr>
          <a:xfrm>
            <a:off x="5993309" y="5465995"/>
            <a:ext cx="3589020" cy="5010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650" i="1" spc="-44" baseline="8960" dirty="0">
                <a:solidFill>
                  <a:srgbClr val="04182D"/>
                </a:solidFill>
                <a:latin typeface="Arial"/>
                <a:cs typeface="Arial"/>
              </a:rPr>
              <a:t>y</a:t>
            </a:r>
            <a:r>
              <a:rPr sz="2150" i="1" spc="185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sz="2150" spc="130" dirty="0">
                <a:solidFill>
                  <a:srgbClr val="04182D"/>
                </a:solidFill>
                <a:latin typeface="Tahoma"/>
                <a:cs typeface="Tahoma"/>
              </a:rPr>
              <a:t>−</a:t>
            </a:r>
            <a:r>
              <a:rPr sz="2150" i="1" spc="285" dirty="0">
                <a:solidFill>
                  <a:srgbClr val="04182D"/>
                </a:solidFill>
                <a:latin typeface="Arial"/>
                <a:cs typeface="Arial"/>
              </a:rPr>
              <a:t>m</a:t>
            </a:r>
            <a:r>
              <a:rPr sz="4650" spc="-112" baseline="8960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4650" spc="-682" baseline="89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4650" i="1" spc="-44" baseline="8960" dirty="0">
                <a:solidFill>
                  <a:srgbClr val="04182D"/>
                </a:solidFill>
                <a:latin typeface="Arial"/>
                <a:cs typeface="Arial"/>
              </a:rPr>
              <a:t>y</a:t>
            </a:r>
            <a:r>
              <a:rPr sz="2150" i="1" spc="185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sz="2150" spc="130" dirty="0">
                <a:solidFill>
                  <a:srgbClr val="04182D"/>
                </a:solidFill>
                <a:latin typeface="Tahoma"/>
                <a:cs typeface="Tahoma"/>
              </a:rPr>
              <a:t>−</a:t>
            </a:r>
            <a:r>
              <a:rPr sz="2150" spc="-90" dirty="0">
                <a:solidFill>
                  <a:srgbClr val="04182D"/>
                </a:solidFill>
                <a:latin typeface="Tahoma"/>
                <a:cs typeface="Tahoma"/>
              </a:rPr>
              <a:t>2</a:t>
            </a:r>
            <a:r>
              <a:rPr sz="2150" i="1" spc="285" dirty="0">
                <a:solidFill>
                  <a:srgbClr val="04182D"/>
                </a:solidFill>
                <a:latin typeface="Arial"/>
                <a:cs typeface="Arial"/>
              </a:rPr>
              <a:t>m</a:t>
            </a:r>
            <a:r>
              <a:rPr sz="4650" spc="-112" baseline="8960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4650" spc="-682" baseline="89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4650" spc="-120" baseline="8960" dirty="0">
                <a:solidFill>
                  <a:srgbClr val="04182D"/>
                </a:solidFill>
                <a:latin typeface="Tahoma"/>
                <a:cs typeface="Tahoma"/>
              </a:rPr>
              <a:t>...</a:t>
            </a:r>
            <a:r>
              <a:rPr sz="4650" spc="-112" baseline="8960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4650" spc="-682" baseline="89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4650" i="1" spc="-44" baseline="8960" dirty="0">
                <a:solidFill>
                  <a:srgbClr val="04182D"/>
                </a:solidFill>
                <a:latin typeface="Arial"/>
                <a:cs typeface="Arial"/>
              </a:rPr>
              <a:t>y</a:t>
            </a:r>
            <a:r>
              <a:rPr sz="2150" i="1" spc="185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sz="2150" spc="130" dirty="0">
                <a:solidFill>
                  <a:srgbClr val="04182D"/>
                </a:solidFill>
                <a:latin typeface="Tahoma"/>
                <a:cs typeface="Tahoma"/>
              </a:rPr>
              <a:t>−</a:t>
            </a:r>
            <a:r>
              <a:rPr sz="2150" i="1" spc="265" dirty="0">
                <a:solidFill>
                  <a:srgbClr val="04182D"/>
                </a:solidFill>
                <a:latin typeface="Arial"/>
                <a:cs typeface="Arial"/>
              </a:rPr>
              <a:t>P</a:t>
            </a:r>
            <a:r>
              <a:rPr sz="2150" i="1" spc="125" dirty="0">
                <a:solidFill>
                  <a:srgbClr val="04182D"/>
                </a:solidFill>
                <a:latin typeface="Arial"/>
                <a:cs typeface="Arial"/>
              </a:rPr>
              <a:t>m</a:t>
            </a:r>
            <a:endParaRPr sz="2150" dirty="0">
              <a:latin typeface="Arial"/>
              <a:cs typeface="Arial"/>
            </a:endParaRPr>
          </a:p>
        </p:txBody>
      </p:sp>
      <p:sp>
        <p:nvSpPr>
          <p:cNvPr id="14" name="object 2"/>
          <p:cNvSpPr/>
          <p:nvPr/>
        </p:nvSpPr>
        <p:spPr>
          <a:xfrm>
            <a:off x="281492" y="1524016"/>
            <a:ext cx="6915374" cy="584483"/>
          </a:xfrm>
          <a:custGeom>
            <a:avLst/>
            <a:gdLst/>
            <a:ahLst/>
            <a:cxnLst/>
            <a:rect l="l" t="t" r="r" b="b"/>
            <a:pathLst>
              <a:path w="9887585" h="1801495">
                <a:moveTo>
                  <a:pt x="9810694" y="1801394"/>
                </a:moveTo>
                <a:lnTo>
                  <a:pt x="76505" y="1801394"/>
                </a:lnTo>
                <a:lnTo>
                  <a:pt x="71180" y="1800869"/>
                </a:lnTo>
                <a:lnTo>
                  <a:pt x="31920" y="1784607"/>
                </a:lnTo>
                <a:lnTo>
                  <a:pt x="4175" y="1745879"/>
                </a:lnTo>
                <a:lnTo>
                  <a:pt x="0" y="1724889"/>
                </a:lnTo>
                <a:lnTo>
                  <a:pt x="0" y="1719512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1724889"/>
                </a:lnTo>
                <a:lnTo>
                  <a:pt x="9870412" y="1769473"/>
                </a:lnTo>
                <a:lnTo>
                  <a:pt x="9831684" y="1797218"/>
                </a:lnTo>
                <a:lnTo>
                  <a:pt x="9816018" y="1800869"/>
                </a:lnTo>
                <a:lnTo>
                  <a:pt x="9810694" y="1801394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4"/>
          <p:cNvSpPr txBox="1"/>
          <p:nvPr/>
        </p:nvSpPr>
        <p:spPr>
          <a:xfrm>
            <a:off x="384169" y="1355816"/>
            <a:ext cx="4667885" cy="785984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1050" dirty="0">
                <a:solidFill>
                  <a:srgbClr val="04182D"/>
                </a:solidFill>
                <a:latin typeface="Courier New"/>
                <a:cs typeface="Courier New"/>
              </a:rPr>
              <a:t>fit</a:t>
            </a:r>
            <a:r>
              <a:rPr sz="1050" spc="-5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04182D"/>
                </a:solidFill>
                <a:latin typeface="Courier New"/>
                <a:cs typeface="Courier New"/>
              </a:rPr>
              <a:t>%&gt;%</a:t>
            </a:r>
            <a:endParaRPr sz="1050" dirty="0">
              <a:latin typeface="Courier New"/>
              <a:cs typeface="Courier New"/>
            </a:endParaRPr>
          </a:p>
          <a:p>
            <a:pPr marL="356235" marR="5080">
              <a:lnSpc>
                <a:spcPct val="143300"/>
              </a:lnSpc>
            </a:pPr>
            <a:r>
              <a:rPr sz="1050" dirty="0">
                <a:solidFill>
                  <a:srgbClr val="04182D"/>
                </a:solidFill>
                <a:latin typeface="Courier New"/>
                <a:cs typeface="Courier New"/>
              </a:rPr>
              <a:t>forecast(h = </a:t>
            </a:r>
            <a:r>
              <a:rPr sz="1050" dirty="0">
                <a:solidFill>
                  <a:srgbClr val="BE2F72"/>
                </a:solidFill>
                <a:latin typeface="Courier New"/>
                <a:cs typeface="Courier New"/>
              </a:rPr>
              <a:t>36</a:t>
            </a:r>
            <a:r>
              <a:rPr sz="1050" dirty="0">
                <a:solidFill>
                  <a:srgbClr val="04182D"/>
                </a:solidFill>
                <a:latin typeface="Courier New"/>
                <a:cs typeface="Courier New"/>
              </a:rPr>
              <a:t>) %&gt;% </a:t>
            </a:r>
            <a:r>
              <a:rPr sz="105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endParaRPr lang="en-US" sz="1050" spc="5" dirty="0" smtClean="0">
              <a:solidFill>
                <a:srgbClr val="04182D"/>
              </a:solidFill>
              <a:latin typeface="Courier New"/>
              <a:cs typeface="Courier New"/>
            </a:endParaRPr>
          </a:p>
          <a:p>
            <a:pPr marL="356235" marR="5080">
              <a:lnSpc>
                <a:spcPct val="143300"/>
              </a:lnSpc>
            </a:pPr>
            <a:r>
              <a:rPr sz="1050" dirty="0" err="1" smtClean="0">
                <a:solidFill>
                  <a:srgbClr val="04182D"/>
                </a:solidFill>
                <a:latin typeface="Courier New"/>
                <a:cs typeface="Courier New"/>
              </a:rPr>
              <a:t>autoplot</a:t>
            </a:r>
            <a:r>
              <a:rPr sz="1050" dirty="0">
                <a:solidFill>
                  <a:srgbClr val="04182D"/>
                </a:solidFill>
                <a:latin typeface="Courier New"/>
                <a:cs typeface="Courier New"/>
              </a:rPr>
              <a:t>()</a:t>
            </a:r>
            <a:r>
              <a:rPr sz="1050" spc="-1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04182D"/>
                </a:solidFill>
                <a:latin typeface="Courier New"/>
                <a:cs typeface="Courier New"/>
              </a:rPr>
              <a:t>+</a:t>
            </a:r>
            <a:r>
              <a:rPr sz="105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04182D"/>
                </a:solidFill>
                <a:latin typeface="Courier New"/>
                <a:cs typeface="Courier New"/>
              </a:rPr>
              <a:t>xlab(</a:t>
            </a:r>
            <a:r>
              <a:rPr sz="1050" dirty="0">
                <a:solidFill>
                  <a:srgbClr val="BE2F72"/>
                </a:solidFill>
                <a:latin typeface="Courier New"/>
                <a:cs typeface="Courier New"/>
              </a:rPr>
              <a:t>"Year"</a:t>
            </a:r>
            <a:r>
              <a:rPr sz="105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1050" dirty="0">
              <a:latin typeface="Courier New"/>
              <a:cs typeface="Courier New"/>
            </a:endParaRPr>
          </a:p>
        </p:txBody>
      </p:sp>
      <p:pic>
        <p:nvPicPr>
          <p:cNvPr id="23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492" y="2141800"/>
            <a:ext cx="5635214" cy="270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053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1A58-12D5-4546-995B-9323A3D8C075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093631"/>
            <a:ext cx="7772400" cy="400110"/>
          </a:xfrm>
        </p:spPr>
        <p:txBody>
          <a:bodyPr/>
          <a:lstStyle/>
          <a:p>
            <a:r>
              <a:rPr lang="en-US" sz="2000" dirty="0" smtClean="0">
                <a:solidFill>
                  <a:schemeClr val="tx1"/>
                </a:solidFill>
              </a:rPr>
              <a:t>E</a:t>
            </a:r>
            <a:r>
              <a:rPr lang="en-US" sz="2000" dirty="0" smtClean="0">
                <a:solidFill>
                  <a:schemeClr val="tx1"/>
                </a:solidFill>
                <a:latin typeface="Microsoft Sans Serif"/>
                <a:cs typeface="Microsoft Sans Serif"/>
              </a:rPr>
              <a:t>X</a:t>
            </a:r>
            <a:r>
              <a:rPr lang="en-US" sz="2000" dirty="0" smtClean="0">
                <a:solidFill>
                  <a:schemeClr val="tx1"/>
                </a:solidFill>
              </a:rPr>
              <a:t>AMPLE</a:t>
            </a:r>
            <a:r>
              <a:rPr lang="en-US" sz="2000" dirty="0" smtClean="0">
                <a:solidFill>
                  <a:schemeClr val="tx1"/>
                </a:solidFill>
                <a:latin typeface="Microsoft Sans Serif"/>
                <a:cs typeface="Microsoft Sans Serif"/>
              </a:rPr>
              <a:t>: </a:t>
            </a:r>
            <a:r>
              <a:rPr lang="en-US" sz="2000" dirty="0" smtClean="0">
                <a:solidFill>
                  <a:schemeClr val="tx1"/>
                </a:solidFill>
              </a:rPr>
              <a:t>MONTHL</a:t>
            </a:r>
            <a:r>
              <a:rPr lang="en-US" sz="2000" dirty="0" smtClean="0">
                <a:solidFill>
                  <a:schemeClr val="tx1"/>
                </a:solidFill>
                <a:latin typeface="Microsoft Sans Serif"/>
                <a:cs typeface="Microsoft Sans Serif"/>
              </a:rPr>
              <a:t>Y </a:t>
            </a:r>
            <a:r>
              <a:rPr lang="en-US" sz="2000" dirty="0" smtClean="0">
                <a:solidFill>
                  <a:schemeClr val="tx1"/>
                </a:solidFill>
              </a:rPr>
              <a:t>RETAIL DEBIT CARD </a:t>
            </a:r>
            <a:r>
              <a:rPr lang="en-US" sz="2000" dirty="0" smtClean="0">
                <a:solidFill>
                  <a:schemeClr val="tx1"/>
                </a:solidFill>
                <a:latin typeface="Microsoft Sans Serif"/>
                <a:cs typeface="Microsoft Sans Serif"/>
              </a:rPr>
              <a:t>U</a:t>
            </a:r>
            <a:r>
              <a:rPr lang="en-US" sz="2000" dirty="0" smtClean="0">
                <a:solidFill>
                  <a:schemeClr val="tx1"/>
                </a:solidFill>
              </a:rPr>
              <a:t>SAGE IN  ICELAND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9" name="object 3"/>
          <p:cNvSpPr/>
          <p:nvPr/>
        </p:nvSpPr>
        <p:spPr>
          <a:xfrm>
            <a:off x="263717" y="1455631"/>
            <a:ext cx="4856924" cy="520014"/>
          </a:xfrm>
          <a:custGeom>
            <a:avLst/>
            <a:gdLst/>
            <a:ahLst/>
            <a:cxnLst/>
            <a:rect l="l" t="t" r="r" b="b"/>
            <a:pathLst>
              <a:path w="9887585" h="1822450">
                <a:moveTo>
                  <a:pt x="9810694" y="1821864"/>
                </a:moveTo>
                <a:lnTo>
                  <a:pt x="76505" y="1821864"/>
                </a:lnTo>
                <a:lnTo>
                  <a:pt x="71180" y="1821340"/>
                </a:lnTo>
                <a:lnTo>
                  <a:pt x="31920" y="1805077"/>
                </a:lnTo>
                <a:lnTo>
                  <a:pt x="4175" y="1766350"/>
                </a:lnTo>
                <a:lnTo>
                  <a:pt x="0" y="1745359"/>
                </a:lnTo>
                <a:lnTo>
                  <a:pt x="0" y="1739983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1745359"/>
                </a:lnTo>
                <a:lnTo>
                  <a:pt x="9870412" y="1789944"/>
                </a:lnTo>
                <a:lnTo>
                  <a:pt x="9831684" y="1817689"/>
                </a:lnTo>
                <a:lnTo>
                  <a:pt x="9816018" y="1821340"/>
                </a:lnTo>
                <a:lnTo>
                  <a:pt x="9810694" y="1821864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4"/>
          <p:cNvSpPr/>
          <p:nvPr/>
        </p:nvSpPr>
        <p:spPr>
          <a:xfrm>
            <a:off x="263716" y="2051606"/>
            <a:ext cx="8277855" cy="2631944"/>
          </a:xfrm>
          <a:custGeom>
            <a:avLst/>
            <a:gdLst/>
            <a:ahLst/>
            <a:cxnLst/>
            <a:rect l="l" t="t" r="r" b="b"/>
            <a:pathLst>
              <a:path w="9887585" h="4544695">
                <a:moveTo>
                  <a:pt x="9810694" y="4544427"/>
                </a:moveTo>
                <a:lnTo>
                  <a:pt x="76505" y="4544427"/>
                </a:lnTo>
                <a:lnTo>
                  <a:pt x="71180" y="4543902"/>
                </a:lnTo>
                <a:lnTo>
                  <a:pt x="31920" y="4527639"/>
                </a:lnTo>
                <a:lnTo>
                  <a:pt x="4175" y="4488911"/>
                </a:lnTo>
                <a:lnTo>
                  <a:pt x="0" y="4467921"/>
                </a:lnTo>
                <a:lnTo>
                  <a:pt x="0" y="4462545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4467921"/>
                </a:lnTo>
                <a:lnTo>
                  <a:pt x="9870412" y="4512505"/>
                </a:lnTo>
                <a:lnTo>
                  <a:pt x="9831684" y="4540250"/>
                </a:lnTo>
                <a:lnTo>
                  <a:pt x="9816018" y="4543902"/>
                </a:lnTo>
                <a:lnTo>
                  <a:pt x="9810694" y="4544427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5"/>
          <p:cNvSpPr txBox="1"/>
          <p:nvPr/>
        </p:nvSpPr>
        <p:spPr>
          <a:xfrm>
            <a:off x="335027" y="1455630"/>
            <a:ext cx="7075170" cy="5332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95"/>
              </a:spcBef>
            </a:pPr>
            <a:r>
              <a:rPr sz="1200" dirty="0">
                <a:solidFill>
                  <a:srgbClr val="04182D"/>
                </a:solidFill>
                <a:latin typeface="Courier New"/>
                <a:cs typeface="Courier New"/>
              </a:rPr>
              <a:t>fit</a:t>
            </a:r>
            <a:r>
              <a:rPr sz="12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4182D"/>
                </a:solidFill>
                <a:latin typeface="Courier New"/>
                <a:cs typeface="Courier New"/>
              </a:rPr>
              <a:t>&lt;-</a:t>
            </a:r>
            <a:r>
              <a:rPr sz="12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4182D"/>
                </a:solidFill>
                <a:latin typeface="Courier New"/>
                <a:cs typeface="Courier New"/>
              </a:rPr>
              <a:t>auto.arima(debitcards,</a:t>
            </a:r>
            <a:r>
              <a:rPr sz="12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4182D"/>
                </a:solidFill>
                <a:latin typeface="Courier New"/>
                <a:cs typeface="Courier New"/>
              </a:rPr>
              <a:t>lambda</a:t>
            </a:r>
            <a:r>
              <a:rPr sz="12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2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BE2F72"/>
                </a:solidFill>
                <a:latin typeface="Courier New"/>
                <a:cs typeface="Courier New"/>
              </a:rPr>
              <a:t>0</a:t>
            </a:r>
            <a:r>
              <a:rPr sz="1200" dirty="0">
                <a:solidFill>
                  <a:srgbClr val="04182D"/>
                </a:solidFill>
                <a:latin typeface="Courier New"/>
                <a:cs typeface="Courier New"/>
              </a:rPr>
              <a:t>) </a:t>
            </a:r>
            <a:r>
              <a:rPr sz="1200" spc="-133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endParaRPr lang="en-US" sz="1200" spc="-1335" dirty="0" smtClean="0">
              <a:solidFill>
                <a:srgbClr val="04182D"/>
              </a:solidFill>
              <a:latin typeface="Courier New"/>
              <a:cs typeface="Courier New"/>
            </a:endParaRPr>
          </a:p>
          <a:p>
            <a:pPr marL="12700" marR="5080">
              <a:lnSpc>
                <a:spcPct val="143300"/>
              </a:lnSpc>
              <a:spcBef>
                <a:spcPts val="95"/>
              </a:spcBef>
            </a:pPr>
            <a:r>
              <a:rPr sz="1200" dirty="0" smtClean="0">
                <a:solidFill>
                  <a:srgbClr val="04182D"/>
                </a:solidFill>
                <a:latin typeface="Courier New"/>
                <a:cs typeface="Courier New"/>
              </a:rPr>
              <a:t>fit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22" name="object 6"/>
          <p:cNvSpPr txBox="1"/>
          <p:nvPr/>
        </p:nvSpPr>
        <p:spPr>
          <a:xfrm>
            <a:off x="358347" y="2167275"/>
            <a:ext cx="5700395" cy="10811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724025">
              <a:lnSpc>
                <a:spcPct val="143300"/>
              </a:lnSpc>
              <a:spcBef>
                <a:spcPts val="95"/>
              </a:spcBef>
            </a:pP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Series: </a:t>
            </a:r>
            <a:r>
              <a:rPr sz="1200" dirty="0" err="1">
                <a:solidFill>
                  <a:srgbClr val="FFFFFF"/>
                </a:solidFill>
                <a:latin typeface="Courier New"/>
                <a:cs typeface="Courier New"/>
              </a:rPr>
              <a:t>debitcards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endParaRPr lang="en-US" sz="1200" spc="5" dirty="0" smtClean="0">
              <a:solidFill>
                <a:srgbClr val="FFFFFF"/>
              </a:solidFill>
              <a:latin typeface="Courier New"/>
              <a:cs typeface="Courier New"/>
            </a:endParaRPr>
          </a:p>
          <a:p>
            <a:pPr marL="12700" marR="1724025">
              <a:lnSpc>
                <a:spcPct val="143300"/>
              </a:lnSpc>
              <a:spcBef>
                <a:spcPts val="95"/>
              </a:spcBef>
            </a:pPr>
            <a:r>
              <a:rPr sz="1200" dirty="0" smtClean="0">
                <a:solidFill>
                  <a:srgbClr val="FFFFFF"/>
                </a:solidFill>
                <a:latin typeface="Courier New"/>
                <a:cs typeface="Courier New"/>
              </a:rPr>
              <a:t>ARIMA(0,1,4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)(0,1,1)[12]</a:t>
            </a:r>
            <a:endParaRPr sz="1200" dirty="0">
              <a:latin typeface="Courier New"/>
              <a:cs typeface="Courier New"/>
            </a:endParaRPr>
          </a:p>
          <a:p>
            <a:pPr marL="12700" marR="5080">
              <a:lnSpc>
                <a:spcPct val="143300"/>
              </a:lnSpc>
            </a:pP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Box Cox transformation:</a:t>
            </a:r>
            <a:r>
              <a:rPr sz="1200" spc="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lambda= 0 </a:t>
            </a:r>
            <a:r>
              <a:rPr sz="1200" spc="-13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endParaRPr lang="en-US" sz="1200" spc="-1335" dirty="0" smtClean="0">
              <a:solidFill>
                <a:srgbClr val="FFFFFF"/>
              </a:solidFill>
              <a:latin typeface="Courier New"/>
              <a:cs typeface="Courier New"/>
            </a:endParaRPr>
          </a:p>
          <a:p>
            <a:pPr marL="12700" marR="5080">
              <a:lnSpc>
                <a:spcPct val="143300"/>
              </a:lnSpc>
            </a:pPr>
            <a:r>
              <a:rPr sz="1200" dirty="0" smtClean="0">
                <a:solidFill>
                  <a:srgbClr val="FFFFFF"/>
                </a:solidFill>
                <a:latin typeface="Courier New"/>
                <a:cs typeface="Courier New"/>
              </a:rPr>
              <a:t>Coefficients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:</a:t>
            </a:r>
            <a:endParaRPr sz="1200" dirty="0">
              <a:latin typeface="Courier New"/>
              <a:cs typeface="Courier New"/>
            </a:endParaRPr>
          </a:p>
        </p:txBody>
      </p:sp>
      <p:graphicFrame>
        <p:nvGraphicFramePr>
          <p:cNvPr id="23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189019"/>
              </p:ext>
            </p:extLst>
          </p:nvPr>
        </p:nvGraphicFramePr>
        <p:xfrm>
          <a:off x="428272" y="3248468"/>
          <a:ext cx="9057704" cy="13588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0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6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68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41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2460">
                <a:tc gridSpan="2">
                  <a:txBody>
                    <a:bodyPr/>
                    <a:lstStyle/>
                    <a:p>
                      <a:pPr marL="1579245">
                        <a:lnSpc>
                          <a:spcPts val="2640"/>
                        </a:lnSpc>
                        <a:tabLst>
                          <a:tab pos="2782570" algn="l"/>
                        </a:tabLst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ma1	ma2</a:t>
                      </a:r>
                      <a:endParaRPr sz="105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29259">
                        <a:lnSpc>
                          <a:spcPts val="2640"/>
                        </a:lnSpc>
                        <a:tabLst>
                          <a:tab pos="1805305" algn="l"/>
                        </a:tabLst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ma3	ma4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1345">
                        <a:lnSpc>
                          <a:spcPts val="2640"/>
                        </a:lnSpc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sma1</a:t>
                      </a:r>
                      <a:endParaRPr sz="105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975">
                <a:tc gridSpan="2">
                  <a:txBody>
                    <a:bodyPr/>
                    <a:lstStyle/>
                    <a:p>
                      <a:pPr marL="1062990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2438400" algn="l"/>
                        </a:tabLst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-0.796	0.086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1289050" algn="l"/>
                        </a:tabLst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0.263	-0.175</a:t>
                      </a:r>
                      <a:endParaRPr sz="1050" dirty="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-0.814</a:t>
                      </a:r>
                      <a:endParaRPr sz="1050" dirty="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975">
                <a:tc gridSpan="2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1235075" algn="l"/>
                          <a:tab pos="2438400" algn="l"/>
                        </a:tabLst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s.e.	0.082	0.099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1461135" algn="l"/>
                        </a:tabLst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0.100	0.080</a:t>
                      </a:r>
                      <a:endParaRPr sz="1050" dirty="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9259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0.112</a:t>
                      </a:r>
                      <a:endParaRPr sz="1050" dirty="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975">
                <a:tc gridSpan="2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sigma^2</a:t>
                      </a:r>
                      <a:r>
                        <a:rPr sz="1050" spc="-1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estimated</a:t>
                      </a:r>
                      <a:r>
                        <a:rPr sz="1050" spc="-1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as</a:t>
                      </a:r>
                      <a:endParaRPr sz="1050" dirty="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1805305" algn="l"/>
                        </a:tabLst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0.00232:	log</a:t>
                      </a:r>
                      <a:endParaRPr sz="1050" dirty="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likelihood=239.3</a:t>
                      </a:r>
                      <a:endParaRPr sz="1050" dirty="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276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AIC=-466.7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128270" marB="0"/>
                </a:tc>
                <a:tc gridSpan="2"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AICc=-466.1</a:t>
                      </a:r>
                      <a:endParaRPr sz="1050" dirty="0">
                        <a:latin typeface="Courier New"/>
                        <a:cs typeface="Courier New"/>
                      </a:endParaRPr>
                    </a:p>
                  </a:txBody>
                  <a:tcPr marL="0" marR="0" marT="1282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BIC=-448.6</a:t>
                      </a:r>
                      <a:endParaRPr sz="1050" dirty="0">
                        <a:latin typeface="Courier New"/>
                        <a:cs typeface="Courier New"/>
                      </a:endParaRPr>
                    </a:p>
                  </a:txBody>
                  <a:tcPr marL="0" marR="0" marT="1282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42487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1A58-12D5-4546-995B-9323A3D8C075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123906"/>
            <a:ext cx="7772400" cy="400110"/>
          </a:xfrm>
        </p:spPr>
        <p:txBody>
          <a:bodyPr/>
          <a:lstStyle/>
          <a:p>
            <a:r>
              <a:rPr lang="en-US" sz="2000" dirty="0" smtClean="0"/>
              <a:t>E</a:t>
            </a:r>
            <a:r>
              <a:rPr lang="en-US" sz="2000" dirty="0" smtClean="0">
                <a:latin typeface="Microsoft Sans Serif"/>
                <a:cs typeface="Microsoft Sans Serif"/>
              </a:rPr>
              <a:t>X</a:t>
            </a:r>
            <a:r>
              <a:rPr lang="en-US" sz="2000" dirty="0" smtClean="0"/>
              <a:t>AMPLE</a:t>
            </a:r>
            <a:r>
              <a:rPr lang="en-US" sz="2000" dirty="0" smtClean="0">
                <a:latin typeface="Microsoft Sans Serif"/>
                <a:cs typeface="Microsoft Sans Serif"/>
              </a:rPr>
              <a:t>: </a:t>
            </a:r>
            <a:r>
              <a:rPr lang="en-US" sz="2000" dirty="0" smtClean="0"/>
              <a:t>MONTHL</a:t>
            </a:r>
            <a:r>
              <a:rPr lang="en-US" sz="2000" dirty="0" smtClean="0">
                <a:latin typeface="Microsoft Sans Serif"/>
                <a:cs typeface="Microsoft Sans Serif"/>
              </a:rPr>
              <a:t>Y </a:t>
            </a:r>
            <a:r>
              <a:rPr lang="en-US" sz="2000" dirty="0" smtClean="0"/>
              <a:t>RETAIL DEBIT CARD </a:t>
            </a:r>
            <a:r>
              <a:rPr lang="en-US" sz="2000" dirty="0" smtClean="0">
                <a:latin typeface="Microsoft Sans Serif"/>
                <a:cs typeface="Microsoft Sans Serif"/>
              </a:rPr>
              <a:t>U</a:t>
            </a:r>
            <a:r>
              <a:rPr lang="en-US" sz="2000" dirty="0" smtClean="0"/>
              <a:t>SAGE IN  ICELAND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3" name="object 11"/>
          <p:cNvSpPr txBox="1"/>
          <p:nvPr/>
        </p:nvSpPr>
        <p:spPr>
          <a:xfrm>
            <a:off x="5993309" y="5465995"/>
            <a:ext cx="3589020" cy="5010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650" i="1" spc="-44" baseline="8960" dirty="0">
                <a:solidFill>
                  <a:srgbClr val="04182D"/>
                </a:solidFill>
                <a:latin typeface="Arial"/>
                <a:cs typeface="Arial"/>
              </a:rPr>
              <a:t>y</a:t>
            </a:r>
            <a:r>
              <a:rPr sz="2150" i="1" spc="185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sz="2150" spc="130" dirty="0">
                <a:solidFill>
                  <a:srgbClr val="04182D"/>
                </a:solidFill>
                <a:latin typeface="Tahoma"/>
                <a:cs typeface="Tahoma"/>
              </a:rPr>
              <a:t>−</a:t>
            </a:r>
            <a:r>
              <a:rPr sz="2150" i="1" spc="285" dirty="0">
                <a:solidFill>
                  <a:srgbClr val="04182D"/>
                </a:solidFill>
                <a:latin typeface="Arial"/>
                <a:cs typeface="Arial"/>
              </a:rPr>
              <a:t>m</a:t>
            </a:r>
            <a:r>
              <a:rPr sz="4650" spc="-112" baseline="8960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4650" spc="-682" baseline="89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4650" i="1" spc="-44" baseline="8960" dirty="0">
                <a:solidFill>
                  <a:srgbClr val="04182D"/>
                </a:solidFill>
                <a:latin typeface="Arial"/>
                <a:cs typeface="Arial"/>
              </a:rPr>
              <a:t>y</a:t>
            </a:r>
            <a:r>
              <a:rPr sz="2150" i="1" spc="185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sz="2150" spc="130" dirty="0">
                <a:solidFill>
                  <a:srgbClr val="04182D"/>
                </a:solidFill>
                <a:latin typeface="Tahoma"/>
                <a:cs typeface="Tahoma"/>
              </a:rPr>
              <a:t>−</a:t>
            </a:r>
            <a:r>
              <a:rPr sz="2150" spc="-90" dirty="0">
                <a:solidFill>
                  <a:srgbClr val="04182D"/>
                </a:solidFill>
                <a:latin typeface="Tahoma"/>
                <a:cs typeface="Tahoma"/>
              </a:rPr>
              <a:t>2</a:t>
            </a:r>
            <a:r>
              <a:rPr sz="2150" i="1" spc="285" dirty="0">
                <a:solidFill>
                  <a:srgbClr val="04182D"/>
                </a:solidFill>
                <a:latin typeface="Arial"/>
                <a:cs typeface="Arial"/>
              </a:rPr>
              <a:t>m</a:t>
            </a:r>
            <a:r>
              <a:rPr sz="4650" spc="-112" baseline="8960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4650" spc="-682" baseline="89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4650" spc="-120" baseline="8960" dirty="0">
                <a:solidFill>
                  <a:srgbClr val="04182D"/>
                </a:solidFill>
                <a:latin typeface="Tahoma"/>
                <a:cs typeface="Tahoma"/>
              </a:rPr>
              <a:t>...</a:t>
            </a:r>
            <a:r>
              <a:rPr sz="4650" spc="-112" baseline="8960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4650" spc="-682" baseline="89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4650" i="1" spc="-44" baseline="8960" dirty="0">
                <a:solidFill>
                  <a:srgbClr val="04182D"/>
                </a:solidFill>
                <a:latin typeface="Arial"/>
                <a:cs typeface="Arial"/>
              </a:rPr>
              <a:t>y</a:t>
            </a:r>
            <a:r>
              <a:rPr sz="2150" i="1" spc="185" dirty="0">
                <a:solidFill>
                  <a:srgbClr val="04182D"/>
                </a:solidFill>
                <a:latin typeface="Arial"/>
                <a:cs typeface="Arial"/>
              </a:rPr>
              <a:t>t</a:t>
            </a:r>
            <a:r>
              <a:rPr sz="2150" spc="130" dirty="0">
                <a:solidFill>
                  <a:srgbClr val="04182D"/>
                </a:solidFill>
                <a:latin typeface="Tahoma"/>
                <a:cs typeface="Tahoma"/>
              </a:rPr>
              <a:t>−</a:t>
            </a:r>
            <a:r>
              <a:rPr sz="2150" i="1" spc="265" dirty="0">
                <a:solidFill>
                  <a:srgbClr val="04182D"/>
                </a:solidFill>
                <a:latin typeface="Arial"/>
                <a:cs typeface="Arial"/>
              </a:rPr>
              <a:t>P</a:t>
            </a:r>
            <a:r>
              <a:rPr sz="2150" i="1" spc="125" dirty="0">
                <a:solidFill>
                  <a:srgbClr val="04182D"/>
                </a:solidFill>
                <a:latin typeface="Arial"/>
                <a:cs typeface="Arial"/>
              </a:rPr>
              <a:t>m</a:t>
            </a:r>
            <a:endParaRPr sz="2150" dirty="0">
              <a:latin typeface="Arial"/>
              <a:cs typeface="Arial"/>
            </a:endParaRPr>
          </a:p>
        </p:txBody>
      </p:sp>
      <p:sp>
        <p:nvSpPr>
          <p:cNvPr id="14" name="object 2"/>
          <p:cNvSpPr/>
          <p:nvPr/>
        </p:nvSpPr>
        <p:spPr>
          <a:xfrm>
            <a:off x="281492" y="1524016"/>
            <a:ext cx="7453256" cy="1225103"/>
          </a:xfrm>
          <a:custGeom>
            <a:avLst/>
            <a:gdLst/>
            <a:ahLst/>
            <a:cxnLst/>
            <a:rect l="l" t="t" r="r" b="b"/>
            <a:pathLst>
              <a:path w="9887585" h="1801495">
                <a:moveTo>
                  <a:pt x="9810694" y="1801394"/>
                </a:moveTo>
                <a:lnTo>
                  <a:pt x="76505" y="1801394"/>
                </a:lnTo>
                <a:lnTo>
                  <a:pt x="71180" y="1800869"/>
                </a:lnTo>
                <a:lnTo>
                  <a:pt x="31920" y="1784607"/>
                </a:lnTo>
                <a:lnTo>
                  <a:pt x="4175" y="1745879"/>
                </a:lnTo>
                <a:lnTo>
                  <a:pt x="0" y="1724889"/>
                </a:lnTo>
                <a:lnTo>
                  <a:pt x="0" y="1719512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1724889"/>
                </a:lnTo>
                <a:lnTo>
                  <a:pt x="9870412" y="1769473"/>
                </a:lnTo>
                <a:lnTo>
                  <a:pt x="9831684" y="1797218"/>
                </a:lnTo>
                <a:lnTo>
                  <a:pt x="9816018" y="1800869"/>
                </a:lnTo>
                <a:lnTo>
                  <a:pt x="9810694" y="1801394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4"/>
          <p:cNvSpPr txBox="1"/>
          <p:nvPr/>
        </p:nvSpPr>
        <p:spPr>
          <a:xfrm>
            <a:off x="437957" y="1398878"/>
            <a:ext cx="8107045" cy="1350241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autoplot(debitcards)</a:t>
            </a:r>
            <a:r>
              <a:rPr sz="2000" spc="-1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+</a:t>
            </a:r>
            <a:endParaRPr sz="2000" dirty="0">
              <a:latin typeface="Courier New"/>
              <a:cs typeface="Courier New"/>
            </a:endParaRPr>
          </a:p>
          <a:p>
            <a:pPr marL="356235" marR="5080">
              <a:lnSpc>
                <a:spcPct val="143300"/>
              </a:lnSpc>
            </a:pP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xlab(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"Year"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) + ylab(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"million ISK"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) + </a:t>
            </a:r>
            <a:r>
              <a:rPr sz="20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ggtitle(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"Retail</a:t>
            </a:r>
            <a:r>
              <a:rPr sz="2000" spc="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debit</a:t>
            </a:r>
            <a:r>
              <a:rPr sz="2000" spc="1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card</a:t>
            </a:r>
            <a:r>
              <a:rPr sz="2000" spc="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usage</a:t>
            </a:r>
            <a:r>
              <a:rPr sz="2000" spc="1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in</a:t>
            </a:r>
            <a:r>
              <a:rPr sz="2000" spc="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BE2F72"/>
                </a:solidFill>
                <a:latin typeface="Courier New"/>
                <a:cs typeface="Courier New"/>
              </a:rPr>
              <a:t>Iceland"</a:t>
            </a:r>
            <a:r>
              <a:rPr sz="200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2000" dirty="0">
              <a:latin typeface="Courier New"/>
              <a:cs typeface="Courier New"/>
            </a:endParaRPr>
          </a:p>
        </p:txBody>
      </p:sp>
      <p:pic>
        <p:nvPicPr>
          <p:cNvPr id="16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492" y="2794961"/>
            <a:ext cx="6576508" cy="204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9224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15C1E33-7843-DD4E-A777-43ECB6153BE3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3" name="object 2"/>
          <p:cNvSpPr txBox="1">
            <a:spLocks noGrp="1"/>
          </p:cNvSpPr>
          <p:nvPr>
            <p:ph idx="1"/>
          </p:nvPr>
        </p:nvSpPr>
        <p:spPr>
          <a:xfrm>
            <a:off x="457200" y="1587752"/>
            <a:ext cx="7772400" cy="1143000"/>
          </a:xfrm>
          <a:prstGeom prst="rect">
            <a:avLst/>
          </a:prstGeom>
        </p:spPr>
        <p:txBody>
          <a:bodyPr vert="horz" wrap="square" lIns="0" tIns="3568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10"/>
              </a:spcBef>
            </a:pPr>
            <a:r>
              <a:rPr sz="6400" spc="-440" dirty="0"/>
              <a:t>L</a:t>
            </a:r>
            <a:r>
              <a:rPr sz="6400" spc="-365" dirty="0"/>
              <a:t>e</a:t>
            </a:r>
            <a:r>
              <a:rPr sz="6400" spc="-225" dirty="0"/>
              <a:t>t</a:t>
            </a:r>
            <a:r>
              <a:rPr sz="7000" spc="-150" dirty="0">
                <a:latin typeface="Microsoft Sans Serif"/>
                <a:cs typeface="Microsoft Sans Serif"/>
              </a:rPr>
              <a:t>'</a:t>
            </a:r>
            <a:r>
              <a:rPr sz="6400" spc="-360" dirty="0"/>
              <a:t>s</a:t>
            </a:r>
            <a:r>
              <a:rPr sz="6400" spc="-685" dirty="0"/>
              <a:t> </a:t>
            </a:r>
            <a:r>
              <a:rPr sz="6400" spc="-265" dirty="0"/>
              <a:t>p</a:t>
            </a:r>
            <a:r>
              <a:rPr sz="6400" spc="-484" dirty="0"/>
              <a:t>r</a:t>
            </a:r>
            <a:r>
              <a:rPr sz="6400" spc="-55" dirty="0"/>
              <a:t>a</a:t>
            </a:r>
            <a:r>
              <a:rPr sz="6400" spc="160" dirty="0"/>
              <a:t>c</a:t>
            </a:r>
            <a:r>
              <a:rPr sz="6400" spc="-225" dirty="0"/>
              <a:t>t</a:t>
            </a:r>
            <a:r>
              <a:rPr sz="6400" spc="-120" dirty="0"/>
              <a:t>i</a:t>
            </a:r>
            <a:r>
              <a:rPr sz="6400" spc="160" dirty="0"/>
              <a:t>c</a:t>
            </a:r>
            <a:r>
              <a:rPr sz="6400" spc="-300" dirty="0"/>
              <a:t>e</a:t>
            </a:r>
            <a:r>
              <a:rPr sz="7000" spc="-140" dirty="0">
                <a:latin typeface="Microsoft Sans Serif"/>
                <a:cs typeface="Microsoft Sans Serif"/>
              </a:rPr>
              <a:t>!</a:t>
            </a:r>
            <a:endParaRPr sz="7000" dirty="0">
              <a:latin typeface="Microsoft Sans Serif"/>
              <a:cs typeface="Microsoft Sans Serif"/>
            </a:endParaRPr>
          </a:p>
          <a:p>
            <a:pPr marR="53975" algn="ctr">
              <a:lnSpc>
                <a:spcPct val="100000"/>
              </a:lnSpc>
              <a:spcBef>
                <a:spcPts val="865"/>
              </a:spcBef>
              <a:tabLst>
                <a:tab pos="2611755" algn="l"/>
                <a:tab pos="3120390" algn="l"/>
              </a:tabLst>
            </a:pPr>
            <a:r>
              <a:rPr sz="2250" spc="65" dirty="0"/>
              <a:t>F</a:t>
            </a:r>
            <a:r>
              <a:rPr sz="2250" spc="-470" dirty="0"/>
              <a:t> </a:t>
            </a:r>
            <a:r>
              <a:rPr sz="2250" spc="55" dirty="0"/>
              <a:t>O</a:t>
            </a:r>
            <a:r>
              <a:rPr sz="2250" spc="-475" dirty="0"/>
              <a:t> </a:t>
            </a:r>
            <a:r>
              <a:rPr sz="2250" spc="-150" dirty="0"/>
              <a:t>R</a:t>
            </a:r>
            <a:r>
              <a:rPr sz="2250" spc="-465" dirty="0"/>
              <a:t> </a:t>
            </a:r>
            <a:r>
              <a:rPr sz="2250" spc="190" dirty="0"/>
              <a:t>EC</a:t>
            </a:r>
            <a:r>
              <a:rPr sz="2250" spc="-470" dirty="0"/>
              <a:t> </a:t>
            </a:r>
            <a:r>
              <a:rPr sz="2250" spc="95" dirty="0"/>
              <a:t>A</a:t>
            </a:r>
            <a:r>
              <a:rPr sz="2250" spc="-490" dirty="0"/>
              <a:t> </a:t>
            </a:r>
            <a:r>
              <a:rPr sz="2250" spc="-229" dirty="0"/>
              <a:t>S</a:t>
            </a:r>
            <a:r>
              <a:rPr sz="2250" spc="-470" dirty="0"/>
              <a:t> </a:t>
            </a:r>
            <a:r>
              <a:rPr sz="2250" spc="-65" dirty="0"/>
              <a:t>T</a:t>
            </a:r>
            <a:r>
              <a:rPr sz="2250" spc="-465" dirty="0"/>
              <a:t> </a:t>
            </a:r>
            <a:r>
              <a:rPr sz="2250" spc="-295" dirty="0"/>
              <a:t>I</a:t>
            </a:r>
            <a:r>
              <a:rPr sz="2250" spc="-470" dirty="0"/>
              <a:t> </a:t>
            </a:r>
            <a:r>
              <a:rPr sz="2250" spc="35" dirty="0"/>
              <a:t>N</a:t>
            </a:r>
            <a:r>
              <a:rPr sz="2250" spc="-475" dirty="0"/>
              <a:t> </a:t>
            </a:r>
            <a:r>
              <a:rPr sz="2250" spc="5" dirty="0"/>
              <a:t>G	</a:t>
            </a:r>
            <a:r>
              <a:rPr sz="2250" spc="-295" dirty="0"/>
              <a:t>I</a:t>
            </a:r>
            <a:r>
              <a:rPr sz="2250" spc="-465" dirty="0"/>
              <a:t> </a:t>
            </a:r>
            <a:r>
              <a:rPr sz="2250" spc="35" dirty="0"/>
              <a:t>N	</a:t>
            </a:r>
            <a:r>
              <a:rPr sz="2250" spc="-150" dirty="0"/>
              <a:t>R</a:t>
            </a:r>
            <a:endParaRPr sz="2250" dirty="0"/>
          </a:p>
        </p:txBody>
      </p:sp>
    </p:spTree>
    <p:extLst>
      <p:ext uri="{BB962C8B-B14F-4D97-AF65-F5344CB8AC3E}">
        <p14:creationId xmlns:p14="http://schemas.microsoft.com/office/powerpoint/2010/main" val="4215555276"/>
      </p:ext>
    </p:extLst>
  </p:cSld>
  <p:clrMapOvr>
    <a:masterClrMapping/>
  </p:clrMapOvr>
</p:sld>
</file>

<file path=ppt/theme/theme1.xml><?xml version="1.0" encoding="utf-8"?>
<a:theme xmlns:a="http://schemas.openxmlformats.org/drawingml/2006/main" name="16.9-Template_12.7.2016">
  <a:themeElements>
    <a:clrScheme name="Custom 2">
      <a:dk1>
        <a:sysClr val="windowText" lastClr="000000"/>
      </a:dk1>
      <a:lt1>
        <a:srgbClr val="FFFFFF"/>
      </a:lt1>
      <a:dk2>
        <a:srgbClr val="002F6C"/>
      </a:dk2>
      <a:lt2>
        <a:srgbClr val="BA0C2F"/>
      </a:lt2>
      <a:accent1>
        <a:srgbClr val="002F6C"/>
      </a:accent1>
      <a:accent2>
        <a:srgbClr val="BA0C2F"/>
      </a:accent2>
      <a:accent3>
        <a:srgbClr val="6C6463"/>
      </a:accent3>
      <a:accent4>
        <a:srgbClr val="000000"/>
      </a:accent4>
      <a:accent5>
        <a:srgbClr val="CFCDC9"/>
      </a:accent5>
      <a:accent6>
        <a:srgbClr val="0067B9"/>
      </a:accent6>
      <a:hlink>
        <a:srgbClr val="6C6463"/>
      </a:hlink>
      <a:folHlink>
        <a:srgbClr val="CFCDC9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16.9-Template_12.7.2016</Template>
  <TotalTime>165</TotalTime>
  <Words>967</Words>
  <Application>Microsoft Office PowerPoint</Application>
  <PresentationFormat>Custom</PresentationFormat>
  <Paragraphs>246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Arial</vt:lpstr>
      <vt:lpstr>Calibri</vt:lpstr>
      <vt:lpstr>Courier New</vt:lpstr>
      <vt:lpstr>Georgia</vt:lpstr>
      <vt:lpstr>Gill Sans MT</vt:lpstr>
      <vt:lpstr>Lucida Sans Unicode</vt:lpstr>
      <vt:lpstr>Microsoft Sans Serif</vt:lpstr>
      <vt:lpstr>Tahoma</vt:lpstr>
      <vt:lpstr>Times New Roman</vt:lpstr>
      <vt:lpstr>Verdana</vt:lpstr>
      <vt:lpstr>16.9-Template_12.7.2016</vt:lpstr>
      <vt:lpstr>PHOTO COVER OPTION TITLE GOES HERE CAN  RUN THREE LINES</vt:lpstr>
      <vt:lpstr>RED COVER OPTION TITLE GOES HERE CAN RUN THREE LINES</vt:lpstr>
      <vt:lpstr>DIVIDER TITLE GOES HERE &amp; CAN RUN SEVERAL LINES</vt:lpstr>
      <vt:lpstr>TITLE GOES HERE  &amp; CAN RUN  THREE LINES</vt:lpstr>
      <vt:lpstr> TRANSFORMATIONS FOR  VARIANCE  STABILIZATION F O R EC A S T I N G I N R</vt:lpstr>
      <vt:lpstr>VARIANCE STABILIZATION</vt:lpstr>
      <vt:lpstr>VARIANCE STABILIZATION</vt:lpstr>
      <vt:lpstr>VARIANCE STABILIZATION</vt:lpstr>
      <vt:lpstr>VARIANCE STABILIZATION</vt:lpstr>
      <vt:lpstr>VARIANCE STABILIZATION</vt:lpstr>
      <vt:lpstr>VARIANCE STABILIZATION</vt:lpstr>
      <vt:lpstr>BOX-COX TRANSFORMATIONS</vt:lpstr>
      <vt:lpstr>BOX-COX TRANSFORMATIONS</vt:lpstr>
      <vt:lpstr>BACK-TRANSFORMATION</vt:lpstr>
      <vt:lpstr>PowerPoint Presentation</vt:lpstr>
      <vt:lpstr> ARIMA  MODELS F O R EC A S T I N G I N R</vt:lpstr>
      <vt:lpstr>ARIMA MODELS</vt:lpstr>
      <vt:lpstr>ARIMA MODELS</vt:lpstr>
      <vt:lpstr>US NET ELECTRICITY GENERATION</vt:lpstr>
      <vt:lpstr>US NET ELECTRICITY GENERATION</vt:lpstr>
      <vt:lpstr>US NET ELECTRICITY GENERATION</vt:lpstr>
      <vt:lpstr>HOW DOES AUTO.ARIMA() WORK?</vt:lpstr>
      <vt:lpstr>PowerPoint Presentation</vt:lpstr>
      <vt:lpstr>SEASONAL ARIMA  MODELS F O R EC A S T I N G I N R</vt:lpstr>
      <vt:lpstr>ARIMA MODELS</vt:lpstr>
      <vt:lpstr>ARIMA MODELS</vt:lpstr>
      <vt:lpstr>ARIMA MODELS</vt:lpstr>
      <vt:lpstr>EXAMPLE: MONTHLY RETAIL DEBIT CARD USAGE IN  ICELAND</vt:lpstr>
      <vt:lpstr>EXAMPLE: MONTHLY RETAIL DEBIT CARD USAGE IN  ICELAND</vt:lpstr>
      <vt:lpstr>EXAMPLE: MONTHLY RETAIL DEBIT CARD USAGE IN  ICELAND</vt:lpstr>
      <vt:lpstr>PowerPoint Presentation</vt:lpstr>
    </vt:vector>
  </TitlesOfParts>
  <Company>USAID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 COVER OPTION TITLE GOES HERE CAN  RUN THREE LINES</dc:title>
  <dc:creator>USAID</dc:creator>
  <cp:lastModifiedBy>Wakeel Ahmad Awan</cp:lastModifiedBy>
  <cp:revision>44</cp:revision>
  <dcterms:created xsi:type="dcterms:W3CDTF">2017-03-16T17:43:27Z</dcterms:created>
  <dcterms:modified xsi:type="dcterms:W3CDTF">2022-09-25T15:08:18Z</dcterms:modified>
</cp:coreProperties>
</file>